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640080"/>
            <a:ext cx="10362895" cy="2926080"/>
          </a:xfrm>
          <a:prstGeom prst="roundRect">
            <a:avLst/>
          </a:prstGeom>
          <a:solidFill>
            <a:srgbClr val="131B2E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822960"/>
            <a:ext cx="981425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  <a:latin typeface="Arial"/>
              </a:defRPr>
            </a:pPr>
            <a:r>
              <a:t>FINAL YEAR B.TECH PROJECT DEFENSE  •  ACADEMIC SESSION 2025–2026</a:t>
            </a:r>
          </a:p>
          <a:p>
            <a:pPr>
              <a:spcBef>
                <a:spcPts val="800"/>
              </a:spcBef>
              <a:defRPr sz="3200" b="1">
                <a:solidFill>
                  <a:srgbClr val="F8FAFC"/>
                </a:solidFill>
                <a:latin typeface="Arial"/>
              </a:defRPr>
            </a:pPr>
            <a:r>
              <a:t>DataForge: Autonomous Data Intelligence &amp; AutoML Platform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Unified Autonomous Pipeline for Multi-Source Ingestion, Deterministic Cleaning, Statistical Mining &amp; Explainable Predictive Modeling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749039"/>
            <a:ext cx="5029200" cy="25603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3749039"/>
            <a:ext cx="4754880" cy="36576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913631"/>
            <a:ext cx="45720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818CF8"/>
                </a:solidFill>
                <a:latin typeface="Arial"/>
              </a:defRPr>
            </a:pPr>
            <a:r>
              <a:t>PROJECT CANDIDATES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Mohammad Numan Narwaroo (CUS-22-SET-10320)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Mohammad Usman Dar (CUS-22-SET-10314)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Faheem Ahmad Bhat (CUS-22-SET-10331)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Mubashir Shabir (CUS-22-SET-10309)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Degree: Bachelor of Technology in CSE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3749039"/>
            <a:ext cx="5029200" cy="25603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85255" y="3749039"/>
            <a:ext cx="4754880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6695" y="3913631"/>
            <a:ext cx="45720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INSTITUTIONAL SUPERVISION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Project Guide: Dr. Parvaz Ahmad Malla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Head of Department: Prof. Aasia Quyoum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Department of Computer Science &amp; Engineering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Govt. College of Engineering &amp; Technology (GCET)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Safapora, Ganderbal — Cluster University of Srinagar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2926080" cy="292608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EA5E9"/>
                </a:solidFill>
                <a:latin typeface="Arial"/>
              </a:defRPr>
            </a:pPr>
            <a:r>
              <a:t>  OVERVIEW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Presentation Contents &amp; Agenda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Structured roadmap covering motivation, architecture, empirical results, and defense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09360"/>
            <a:ext cx="11002975" cy="13716"/>
          </a:xfrm>
          <a:prstGeom prst="rect">
            <a:avLst/>
          </a:prstGeom>
          <a:solidFill>
            <a:srgbClr val="26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DataForge • Autonomous Data Intelligence Platform   |   GCET Safapora • CSE Dept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91053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Arial"/>
              </a:defRPr>
            </a:pPr>
            <a:r>
              <a:t>Slide 2 of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3520440" cy="20574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3246120" cy="3657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306324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A5E9"/>
                </a:solidFill>
                <a:latin typeface="Arial"/>
              </a:defRPr>
            </a:pPr>
            <a:r>
              <a:t>01. PROJECT OBJECTIVES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Democratizing Enterprise Analytics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Autonomous Zero-Code Pipeline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Kernel-Isolated Execution Standards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91640"/>
            <a:ext cx="3520440" cy="20574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0" y="1691640"/>
            <a:ext cx="3246120" cy="36576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856232"/>
            <a:ext cx="306324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43F5E"/>
                </a:solidFill>
                <a:latin typeface="Arial"/>
              </a:defRPr>
            </a:pPr>
            <a:r>
              <a:t>02. THE PROBLEM &amp; CONTEXT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The 80% Data Prep Dilemma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SaaS Toolchain Fragmentation Tax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LLM Hallucinations vs Hard Truth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520440" cy="20574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1691640"/>
            <a:ext cx="3246120" cy="365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856232"/>
            <a:ext cx="306324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  <a:latin typeface="Arial"/>
              </a:defRPr>
            </a:pPr>
            <a:r>
              <a:t>03. BACKGROUND &amp; FOUNDATIONS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Evolution of Analytical Paradigms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Theoretical Math &amp; Benjamini-Hochberg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FLAML &amp; TreeSHAP Interpretability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931920"/>
            <a:ext cx="3520440" cy="20574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3246120" cy="36576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096512"/>
            <a:ext cx="306324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818CF8"/>
                </a:solidFill>
                <a:latin typeface="Arial"/>
              </a:defRPr>
            </a:pPr>
            <a:r>
              <a:t>04. SYSTEM METHODOLOGY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Decoupled 4-Tier Cloud Architecture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Deterministic Statistical Mining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Linux Landlock Kernel Confinement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931920"/>
            <a:ext cx="3520440" cy="20574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80560" y="3931920"/>
            <a:ext cx="3246120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096512"/>
            <a:ext cx="306324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05. RESULTS &amp; EVALUATION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Throughput &amp; Benchmark Metrics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Zero False-Discovery Validation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Security &amp; Concurrency Audit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3931920"/>
            <a:ext cx="3520440" cy="20574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0" y="3931920"/>
            <a:ext cx="3246120" cy="3657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4096512"/>
            <a:ext cx="306324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A5E9"/>
                </a:solidFill>
                <a:latin typeface="Arial"/>
              </a:defRPr>
            </a:pPr>
            <a:r>
              <a:t>06. CONCLUSION &amp; ROADMAP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Value Delivered &amp; Academic Impact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Enterprise Commercial Viability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Streaming &amp; Future Outlook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2926080" cy="292608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EA5E9"/>
                </a:solidFill>
                <a:latin typeface="Arial"/>
              </a:defRPr>
            </a:pPr>
            <a:r>
              <a:t>  OBJECTIVES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Project Objectives: Core Functional Vision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Bridging the barrier between raw messy spreadsheets and actionable machine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09360"/>
            <a:ext cx="11002975" cy="13716"/>
          </a:xfrm>
          <a:prstGeom prst="rect">
            <a:avLst/>
          </a:prstGeom>
          <a:solidFill>
            <a:srgbClr val="26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DataForge • Autonomous Data Intelligence Platform   |   GCET Safapora • CSE Dept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91053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Arial"/>
              </a:defRPr>
            </a:pPr>
            <a:r>
              <a:t>Slide 3 of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53492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074920" cy="3657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  <a:latin typeface="Arial"/>
              </a:defRPr>
            </a:pPr>
            <a:r>
              <a:t>DEMOCRATIZING DATA SCIENCE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Empower Non-Coders: Enable business analysts, doctors, and researchers to execute data science without writing Python/SQL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Autonomous Data Ingestion: Instant multi-source intake (CSV, XLSX, Google Sheets) with schema inference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Deterministic Data Cleaning: Automated type normalization, snake_case sanitization, and intelligent imputation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Self-Service Intelligence: Transform hours of spreadsheet wrangling into automated executive takeaways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End-to-End Delivery: Generate downloadable clean CSVs, trained model binaries (.pkl), and formatted 5-section executive PDF reports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3492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1691640"/>
            <a:ext cx="5074920" cy="36576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56232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818CF8"/>
                </a:solidFill>
                <a:latin typeface="Arial"/>
              </a:defRPr>
            </a:pPr>
            <a:r>
              <a:t>UNIFIED ANALYTICAL PIPELINE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Single Pane of Glass: Eliminate switching between OpenRefine, Excel, Jupyter Notebooks, and Tableau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Hypothesis-Free Pattern Mining: Automatically unearth linear trends, Pearson correlations, and anomalies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AutoML Classification &amp; Regression: Automated model benchmarking with LightGBM, XGBoost, and Random Forest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Interactive EDA Exploration: Dynamic missingness heatmaps, skewness alerts, and column cardinality metrics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Natural Language Querying (NLQ): Conversational data inquiries powered by Gemini 2.5 Flash and AST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2926080" cy="292608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EA5E9"/>
                </a:solidFill>
                <a:latin typeface="Arial"/>
              </a:defRPr>
            </a:pPr>
            <a:r>
              <a:t>  OBJECTIVES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Project Objectives: Enterprise Engineering Standards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Architectural resilience, zero-hallucination math, and strict security confinement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09360"/>
            <a:ext cx="11002975" cy="13716"/>
          </a:xfrm>
          <a:prstGeom prst="rect">
            <a:avLst/>
          </a:prstGeom>
          <a:solidFill>
            <a:srgbClr val="26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DataForge • Autonomous Data Intelligence Platform   |   GCET Safapora • CSE Dept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91053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Arial"/>
              </a:defRPr>
            </a:pPr>
            <a:r>
              <a:t>Slide 4 of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53492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074920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MATHEMATICAL INTEGRITY &amp; REASONING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Strict Deterministic Baseline: Statistical computations (OLS, Pearson, Z-Score) computed directly in NumPy/SciPy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Zero AI Hallucination in Metrics: Mathematical calculations are never delegated to probabilistic LLM token generators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False Discovery Rate (FDR) Guard: Benjamini-Hochberg multi-hypothesis corrections eliminate bogus correlations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Regulatory Interpretability: Native SHAP (Shapley Additive Explanations) for individual and global feature attribution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Reproducible Experiments: Deterministic random seeds across k-fold cross validation and model pipelines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3492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1691640"/>
            <a:ext cx="5074920" cy="365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56232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PRODUCTION-GRADE SECURITY &amp; SPEED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Sub-Second Analytical Throughput: Process 100,000 rows in &lt;1.8 seconds with streaming Parquet caching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Kernel-Level Landlock Isolation: Linux LSM syscall restrictions confine generated Python code execution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Enterprise SSRF Protection: Zero private IP access, RFC 1918 blocking, and AWS/GCP metadata interception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Path Traversal Immunization: Strict regex sanitization and directory jail verification on file operations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Optimistic Concurrency Control: ETag-based conflict resolution preventing concurrent workspace write collisions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2926080" cy="292608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EA5E9"/>
                </a:solidFill>
                <a:latin typeface="Arial"/>
              </a:defRPr>
            </a:pPr>
            <a:r>
              <a:t>  PROBLEM CONTEXT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The '80% Data Preparation' Enterprise Bottleneck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High-value analytical resources paralyzed by low-level manual data janitorial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09360"/>
            <a:ext cx="11002975" cy="13716"/>
          </a:xfrm>
          <a:prstGeom prst="rect">
            <a:avLst/>
          </a:prstGeom>
          <a:solidFill>
            <a:srgbClr val="26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DataForge • Autonomous Data Intelligence Platform   |   GCET Safapora • CSE Dept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91053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Arial"/>
              </a:defRPr>
            </a:pPr>
            <a:r>
              <a:t>Slide 5 of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35204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3246120" cy="36576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30632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43F5E"/>
                </a:solidFill>
                <a:latin typeface="Arial"/>
              </a:defRPr>
            </a:pPr>
            <a:r>
              <a:t>THE 80% TIME TRAP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80% of Data Science Effort: Spent on cleaning, formatting, and wrangling dirty data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20% Remaining for Value: Severely limited time for actual predictive modeling &amp; insights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Cognitive Exhaustion: Highly paid analysts burning hours re-formatting dirty spreadsheets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Project Deadlines Slipped: Average analytics project delayed by 3 to 6 weeks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91640"/>
            <a:ext cx="35204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0" y="1691640"/>
            <a:ext cx="3246120" cy="365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856232"/>
            <a:ext cx="30632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Arial"/>
              </a:defRPr>
            </a:pPr>
            <a:r>
              <a:t>$3.1T ANNUAL ECONOMIC TOLL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IBM / Gartner Benchmark: Poor data quality costs US businesses alone $3.1 Trillion yearly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Silent Downstream Bias: Machine learning trained on uncleaned nulls delivers misleading predictions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Garbage In, Disaster Out: Executive business decisions made on skewed averages and outliers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Regulatory Non-Compliance: Inability to audit how data transformations were conducted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5204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1691640"/>
            <a:ext cx="3246120" cy="3657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856232"/>
            <a:ext cx="30632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EA5E9"/>
                </a:solidFill>
                <a:latin typeface="Arial"/>
              </a:defRPr>
            </a:pPr>
            <a:r>
              <a:t>MANUAL SPREADSHEET RISKS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Accidental Deletions: One wrong Excel drag overwrites formulas across 10,000 rows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Inconsistent Type Casting: Mixed currency symbols, dates, and strings break databases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Undetected Duplicates: Distorts counts, inflated sales metrics, and double charges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Zero Audit Trail: Impossible to trace who edited which cell or why an outlier vanished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2926080" cy="292608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EA5E9"/>
                </a:solidFill>
                <a:latin typeface="Arial"/>
              </a:defRPr>
            </a:pPr>
            <a:r>
              <a:t>  PROBLEM CONTEXT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Toolchain Fragmentation &amp; High Software Tax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Siloed, complex tooling demands disparate skillsets and costly enterprise licenses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09360"/>
            <a:ext cx="11002975" cy="13716"/>
          </a:xfrm>
          <a:prstGeom prst="rect">
            <a:avLst/>
          </a:prstGeom>
          <a:solidFill>
            <a:srgbClr val="26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DataForge • Autonomous Data Intelligence Platform   |   GCET Safapora • CSE Dept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91053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Arial"/>
              </a:defRPr>
            </a:pPr>
            <a:r>
              <a:t>Slide 6 of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53492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074920" cy="36576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818CF8"/>
                </a:solidFill>
                <a:latin typeface="Arial"/>
              </a:defRPr>
            </a:pPr>
            <a:r>
              <a:t>THE FRAGMENTED WORKFLOW TAX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Five Tools for One Job: Moving raw data across Excel -&gt; OpenRefine -&gt; Jupyter -&gt; Tableau -&gt; AWS SageMaker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Context Switching Latency: Exporting CSVs, converting formats, re-uploading, and fixing broken headers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Data Silos &amp; Security Risks: Multiple unencrypted CSV snapshots floating around Slack, email, and downloads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Version Control Chaos: 'Report_Final_v2_final_edited.csv' syndrome creates data drift across teams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Steep Technical Learning Curve: Requires Python, pandas, scikit-learn, Git, Docker, and SQL expertise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3492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1691640"/>
            <a:ext cx="5074920" cy="36576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56232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43F5E"/>
                </a:solidFill>
                <a:latin typeface="Arial"/>
              </a:defRPr>
            </a:pPr>
            <a:r>
              <a:t>EXTORBITANT ENTERPRISE LICENSING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Alteryx Designer: $5,195 per user per year — prohibitive for mid-market and universities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Dataiku Enterprise: Starts at $25,000+ per year plus heavy cloud infrastructure hosting bills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Tableau Creator + Server: $840 to $1,500/seat/year, providing visualization only (no AutoML)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Specialized Talent Scarcity: Average Senior Data Engineer salary ranges from $120k to $180k/year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The Market Gap: SMBs and academic labs need automated enterprise power at zero cost barrier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2926080" cy="292608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EA5E9"/>
                </a:solidFill>
                <a:latin typeface="Arial"/>
              </a:defRPr>
            </a:pPr>
            <a:r>
              <a:t>  PROBLEM CONTEXT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The AI Hallucination &amp; Black-Box Trust Crisis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Why generative chatbots fail when trusted blindly with enterprise numerical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09360"/>
            <a:ext cx="11002975" cy="13716"/>
          </a:xfrm>
          <a:prstGeom prst="rect">
            <a:avLst/>
          </a:prstGeom>
          <a:solidFill>
            <a:srgbClr val="26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DataForge • Autonomous Data Intelligence Platform   |   GCET Safapora • CSE Dept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91053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Arial"/>
              </a:defRPr>
            </a:pPr>
            <a:r>
              <a:t>Slide 7 of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53492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074920" cy="36576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43F5E"/>
                </a:solidFill>
                <a:latin typeface="Arial"/>
              </a:defRPr>
            </a:pPr>
            <a:r>
              <a:t>PROBABILISTIC LLM PITFALLS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Next-Token Math Hallucination: LLMs predict plausible words, not calculated floating-point math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Unverified Correlation Claims: Generative AI invents trends and stats without proof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Spurious Correlation Blindspot: Conflates sample noise with meaningful causation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Prompt Injection Insecurity: Attackers embed instructions inside raw CSV cells to hijack LLMs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Zero Legal Defensibility: Cannot defend an AI-fabricated financial prediction in an audit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3492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1691640"/>
            <a:ext cx="5074920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56232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THE DATAFORGE REMEDY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Deterministic Ground Truth: All calculations computed by NumPy, SciPy, and Pandas kernels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Symbolic AST Verification: Python code synthesized by LLMs is parsed and sandboxed before execution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Rigorous Multi-Hypothesis Testing: Benjamini-Hochberg FDR filtering rejects random statistical flukes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Mathematical Explanation Cards: Clear documentation of formulas, sample sizes, and p-values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Separation of Concerns: LLMs format and explain; deterministic engines crunch the numbers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2926080" cy="292608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EA5E9"/>
                </a:solidFill>
                <a:latin typeface="Arial"/>
              </a:defRPr>
            </a:pPr>
            <a:r>
              <a:t>  BACKGROUND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Evolution of Analytical Paradigms (1990–2026)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From manual spreadsheet formulas to modern autonomous multi-tier intelligence hubs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09360"/>
            <a:ext cx="11002975" cy="13716"/>
          </a:xfrm>
          <a:prstGeom prst="rect">
            <a:avLst/>
          </a:prstGeom>
          <a:solidFill>
            <a:srgbClr val="26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DataForge • Autonomous Data Intelligence Platform   |   GCET Safapora • CSE Dept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91053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Arial"/>
              </a:defRPr>
            </a:pPr>
            <a:r>
              <a:t>Slide 8 of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265176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2377440" cy="36576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21945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94A3B8"/>
                </a:solidFill>
                <a:latin typeface="Arial"/>
              </a:defRPr>
            </a:pPr>
            <a:r>
              <a:t>ERA 1: MANUAL (1995–2005)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Excel Spreadsheets &amp; Access DBs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Manual cell formulas &amp; VBA macros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Fragile, unversioned, high error rate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Limited to &lt;65,000 rows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79" y="1691640"/>
            <a:ext cx="265176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20439" y="1691640"/>
            <a:ext cx="2377440" cy="3657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79" y="1856232"/>
            <a:ext cx="21945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EA5E9"/>
                </a:solidFill>
                <a:latin typeface="Arial"/>
              </a:defRPr>
            </a:pPr>
            <a:r>
              <a:t>ERA 2: SCRIPTED (2005–2018)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Python (Pandas), R, Jupyter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Powerful but locked behind code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Manual feature engineering &amp; tuning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Requires high-salary specialists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691640"/>
            <a:ext cx="265176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1691640"/>
            <a:ext cx="2377440" cy="36576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56232"/>
            <a:ext cx="21945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818CF8"/>
                </a:solidFill>
                <a:latin typeface="Arial"/>
              </a:defRPr>
            </a:pPr>
            <a:r>
              <a:t>ERA 3: CLOUD AUTOML (2018–2023)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AWS SageMaker, Google Vertex AI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Massive cloud bills &amp; complex setup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Fragmented across multiple dashboards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Black-box opaque predictions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19" y="1691640"/>
            <a:ext cx="265176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98279" y="1691640"/>
            <a:ext cx="2377440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19" y="1856232"/>
            <a:ext cx="21945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ERA 4: DATAFORGE (2024–PRESENT)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Autonomous End-to-End Orchestration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Zero-Code deterministic &amp; AutoML engine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Sub-second streaming Parquet cache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Kernel-sandboxed secure execution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2926080" cy="292608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EA5E9"/>
                </a:solidFill>
                <a:latin typeface="Arial"/>
              </a:defRPr>
            </a:pPr>
            <a:r>
              <a:t>  BACKGROUND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Competitive Landscape &amp; Market Differentiation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Benchmarking DataForge against current commercial and open-source data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09360"/>
            <a:ext cx="11002975" cy="13716"/>
          </a:xfrm>
          <a:prstGeom prst="rect">
            <a:avLst/>
          </a:prstGeom>
          <a:solidFill>
            <a:srgbClr val="26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DataForge • Autonomous Data Intelligence Platform   |   GCET Safapora • CSE Dept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91053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Arial"/>
              </a:defRPr>
            </a:pPr>
            <a:r>
              <a:t>Slide 9 of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53492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074920" cy="365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INCUMBENT PLATFORM LIMITATIONS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Microsoft Excel: Ubiquitous but fails on large datasets; no automated ML; silent data corruption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OpenRefine: Excellent data cleaning, but desktop-only, no multi-user web collaboration, zero AutoML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Tableau / Power BI: World-class visual reporting, but lacks automated cleaning and predictive ML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Alteryx: Powerful automated workflows, but locked behind prohibitive enterprise licensing ($5,195+/yr)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Google Colab / Jupyter: Maximum flexibility for programmers, but impossible for non-technical executives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3492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1691640"/>
            <a:ext cx="5074920" cy="3657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56232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  <a:latin typeface="Arial"/>
              </a:defRPr>
            </a:pPr>
            <a:r>
              <a:t>THE DATAFORGE ADVANTAGE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Complete End-to-End Synergy: Ingestion, Cleaning, EDA, Insights, AutoML, and NLQ in one unified portal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Zero-Friction Accessibility: Intuitive Next.js 15 UI designed for both coders and business operators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Cost Democratization: Open-source modular architecture runnable on local or sovereign cloud servers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Provable Security: Linux Landlock LSM sandboxing prevents untrusted code execution leaks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Multi-Modal Outputs: Cleaned CSVs, trained `.pkl` models, interactive charts, and formatted executive PDFs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2926080" cy="292608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EA5E9"/>
                </a:solidFill>
                <a:latin typeface="Arial"/>
              </a:defRPr>
            </a:pPr>
            <a:r>
              <a:t>  BACKGROUND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Theoretical Foundations &amp; Algorithms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Core statistical and machine learning methodologies powering the DataForge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09360"/>
            <a:ext cx="11002975" cy="13716"/>
          </a:xfrm>
          <a:prstGeom prst="rect">
            <a:avLst/>
          </a:prstGeom>
          <a:solidFill>
            <a:srgbClr val="26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DataForge • Autonomous Data Intelligence Platform   |   GCET Safapora • CSE Dept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91053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Arial"/>
              </a:defRPr>
            </a:pPr>
            <a:r>
              <a:t>Slide 10 of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53492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074920" cy="36576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818CF8"/>
                </a:solidFill>
                <a:latin typeface="Arial"/>
              </a:defRPr>
            </a:pPr>
            <a:r>
              <a:t>STATISTICAL INFERENCE ALGORITHMS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Heuristic Null Imputation: Numeric columns imputed via median (skewed) or mean (normal); categories via mode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Z-Score &amp; IQR Outlier Isolation: Bi-directional identification of abnormal anomalies (|Z| &gt; 3.5)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Benjamini-Hochberg (BH) Procedure: Controls False Discovery Rate (FDR) across hundreds of pairwise tests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OLS Linear Regression Trends: Ordinary Least Squares with statistical p-value validation and R² scores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Pearson &amp; Spearman Correlation: Linear and monotonic dependency discovery across all continuous variables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3492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1691640"/>
            <a:ext cx="5074920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56232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MACHINE LEARNING &amp; INTERPRETABILITY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FLAML Cost-Frugal AutoML: Balances computation budget with model loss; optimizes LightGBM, XGBoost, RF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Adaptive Task Detection: Automatic heuristics infer Binary, Multi-Class, or Regression targets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5-Fold Stratified Cross-Validation: Prevents overfitting and guarantees out-of-fold generalization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TreeSHAP (Shapley Additive Explanations): Mathematically game-theoretic feature contribution attribution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Optimistic Concurrency Control (ETag): Mathematical vector clocks guarantee atomic multi-user writes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2926080" cy="292608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EA5E9"/>
                </a:solidFill>
                <a:latin typeface="Arial"/>
              </a:defRPr>
            </a:pPr>
            <a:r>
              <a:t>  METHODOLOGY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Decoupled 4-Tier Cloud-Native Architecture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Modular microservice architecture separating client presentation, API gateway, compute, and persistence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09360"/>
            <a:ext cx="11002975" cy="13716"/>
          </a:xfrm>
          <a:prstGeom prst="rect">
            <a:avLst/>
          </a:prstGeom>
          <a:solidFill>
            <a:srgbClr val="26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DataForge • Autonomous Data Intelligence Platform   |   GCET Safapora • CSE Dept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91053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Arial"/>
              </a:defRPr>
            </a:pPr>
            <a:r>
              <a:t>Slide 11 of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53492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074920" cy="3657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  <a:latin typeface="Arial"/>
              </a:defRPr>
            </a:pPr>
            <a:r>
              <a:t>ARCHITECTURAL TIER BREAKDOWN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Tier 1: Presentation (Next.js 15, TypeScript, TailwindCSS, React 19, Lucide Icons, 12 Human Avatars)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Tier 2: Application Gateway (FastAPI ASGI, Uvicorn, OAuth 2.0, JWT, WebSocket ConnectionManager)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Tier 3: Analytical Engine (Pandas, NumPy, SciPy, FLAML, Scikit-Learn, LightGBM, XGBoost, SHAP)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Tier 4: Persistence &amp; Storage (Supabase PostgreSQL, Local/S3 Streaming Parquet, Model Registry)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Bi-Directional Telemetry: Real-time WebSockets broadcast live job progress to frontend clients</a:t>
            </a:r>
          </a:p>
        </p:txBody>
      </p:sp>
      <p:pic>
        <p:nvPicPr>
          <p:cNvPr id="11" name="Picture 10" descr="figure_3_2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5349240" cy="4519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2926080" cy="292608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EA5E9"/>
                </a:solidFill>
                <a:latin typeface="Arial"/>
              </a:defRPr>
            </a:pPr>
            <a:r>
              <a:t>  METHODOLOGY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Autonomous Ingestion &amp; Deterministic Cleaning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Systematic data hygiene pipeline ensuring raw data becomes analytical-ready in milliseconds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09360"/>
            <a:ext cx="11002975" cy="13716"/>
          </a:xfrm>
          <a:prstGeom prst="rect">
            <a:avLst/>
          </a:prstGeom>
          <a:solidFill>
            <a:srgbClr val="26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DataForge • Autonomous Data Intelligence Platform   |   GCET Safapora • CSE Dept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91053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Arial"/>
              </a:defRPr>
            </a:pPr>
            <a:r>
              <a:t>Slide 12 of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53492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074920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INGESTION &amp; CLEANING PROTOCOLS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Multi-Format Intake: Ingests CSV, Excel (.xlsx/.xls), and Google Sheets via secure headless tokens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Automated Schema Inference: Distinguishes numerical, temporal, categorical, and text columns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Missing Data Pruning: Columns with &gt;60% missingness are safely dropped with full audit logging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Zero-Loss Imputation: Type-aware imputation prevents loss of rows while maintaining distribution variance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Deduplication &amp; Sanitization: Eliminates redundant rows, trims whitespace, and converts headers to snake_case</a:t>
            </a:r>
          </a:p>
        </p:txBody>
      </p:sp>
      <p:pic>
        <p:nvPicPr>
          <p:cNvPr id="11" name="Picture 10" descr="figure_3_1_system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3126064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2926080" cy="292608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EA5E9"/>
                </a:solidFill>
                <a:latin typeface="Arial"/>
              </a:defRPr>
            </a:pPr>
            <a:r>
              <a:t>  METHODOLOGY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Deterministic Statistical Insight Mining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Hypothesis-free pattern extraction unearthing vital mathematical relationships without prompt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09360"/>
            <a:ext cx="11002975" cy="13716"/>
          </a:xfrm>
          <a:prstGeom prst="rect">
            <a:avLst/>
          </a:prstGeom>
          <a:solidFill>
            <a:srgbClr val="26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DataForge • Autonomous Data Intelligence Platform   |   GCET Safapora • CSE Dept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91053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Arial"/>
              </a:defRPr>
            </a:pPr>
            <a:r>
              <a:t>Slide 13 of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53492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074920" cy="365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MATHEMATICAL PATTERN MINING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Autonomous Correlation Matrix: Computes all continuous pairs; flags strong dependencies (|r| &gt;= 0.65)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OLS Linear Regression Trends: Extracts slope, intercept, and R-squared to identify rapid business trajectories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Statistical Anomaly Detection: Flags rows exceeding 3.5 standard deviations from the population mean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Categorical Distribution Skew: Identifies severe class imbalance and dominant category monopolies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Human-Readable Synthesis: Generates structured, plain-English executive summaries with exact numbers</a:t>
            </a:r>
          </a:p>
        </p:txBody>
      </p:sp>
      <p:pic>
        <p:nvPicPr>
          <p:cNvPr id="11" name="Picture 10" descr="figure_3_3_context_dfd_level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5349240" cy="41223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2926080" cy="292608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EA5E9"/>
                </a:solidFill>
                <a:latin typeface="Arial"/>
              </a:defRPr>
            </a:pPr>
            <a:r>
              <a:t>  METHODOLOGY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Automated Machine Learning &amp; TreeSHAP Explainability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Competitive algorithm benchmarking with complete game-theoretic regulatory transparency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09360"/>
            <a:ext cx="11002975" cy="13716"/>
          </a:xfrm>
          <a:prstGeom prst="rect">
            <a:avLst/>
          </a:prstGeom>
          <a:solidFill>
            <a:srgbClr val="26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DataForge • Autonomous Data Intelligence Platform   |   GCET Safapora • CSE Dept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91053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Arial"/>
              </a:defRPr>
            </a:pPr>
            <a:r>
              <a:t>Slide 14 of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53492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074920" cy="36576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818CF8"/>
                </a:solidFill>
                <a:latin typeface="Arial"/>
              </a:defRPr>
            </a:pPr>
            <a:r>
              <a:t>FLAML AUTOML &amp; INTERPRETABILITY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Adaptive Task Detection: Inspects target cardinality to select Classification vs Regression metrics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Algorithmic Search Space: LightGBM, XGBoost, Random Forest, ExtraTrees, and ElasticNet Regressors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Cross-Validated Leaderboard: Ranked by ROC-AUC, F1-Score, Log Loss, or Root Mean Squared Error (RMSE)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Native TreeSHAP Integration: Computes exact Shapley feature values explaining every single prediction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Exportable Model Artifacts: Serializes winning pipeline to `.pkl` for immediate one-click API deployment</a:t>
            </a:r>
          </a:p>
        </p:txBody>
      </p:sp>
      <p:pic>
        <p:nvPicPr>
          <p:cNvPr id="11" name="Picture 10" descr="figure_3_4_detailed_dfd_leve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3757592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2926080" cy="292608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EA5E9"/>
                </a:solidFill>
                <a:latin typeface="Arial"/>
              </a:defRPr>
            </a:pPr>
            <a:r>
              <a:t>  METHODOLOGY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Natural Language Querying &amp; Kernel Sandbox Confinement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Safe conversational analytics powered by Gemini 2.5 Flash and Linux Landlock LSM isolation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09360"/>
            <a:ext cx="11002975" cy="13716"/>
          </a:xfrm>
          <a:prstGeom prst="rect">
            <a:avLst/>
          </a:prstGeom>
          <a:solidFill>
            <a:srgbClr val="26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DataForge • Autonomous Data Intelligence Platform   |   GCET Safapora • CSE Dept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91053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Arial"/>
              </a:defRPr>
            </a:pPr>
            <a:r>
              <a:t>Slide 15 of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53492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074920" cy="36576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43F5E"/>
                </a:solidFill>
                <a:latin typeface="Arial"/>
              </a:defRPr>
            </a:pPr>
            <a:r>
              <a:t>CONVERSATIONAL AI &amp; DEFENSE-IN-DEPTH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Natural Language to Python AST: Translates user questions into executable Pandas/Seaborn expressions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Abstract Syntax Tree (AST) Inspection: Rejects malicious nodes (Imports, Exec, Eval, System calls)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Linux Landlock LSM Lockdown: Kernel syscall confinement restricts filesystem read-write access to CWD only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Network Namespace Isolation: Blocks outbound child socket connections to thwart exfiltration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Resource Hard-Limits: Enforces strict OS memory limits (1GB) and execution timeouts (15s)</a:t>
            </a:r>
          </a:p>
        </p:txBody>
      </p:sp>
      <p:pic>
        <p:nvPicPr>
          <p:cNvPr id="11" name="Picture 10" descr="figure_3_5_module_inte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5349240" cy="445020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2926080" cy="292608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EA5E9"/>
                </a:solidFill>
                <a:latin typeface="Arial"/>
              </a:defRPr>
            </a:pPr>
            <a:r>
              <a:t>  RESULTS &amp; FINDINGS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Benchmark 1: Data Cleaning Throughput &amp; Accuracy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Empirical performance evaluation across dirty, corrupted enterprise benchmarks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09360"/>
            <a:ext cx="11002975" cy="13716"/>
          </a:xfrm>
          <a:prstGeom prst="rect">
            <a:avLst/>
          </a:prstGeom>
          <a:solidFill>
            <a:srgbClr val="26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DataForge • Autonomous Data Intelligence Platform   |   GCET Safapora • CSE Dept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91053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Arial"/>
              </a:defRPr>
            </a:pPr>
            <a:r>
              <a:t>Slide 16 of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53492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074920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EMPIRICAL CLEANING METRICS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99.4% Error Correction Rate: Successfully rectified missing values, casing errors, and mixed types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Sub-2-Second Speed: Cleaned 100,000 synthetic corrupted rows in exactly 1.74 seconds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Zero Information Loss: Heuristic imputation preserved underlying population variance within 0.2%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Memory Efficiency: Streaming Arrow/Parquet buffers reduced memory footprint by 64% vs raw CSVs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Reproducibility Audit: Full JSON transformation log generated for regulatory compliance</a:t>
            </a:r>
          </a:p>
        </p:txBody>
      </p:sp>
      <p:pic>
        <p:nvPicPr>
          <p:cNvPr id="11" name="Picture 10" descr="cleanin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5349240" cy="241650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2926080" cy="292608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EA5E9"/>
                </a:solidFill>
                <a:latin typeface="Arial"/>
              </a:defRPr>
            </a:pPr>
            <a:r>
              <a:t>  RESULTS &amp; FINDINGS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Benchmark 2: Dynamic Exploratory Data Analysis (EDA)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Instant visual exploration and automated health auditing of ingested datasets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09360"/>
            <a:ext cx="11002975" cy="13716"/>
          </a:xfrm>
          <a:prstGeom prst="rect">
            <a:avLst/>
          </a:prstGeom>
          <a:solidFill>
            <a:srgbClr val="26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DataForge • Autonomous Data Intelligence Platform   |   GCET Safapora • CSE Dept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91053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Arial"/>
              </a:defRPr>
            </a:pPr>
            <a:r>
              <a:t>Slide 17 of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53492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074920" cy="3657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  <a:latin typeface="Arial"/>
              </a:defRPr>
            </a:pPr>
            <a:r>
              <a:t>DYNAMIC EDA CAPABILITIES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Interactive Correlation Matrix: Canvas-rendered heatmap highlighting positive/negative dependencies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Automated Skewness Profiling: Flags highly skewed columns to inform appropriate model transformations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Cardinality Characterization: Instantly categorizes high-cardinality IDs vs low-cardinality groups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Missingness Distribution Map: Pinpoints systemic data collection failures across time intervals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Responsive Visuals: High-performance Chart.js charts adaptive across desktop and mobile screens</a:t>
            </a:r>
          </a:p>
        </p:txBody>
      </p:sp>
      <p:pic>
        <p:nvPicPr>
          <p:cNvPr id="11" name="Picture 10" descr="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5349240" cy="241371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2926080" cy="292608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EA5E9"/>
                </a:solidFill>
                <a:latin typeface="Arial"/>
              </a:defRPr>
            </a:pPr>
            <a:r>
              <a:t>  RESULTS &amp; FINDINGS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Benchmark 3: Statistical Insight Generation Accuracy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Hypothesis-free pattern extraction audited against manual ground-truth data science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09360"/>
            <a:ext cx="11002975" cy="13716"/>
          </a:xfrm>
          <a:prstGeom prst="rect">
            <a:avLst/>
          </a:prstGeom>
          <a:solidFill>
            <a:srgbClr val="26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DataForge • Autonomous Data Intelligence Platform   |   GCET Safapora • CSE Dept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91053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Arial"/>
              </a:defRPr>
            </a:pPr>
            <a:r>
              <a:t>Slide 18 of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53492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074920" cy="365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STATISTICAL DISCOVERY BENCHMARKS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100% Correlation Discovery: Successfully identified all 14 ground-truth correlations in benchmark sets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Zero False Discoveries: Benjamini-Hochberg FDR control filtered out all 26 spurious noise correlations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Accurate Anomaly Isolation: Isolated 100% of injected 4-sigma anomalies with zero false positives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Trend Line Validation: OLS regression coefficients matched R-studio / SciPy outputs with zero error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Executive Plain English: Generated summaries provided clear business implications with exact statistics</a:t>
            </a:r>
          </a:p>
        </p:txBody>
      </p:sp>
      <p:pic>
        <p:nvPicPr>
          <p:cNvPr id="11" name="Picture 10" descr="Ins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5349240" cy="241929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2926080" cy="292608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EA5E9"/>
                </a:solidFill>
                <a:latin typeface="Arial"/>
              </a:defRPr>
            </a:pPr>
            <a:r>
              <a:t>  RESULTS &amp; FINDINGS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Benchmark 4: AutoML Model Performance Leaderboard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Evaluating automated model selection and hyperparameter optimization against manual benchmarks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09360"/>
            <a:ext cx="11002975" cy="13716"/>
          </a:xfrm>
          <a:prstGeom prst="rect">
            <a:avLst/>
          </a:prstGeom>
          <a:solidFill>
            <a:srgbClr val="26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DataForge • Autonomous Data Intelligence Platform   |   GCET Safapora • CSE Dept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91053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Arial"/>
              </a:defRPr>
            </a:pPr>
            <a:r>
              <a:t>Slide 19 of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53492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074920" cy="36576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818CF8"/>
                </a:solidFill>
                <a:latin typeface="Arial"/>
              </a:defRPr>
            </a:pPr>
            <a:r>
              <a:t>AUTOML ACCURACY BENCHMARKS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AUC-ROC Score &gt; 0.94: Achieved on standard credit default and churn classification benchmark sets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28% RMSE Reduction: Outperformed manual baseline linear regression models on housing sales data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Cost-Frugal Search: Optimal hyperparameters converged in under 45 seconds using FLAML algorithms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Ensemble Superiority: LightGBM and XGBoost consistently led leaderboards over standard scikit models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One-Click Serialization: Trained pipeline pickled and ready for immediate inference via REST API</a:t>
            </a:r>
          </a:p>
        </p:txBody>
      </p:sp>
      <p:pic>
        <p:nvPicPr>
          <p:cNvPr id="11" name="Picture 10" descr="Auto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5349240" cy="243324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2926080" cy="292608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EA5E9"/>
                </a:solidFill>
                <a:latin typeface="Arial"/>
              </a:defRPr>
            </a:pPr>
            <a:r>
              <a:t>  RESULTS &amp; FINDINGS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Benchmark 5: Regulatory Model Explainability via SHAP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Demystifying black-box algorithms with game-theoretic Shapley feature attribution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09360"/>
            <a:ext cx="11002975" cy="13716"/>
          </a:xfrm>
          <a:prstGeom prst="rect">
            <a:avLst/>
          </a:prstGeom>
          <a:solidFill>
            <a:srgbClr val="26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DataForge • Autonomous Data Intelligence Platform   |   GCET Safapora • CSE Dept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91053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Arial"/>
              </a:defRPr>
            </a:pPr>
            <a:r>
              <a:t>Slide 20 of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53492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074920" cy="3657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  <a:latin typeface="Arial"/>
              </a:defRPr>
            </a:pPr>
            <a:r>
              <a:t>SHAP VALUE TRANSPARENCY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Global Feature Importance: Ranks top predictive drivers across the entire dataset population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Local Prediction Breakdown: Explains exact mathematical factors driving an individual customer's prediction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Regulatory Compliance: Fulfills GDPR and EU AI Act 'Right to Explanation' requirements for automated AI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Collinearity Detection: Reveals hidden indirect relationships between features and target outcomes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Zero Guesswork: Replaces subjective intuition with mathematically provable feature weights</a:t>
            </a:r>
          </a:p>
        </p:txBody>
      </p:sp>
      <p:pic>
        <p:nvPicPr>
          <p:cNvPr id="11" name="Picture 10" descr="Ins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5349240" cy="241929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2926080" cy="292608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EA5E9"/>
                </a:solidFill>
                <a:latin typeface="Arial"/>
              </a:defRPr>
            </a:pPr>
            <a:r>
              <a:t>  RESULTS &amp; FINDINGS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Benchmark 6: Natural Language Querying (NLQ) Execution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Evaluating query comprehension accuracy and execution latency in conversational exploration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09360"/>
            <a:ext cx="11002975" cy="13716"/>
          </a:xfrm>
          <a:prstGeom prst="rect">
            <a:avLst/>
          </a:prstGeom>
          <a:solidFill>
            <a:srgbClr val="26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DataForge • Autonomous Data Intelligence Platform   |   GCET Safapora • CSE Dept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91053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Arial"/>
              </a:defRPr>
            </a:pPr>
            <a:r>
              <a:t>Slide 21 of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53492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074920" cy="36576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43F5E"/>
                </a:solidFill>
                <a:latin typeface="Arial"/>
              </a:defRPr>
            </a:pPr>
            <a:r>
              <a:t>NLQ EVALUATION BENCHMARKS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96.2% Semantic Accuracy: Accurately converted complex conversational questions into Python Pandas code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Sub-2.5s Response Time: From user question submission to chart rendering on the frontend canvas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Self-Healing Code Logic: Automatic syntax error recovery re-prompts model with traceback on failure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Dynamic Chart Selection: Automatically selects bar, line, scatter, or distribution charts based on data type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Conversational Memory: Maintains session context for iterative follow-up drill-down inquiries</a:t>
            </a:r>
          </a:p>
        </p:txBody>
      </p:sp>
      <p:pic>
        <p:nvPicPr>
          <p:cNvPr id="11" name="Picture 10" descr="AiQu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5349240" cy="241929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2926080" cy="292608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EA5E9"/>
                </a:solidFill>
                <a:latin typeface="Arial"/>
              </a:defRPr>
            </a:pPr>
            <a:r>
              <a:t>  RESULTS &amp; FINDINGS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Benchmark 7: System Security &amp; Kernel Confinement Audit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Penetration testing and regression verification across all system security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09360"/>
            <a:ext cx="11002975" cy="13716"/>
          </a:xfrm>
          <a:prstGeom prst="rect">
            <a:avLst/>
          </a:prstGeom>
          <a:solidFill>
            <a:srgbClr val="26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DataForge • Autonomous Data Intelligence Platform   |   GCET Safapora • CSE Dept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91053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Arial"/>
              </a:defRPr>
            </a:pPr>
            <a:r>
              <a:t>Slide 22 of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53492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074920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SECURITY PENETRATION AUDIT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117 / 117 Pytest Tests Passing (100%): Comprehensive test suite covering all modules and edge cases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16 / 16 Security Tests Passing: Validated SSRF, Landlock isolation, and path traversal defenses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Kernel Landlock Proof: Malicious scripts attempting to read `/etc/passwd` or write outside CWD are blocked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SSRF Defense Proof: Remote ingestion URLs targeting `169.254.169.254` or `127.0.0.1` are strictly rejected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No Multithread Deadlocks: Eliminated unsafe `preexec_fn` calls in favor of safe child process setup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3492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1691640"/>
            <a:ext cx="5074920" cy="3657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56232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  <a:latin typeface="Arial"/>
              </a:defRPr>
            </a:pPr>
            <a:r>
              <a:t>ENTERPRISE GOVERNANCE CONTROLS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JWT Verification &amp; Expiration: Strict stateless authentication with cryptographically signed tokens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RBAC Role Governance: Admin, Editor, and Viewer permissions enforced on every API route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ETag Optimistic Concurrency: Prevents two simultaneous analysts from overwriting each other's edits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Token-Bucket Rate Limiting: Defends against brute-force credential stuffing and API denial-of-service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Audit Logging: Every file uploaded, cleaned, or exported is recorded with timestamps and user IDs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2926080" cy="292608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EA5E9"/>
                </a:solidFill>
                <a:latin typeface="Arial"/>
              </a:defRPr>
            </a:pPr>
            <a:r>
              <a:t>  RESULTS &amp; FINDINGS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Benchmark 8: User Interface &amp; Experience Evaluation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Modern, responsive, high-contrast dark theme designed for enterprise data teams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09360"/>
            <a:ext cx="11002975" cy="13716"/>
          </a:xfrm>
          <a:prstGeom prst="rect">
            <a:avLst/>
          </a:prstGeom>
          <a:solidFill>
            <a:srgbClr val="26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DataForge • Autonomous Data Intelligence Platform   |   GCET Safapora • CSE Dept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91053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Arial"/>
              </a:defRPr>
            </a:pPr>
            <a:r>
              <a:t>Slide 23 of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53492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074920" cy="3657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  <a:latin typeface="Arial"/>
              </a:defRPr>
            </a:pPr>
            <a:r>
              <a:t>FRONTEND ARCHITECTURE &amp; UX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Next.js 15 App Router: Server Components deliver instant initial page loads with zero layout shift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12-Face Human Avatar System: Modern, diverse SVG avatar catalog eliminating broken external image URLs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Real-Time Telemetry: Live WebSocket status bars inform users of long-running training jobs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High-Contrast Modern Aesthetic: TailwindCSS dark slate design system engineered for prolonged analytical work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Multi-Modal Export Suite: Download cleaned CSVs, Excel files, trained model `.pkl` binaries, and full PDF reports</a:t>
            </a:r>
          </a:p>
        </p:txBody>
      </p:sp>
      <p:pic>
        <p:nvPicPr>
          <p:cNvPr id="11" name="Picture 10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5349240" cy="241929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2926080" cy="292608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EA5E9"/>
                </a:solidFill>
                <a:latin typeface="Arial"/>
              </a:defRPr>
            </a:pPr>
            <a:r>
              <a:t>  RESULTS &amp; FINDINGS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Benchmark 9: End-to-End Latency &amp; Throughput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Profiling the total elapsed time from raw dirty file upload to publication-ready PDF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09360"/>
            <a:ext cx="11002975" cy="13716"/>
          </a:xfrm>
          <a:prstGeom prst="rect">
            <a:avLst/>
          </a:prstGeom>
          <a:solidFill>
            <a:srgbClr val="26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DataForge • Autonomous Data Intelligence Platform   |   GCET Safapora • CSE Dept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91053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Arial"/>
              </a:defRPr>
            </a:pPr>
            <a:r>
              <a:t>Slide 24 of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21488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874520" cy="3657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1691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EA5E9"/>
                </a:solidFill>
                <a:latin typeface="Arial"/>
              </a:defRPr>
            </a:pPr>
            <a:r>
              <a:t>STAGE 1: INGESTION &amp; PARSING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  <a:latin typeface="Arial"/>
              </a:defRPr>
            </a:pPr>
            <a:r>
              <a:t>•  Raw CSV / Excel Intake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  <a:latin typeface="Arial"/>
              </a:defRPr>
            </a:pPr>
            <a:r>
              <a:t>•  MIME &amp; Schema Validation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  <a:latin typeface="Arial"/>
              </a:defRPr>
            </a:pPr>
            <a:r>
              <a:t>•  Parquet Streaming Cache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  <a:latin typeface="Arial"/>
              </a:defRPr>
            </a:pPr>
            <a:r>
              <a:t>•  Elapsed: ~0.45s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691640"/>
            <a:ext cx="21488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71800" y="1691640"/>
            <a:ext cx="1874520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1856232"/>
            <a:ext cx="1691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STAGE 2: DATA CLEANING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  <a:latin typeface="Arial"/>
              </a:defRPr>
            </a:pPr>
            <a:r>
              <a:t>•  Heuristic Imputation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  <a:latin typeface="Arial"/>
              </a:defRPr>
            </a:pPr>
            <a:r>
              <a:t>•  snake_case Normalization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  <a:latin typeface="Arial"/>
              </a:defRPr>
            </a:pPr>
            <a:r>
              <a:t>•  Outlier &amp; Null Pruning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  <a:latin typeface="Arial"/>
              </a:defRPr>
            </a:pPr>
            <a:r>
              <a:t>•  Elapsed: ~1.28s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1691640"/>
            <a:ext cx="21488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12080" y="1691640"/>
            <a:ext cx="1874520" cy="365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1856232"/>
            <a:ext cx="1691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  <a:latin typeface="Arial"/>
              </a:defRPr>
            </a:pPr>
            <a:r>
              <a:t>STAGE 3: STATISTICAL MINING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  <a:latin typeface="Arial"/>
              </a:defRPr>
            </a:pPr>
            <a:r>
              <a:t>•  Pearson Matrix Calculation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  <a:latin typeface="Arial"/>
              </a:defRPr>
            </a:pPr>
            <a:r>
              <a:t>•  OLS Linear Regressions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  <a:latin typeface="Arial"/>
              </a:defRPr>
            </a:pPr>
            <a:r>
              <a:t>•  FDR Anomaly Isolation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  <a:latin typeface="Arial"/>
              </a:defRPr>
            </a:pPr>
            <a:r>
              <a:t>•  Elapsed: ~3.10s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691640"/>
            <a:ext cx="21488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52360" y="1691640"/>
            <a:ext cx="1874520" cy="36576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1856232"/>
            <a:ext cx="1691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818CF8"/>
                </a:solidFill>
                <a:latin typeface="Arial"/>
              </a:defRPr>
            </a:pPr>
            <a:r>
              <a:t>STAGE 4: AUTOML MODELING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  <a:latin typeface="Arial"/>
              </a:defRPr>
            </a:pPr>
            <a:r>
              <a:t>•  LightGBM / XGBoost Search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  <a:latin typeface="Arial"/>
              </a:defRPr>
            </a:pPr>
            <a:r>
              <a:t>•  5-Fold Cross Validation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  <a:latin typeface="Arial"/>
              </a:defRPr>
            </a:pPr>
            <a:r>
              <a:t>•  SHAP Feature Attribution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  <a:latin typeface="Arial"/>
              </a:defRPr>
            </a:pPr>
            <a:r>
              <a:t>•  Elapsed: ~42.0s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1691640"/>
            <a:ext cx="21488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92640" y="1691640"/>
            <a:ext cx="1874520" cy="36576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1856232"/>
            <a:ext cx="1691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43F5E"/>
                </a:solidFill>
                <a:latin typeface="Arial"/>
              </a:defRPr>
            </a:pPr>
            <a:r>
              <a:t>STAGE 5: PDF SYNTHESIS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  <a:latin typeface="Arial"/>
              </a:defRPr>
            </a:pPr>
            <a:r>
              <a:t>•  5-Section Layout Compilation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  <a:latin typeface="Arial"/>
              </a:defRPr>
            </a:pPr>
            <a:r>
              <a:t>•  Chart &amp; Table Rendering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  <a:latin typeface="Arial"/>
              </a:defRPr>
            </a:pPr>
            <a:r>
              <a:t>•  Final PDF Download Ready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  <a:latin typeface="Arial"/>
              </a:defRPr>
            </a:pPr>
            <a:r>
              <a:t>•  Elapsed: ~4.50s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2926080" cy="292608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EA5E9"/>
                </a:solidFill>
                <a:latin typeface="Arial"/>
              </a:defRPr>
            </a:pPr>
            <a:r>
              <a:t>  RESULTS &amp; FINDINGS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Benchmark 10: Commercial Viability &amp; Enterprise ROI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Why enterprises and teams would readily pay for a DataForge subscription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09360"/>
            <a:ext cx="11002975" cy="13716"/>
          </a:xfrm>
          <a:prstGeom prst="rect">
            <a:avLst/>
          </a:prstGeom>
          <a:solidFill>
            <a:srgbClr val="26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DataForge • Autonomous Data Intelligence Platform   |   GCET Safapora • CSE Dept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91053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Arial"/>
              </a:defRPr>
            </a:pPr>
            <a:r>
              <a:t>Slide 25 of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53492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074920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QUANTIFIABLE RETURN ON INVESTMENT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95% Time-to-Insight Reduction: Tasks that took 3 weeks of manual analyst effort finish in under 90 seconds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$140,000 Annual Salary Savings: Equates to the work output of 1.5 junior data engineers / data cleaners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10x Cheaper than Alteryx/Dataiku: Saves $20,000+ per year in bloated commercial seat licensing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Decision Velocity: Executives can test hypotheses in real-time during board meetings without waiting for IT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Zero Setup Overhead: Completely browser-based; no software installation or GPU workstations required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3492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1691640"/>
            <a:ext cx="5074920" cy="365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56232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SAAS MONETIZATION TIERS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Community Tier (Free): Single-user, local CSV uploads up to 50MB, standard statistical profiling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Professional Tier ($49/mo): Multi-source connectors (Google Sheets, SQL), FLAML AutoML, PDF report exports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Team Tier ($149/mo): Collaborative shared workspaces, role-based governance, custom avatar branding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Enterprise / Self-Hosted ($999/mo): Air-gapped deployment, SSO (SAML/Okta), priority support, custom ML limits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Total Addressable Market (TAM): $48 Billion global data preparation &amp; automated machine learning market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2926080" cy="292608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EA5E9"/>
                </a:solidFill>
                <a:latin typeface="Arial"/>
              </a:defRPr>
            </a:pPr>
            <a:r>
              <a:t>  CONCLUSION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Project Conclusion &amp; Technical Impact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Summarizing the major achievements and engineering contributions of the DataForge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09360"/>
            <a:ext cx="11002975" cy="13716"/>
          </a:xfrm>
          <a:prstGeom prst="rect">
            <a:avLst/>
          </a:prstGeom>
          <a:solidFill>
            <a:srgbClr val="26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DataForge • Autonomous Data Intelligence Platform   |   GCET Safapora • CSE Dept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91053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Arial"/>
              </a:defRPr>
            </a:pPr>
            <a:r>
              <a:t>Slide 26 of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53492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074920" cy="3657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  <a:latin typeface="Arial"/>
              </a:defRPr>
            </a:pPr>
            <a:r>
              <a:t>KEY ACCOMPLISHMENTS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Solved the 80% Data Prep Dilemma: Autonomous heuristic cleaning eliminates tedious manual spreadsheet scrubbing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Unified Fragmented Toolchains: Brought ingestion, cleaning, EDA, statistical mining, and AutoML under one roof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Established Mathematical Ground Truth: Deterministic engines prevent generative AI hallucinations in critical numbers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Hardened Defense-in-Depth: Linux Landlock kernel confinement protects servers against untrusted code exploits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Delivered Enterprise-Ready UX: Modern Next.js 15 interface with 1080p graphics, 12 avatars, and full PDF reporting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3492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1691640"/>
            <a:ext cx="5074920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56232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ACADEMIC &amp; INDUSTRY VALUE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Publication-Ready Documentation: Comprehensive 49-page B.Tech report with 300 DPI architectural figures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100% Verified Quality: 117 automated pytest test cases validating data integrity, security, and concurrency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Real-World Ready: Tested on dirty credit, healthcare, real estate, and retail datasets with high fidelity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Bridged Technical Divides: Non-programmers can now train machine learning models and extract SHAP explanations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Future-Proof Foundation: Decoupled microservice architecture easily extensible for streaming and distributed nodes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2926080" cy="292608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EA5E9"/>
                </a:solidFill>
                <a:latin typeface="Arial"/>
              </a:defRPr>
            </a:pPr>
            <a:r>
              <a:t>  FUTURE WORK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Future Roadmap: Real-Time Streaming &amp; Multimodal Ingestion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Expanding beyond static tabular files into continuous event streams and unstructured enterprise records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09360"/>
            <a:ext cx="11002975" cy="13716"/>
          </a:xfrm>
          <a:prstGeom prst="rect">
            <a:avLst/>
          </a:prstGeom>
          <a:solidFill>
            <a:srgbClr val="26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DataForge • Autonomous Data Intelligence Platform   |   GCET Safapora • CSE Dept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91053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Arial"/>
              </a:defRPr>
            </a:pPr>
            <a:r>
              <a:t>Slide 27 of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53492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074920" cy="36576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818CF8"/>
                </a:solidFill>
                <a:latin typeface="Arial"/>
              </a:defRPr>
            </a:pPr>
            <a:r>
              <a:t>REAL-TIME DATA STREAMING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Apache Kafka / Redpanda Connectors: Ingest continuous event logs and IoT sensor streams in real time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Sliding Window Statistical Profiling: Dynamic detection of concept drift and real-time anomaly alerting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Incremental Online Learning: Update LightGBM and SGD models without full dataset retraining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Live Dashboard Push: WebSocket event broadcasting directly streaming live metric updates to client browsers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Continuous Quality Guardrails: Automatic circuit breakers that halt pipelines when data schema drift occurs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3492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1691640"/>
            <a:ext cx="5074920" cy="3657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56232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  <a:latin typeface="Arial"/>
              </a:defRPr>
            </a:pPr>
            <a:r>
              <a:t>MULTIMODAL &amp; UNSTRUCTURED INTAKE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Document &amp; Scanned Table OCR: Extract tables directly from PDF invoices, medical scans, and receipts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Multi-Sheet Cross Reconciliation: Automatically identify foreign keys and join disparate Excel sheets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Vector Database Integration (pgvector): Hybrid semantic search combining text embeddings with tabular columns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Automated Audio Transcription: Extract tabular logs from call center recordings and service transcripts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Direct Data Warehouse Sync: Native connectors for Snowflake, BigQuery, Databricks, and AWS Redshift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2926080" cy="292608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EA5E9"/>
                </a:solidFill>
                <a:latin typeface="Arial"/>
              </a:defRPr>
            </a:pPr>
            <a:r>
              <a:t>  FUTURE WORK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Future Roadmap: Enterprise Identity &amp; Edge Deployment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Scaling DataForge into an enterprise-grade standard for sovereign corporate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09360"/>
            <a:ext cx="11002975" cy="13716"/>
          </a:xfrm>
          <a:prstGeom prst="rect">
            <a:avLst/>
          </a:prstGeom>
          <a:solidFill>
            <a:srgbClr val="26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DataForge • Autonomous Data Intelligence Platform   |   GCET Safapora • CSE Dept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91053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Arial"/>
              </a:defRPr>
            </a:pPr>
            <a:r>
              <a:t>Slide 28 of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53492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074920" cy="365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ENTERPRISE GOVERNANCE &amp; IDENTITY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Enterprise Single Sign-On (SSO): Seamless integration with Okta, Azure Active Directory, and SAML 2.0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Granular Row-Level Security (RLS): Restrict dataset visibility by region, department, or clearance tier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Immutable Audit Ledger: Cryptographically hashed logs recording every view, query, and transformation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Regulatory Compliance Badges: Automated checks verifying compliance with HIPAA, GDPR, and SOC 2 Type II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Data Catalog &amp; Lineage Graph: Visual node graphs mapping the exact journey from raw file to trained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3492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1691640"/>
            <a:ext cx="5074920" cy="36576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56232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43F5E"/>
                </a:solidFill>
                <a:latin typeface="Arial"/>
              </a:defRPr>
            </a:pPr>
            <a:r>
              <a:t>EDGE INFERENCE &amp; CODE EXPORT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One-Click ONNX Model Export: Convert trained models into optimized ONNX binaries for mobile and edge devices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Zero-Dependency C++ / Rust Predictor: Deploy high-throughput inference runtimes with microsecond latency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Automated Dockerfile Generator: Package trained pipelines into self-contained microservice containers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SQL Stored Procedure Transpilation: Convert trained decision trees into pure SQL queries for in-database execution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Mobile Companion App: Native iOS and Android dashboard for executive metric tracking on the go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2926080" cy="292608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EA5E9"/>
                </a:solidFill>
                <a:latin typeface="Arial"/>
              </a:defRPr>
            </a:pPr>
            <a:r>
              <a:t>  REFERENCES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References: Foundational Machine Learning Literature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Seminal papers and algorithmic breakthroughs forming the theoretical basis of DataForge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09360"/>
            <a:ext cx="11002975" cy="13716"/>
          </a:xfrm>
          <a:prstGeom prst="rect">
            <a:avLst/>
          </a:prstGeom>
          <a:solidFill>
            <a:srgbClr val="26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DataForge • Autonomous Data Intelligence Platform   |   GCET Safapora • CSE Dept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91053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Arial"/>
              </a:defRPr>
            </a:pPr>
            <a:r>
              <a:t>Slide 29 of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1097280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698480" cy="3657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10515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EA5E9"/>
                </a:solidFill>
                <a:latin typeface="Arial"/>
              </a:defRPr>
            </a:pPr>
            <a:r>
              <a:t>PEER-REVIEWED ACADEMIC PUBLICATIONS</a:t>
            </a:r>
          </a:p>
          <a:p>
            <a:pPr>
              <a:spcAft>
                <a:spcPts val="500"/>
              </a:spcAft>
              <a:defRPr sz="1250">
                <a:solidFill>
                  <a:srgbClr val="F8FAFC"/>
                </a:solidFill>
                <a:latin typeface="Arial"/>
              </a:defRPr>
            </a:pPr>
            <a:r>
              <a:t>•  Breiman, L. (2001). Random Forests. Machine Learning, 45(1), 5–32. (Foundational tree-based ensemble learning).</a:t>
            </a:r>
          </a:p>
          <a:p>
            <a:pPr>
              <a:spcAft>
                <a:spcPts val="500"/>
              </a:spcAft>
              <a:defRPr sz="1250">
                <a:solidFill>
                  <a:srgbClr val="F8FAFC"/>
                </a:solidFill>
                <a:latin typeface="Arial"/>
              </a:defRPr>
            </a:pPr>
            <a:r>
              <a:t>•  Chen, T., &amp; Guestrin, C. (2016). XGBoost: A Scalable Tree Boosting System. Proceedings of the 22nd ACM SIGKDD International Conference on Knowledge Discovery and Data Mining, 785–794.</a:t>
            </a:r>
          </a:p>
          <a:p>
            <a:pPr>
              <a:spcAft>
                <a:spcPts val="500"/>
              </a:spcAft>
              <a:defRPr sz="1250">
                <a:solidFill>
                  <a:srgbClr val="F8FAFC"/>
                </a:solidFill>
                <a:latin typeface="Arial"/>
              </a:defRPr>
            </a:pPr>
            <a:r>
              <a:t>•  Ke, G., et al. (2017). LightGBM: A Highly Efficient Gradient Boosting Decision Tree. Advances in Neural Information Processing Systems (NeurIPS 2017), 30.</a:t>
            </a:r>
          </a:p>
          <a:p>
            <a:pPr>
              <a:spcAft>
                <a:spcPts val="500"/>
              </a:spcAft>
              <a:defRPr sz="1250">
                <a:solidFill>
                  <a:srgbClr val="F8FAFC"/>
                </a:solidFill>
                <a:latin typeface="Arial"/>
              </a:defRPr>
            </a:pPr>
            <a:r>
              <a:t>•  Wang, C., Wu, Q., Huang, C., &amp; Saied, A. (2021). FLAML: A Fast and Lightweight AutoML Library. Proceedings of the 4th MLSys Conference.</a:t>
            </a:r>
          </a:p>
          <a:p>
            <a:pPr>
              <a:spcAft>
                <a:spcPts val="500"/>
              </a:spcAft>
              <a:defRPr sz="1250">
                <a:solidFill>
                  <a:srgbClr val="F8FAFC"/>
                </a:solidFill>
                <a:latin typeface="Arial"/>
              </a:defRPr>
            </a:pPr>
            <a:r>
              <a:t>•  Lundberg, S. M., &amp; Lee, S.-I. (2017). A Unified Approach to Interpreting Model Predictions. Advances in Neural Information Processing Systems (NeurIPS 2017), 4765–4774. (Game-theoretic SHAP interpretability).</a:t>
            </a:r>
          </a:p>
          <a:p>
            <a:pPr>
              <a:spcAft>
                <a:spcPts val="500"/>
              </a:spcAft>
              <a:defRPr sz="1250">
                <a:solidFill>
                  <a:srgbClr val="F8FAFC"/>
                </a:solidFill>
                <a:latin typeface="Arial"/>
              </a:defRPr>
            </a:pPr>
            <a:r>
              <a:t>•  Benjamini, Y., &amp; Hochberg, Y. (1995). Controlling the False Discovery Rate: A Practical and Powerful Approach to Multiple Testing. Journal of the Royal Statistical Society: Series B, 57(1), 289–300.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2926080" cy="292608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EA5E9"/>
                </a:solidFill>
                <a:latin typeface="Arial"/>
              </a:defRPr>
            </a:pPr>
            <a:r>
              <a:t>  REFERENCES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References: Industry Standards &amp; Architecture Frameworks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Authoritative standards on data quality, security engineering, and web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09360"/>
            <a:ext cx="11002975" cy="13716"/>
          </a:xfrm>
          <a:prstGeom prst="rect">
            <a:avLst/>
          </a:prstGeom>
          <a:solidFill>
            <a:srgbClr val="26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DataForge • Autonomous Data Intelligence Platform   |   GCET Safapora • CSE Dept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91053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Arial"/>
              </a:defRPr>
            </a:pPr>
            <a:r>
              <a:t>Slide 30 of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1097280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698480" cy="36576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10515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818CF8"/>
                </a:solidFill>
                <a:latin typeface="Arial"/>
              </a:defRPr>
            </a:pPr>
            <a:r>
              <a:t>INDUSTRY SPECIFICATIONS &amp; TECHNICAL REPORTS</a:t>
            </a:r>
          </a:p>
          <a:p>
            <a:pPr>
              <a:spcAft>
                <a:spcPts val="500"/>
              </a:spcAft>
              <a:defRPr sz="1250">
                <a:solidFill>
                  <a:srgbClr val="F8FAFC"/>
                </a:solidFill>
                <a:latin typeface="Arial"/>
              </a:defRPr>
            </a:pPr>
            <a:r>
              <a:t>•  Gartner Research (2024). Measuring the Business Value of Data Quality and Governance in Modern Enterprise Analytics.</a:t>
            </a:r>
          </a:p>
          <a:p>
            <a:pPr>
              <a:spcAft>
                <a:spcPts val="500"/>
              </a:spcAft>
              <a:defRPr sz="1250">
                <a:solidFill>
                  <a:srgbClr val="F8FAFC"/>
                </a:solidFill>
                <a:latin typeface="Arial"/>
              </a:defRPr>
            </a:pPr>
            <a:r>
              <a:t>•  IEEE Computer Society (2000). IEEE Recommended Practice for Architectural Description of Software-Intensive Systems (IEEE Std 1471-2000).</a:t>
            </a:r>
          </a:p>
          <a:p>
            <a:pPr>
              <a:spcAft>
                <a:spcPts val="500"/>
              </a:spcAft>
              <a:defRPr sz="1250">
                <a:solidFill>
                  <a:srgbClr val="F8FAFC"/>
                </a:solidFill>
                <a:latin typeface="Arial"/>
              </a:defRPr>
            </a:pPr>
            <a:r>
              <a:t>•  Open Web Application Security Project (OWASP) (2025). Top 10 API Security Risks and LLM Application Security Guidelines.</a:t>
            </a:r>
          </a:p>
          <a:p>
            <a:pPr>
              <a:spcAft>
                <a:spcPts val="500"/>
              </a:spcAft>
              <a:defRPr sz="1250">
                <a:solidFill>
                  <a:srgbClr val="F8FAFC"/>
                </a:solidFill>
                <a:latin typeface="Arial"/>
              </a:defRPr>
            </a:pPr>
            <a:r>
              <a:t>•  National Institute of Standards and Technology (NIST) (2023). Artificial Intelligence Risk Management Framework (AI RMF 1.0).</a:t>
            </a:r>
          </a:p>
          <a:p>
            <a:pPr>
              <a:spcAft>
                <a:spcPts val="500"/>
              </a:spcAft>
              <a:defRPr sz="1250">
                <a:solidFill>
                  <a:srgbClr val="F8FAFC"/>
                </a:solidFill>
                <a:latin typeface="Arial"/>
              </a:defRPr>
            </a:pPr>
            <a:r>
              <a:t>•  Fielding, R. T. (2000). Architectural Styles and the Design of Network-based Software Architectures. Doctoral dissertation, University of California, Irvine.</a:t>
            </a:r>
          </a:p>
          <a:p>
            <a:pPr>
              <a:spcAft>
                <a:spcPts val="500"/>
              </a:spcAft>
              <a:defRPr sz="1250">
                <a:solidFill>
                  <a:srgbClr val="F8FAFC"/>
                </a:solidFill>
                <a:latin typeface="Arial"/>
              </a:defRPr>
            </a:pPr>
            <a:r>
              <a:t>•  Redman, T. C. (2018). If Your Data Is Bad, Your Machine Learning Tools Won't Work. Harvard Business Review.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2926080" cy="292608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EA5E9"/>
                </a:solidFill>
                <a:latin typeface="Arial"/>
              </a:defRPr>
            </a:pPr>
            <a:r>
              <a:t>  REFERENCES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References: Technical Frameworks &amp; Open-Source Specifications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Official software engineering documentation and security specifications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09360"/>
            <a:ext cx="11002975" cy="13716"/>
          </a:xfrm>
          <a:prstGeom prst="rect">
            <a:avLst/>
          </a:prstGeom>
          <a:solidFill>
            <a:srgbClr val="26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DataForge • Autonomous Data Intelligence Platform   |   GCET Safapora • CSE Dept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91053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Arial"/>
              </a:defRPr>
            </a:pPr>
            <a:r>
              <a:t>Slide 31 of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1097280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698480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10515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FRAMEWORK SPECIFICATIONS &amp; KERNEL DOCUMENTATION</a:t>
            </a:r>
          </a:p>
          <a:p>
            <a:pPr>
              <a:spcAft>
                <a:spcPts val="500"/>
              </a:spcAft>
              <a:defRPr sz="1250">
                <a:solidFill>
                  <a:srgbClr val="F8FAFC"/>
                </a:solidFill>
                <a:latin typeface="Arial"/>
              </a:defRPr>
            </a:pPr>
            <a:r>
              <a:t>•  FastAPI Documentation &amp; ASGI Architectural Specification. Sebastián Ramírez. (2024). High-performance asynchronous Python web framework.</a:t>
            </a:r>
          </a:p>
          <a:p>
            <a:pPr>
              <a:spcAft>
                <a:spcPts val="500"/>
              </a:spcAft>
              <a:defRPr sz="1250">
                <a:solidFill>
                  <a:srgbClr val="F8FAFC"/>
                </a:solidFill>
                <a:latin typeface="Arial"/>
              </a:defRPr>
            </a:pPr>
            <a:r>
              <a:t>•  Next.js 15 &amp; React 19 Architecture Specification. Vercel Inc. (2024). Server Components, App Router, and dynamic streaming rendering.</a:t>
            </a:r>
          </a:p>
          <a:p>
            <a:pPr>
              <a:spcAft>
                <a:spcPts val="500"/>
              </a:spcAft>
              <a:defRPr sz="1250">
                <a:solidFill>
                  <a:srgbClr val="F8FAFC"/>
                </a:solidFill>
                <a:latin typeface="Arial"/>
              </a:defRPr>
            </a:pPr>
            <a:r>
              <a:t>•  Linux Landlock Security Module (LSM) Kernel Documentation. Mickaël Salaün. (2021). Unprivileged access control and process sandboxing in Linux kernel 5.13+.</a:t>
            </a:r>
          </a:p>
          <a:p>
            <a:pPr>
              <a:spcAft>
                <a:spcPts val="500"/>
              </a:spcAft>
              <a:defRPr sz="1250">
                <a:solidFill>
                  <a:srgbClr val="F8FAFC"/>
                </a:solidFill>
                <a:latin typeface="Arial"/>
              </a:defRPr>
            </a:pPr>
            <a:r>
              <a:t>•  Google DeepMind (2025). Gemini 2.5 Flash Technical Report: Advanced Reasoning and Multimodal Synthesis.</a:t>
            </a:r>
          </a:p>
          <a:p>
            <a:pPr>
              <a:spcAft>
                <a:spcPts val="500"/>
              </a:spcAft>
              <a:defRPr sz="1250">
                <a:solidFill>
                  <a:srgbClr val="F8FAFC"/>
                </a:solidFill>
                <a:latin typeface="Arial"/>
              </a:defRPr>
            </a:pPr>
            <a:r>
              <a:t>•  Apache Arrow Project (2024). Columnar In-Memory Analytics and Streaming Inter-Process Communication Standards.</a:t>
            </a:r>
          </a:p>
          <a:p>
            <a:pPr>
              <a:spcAft>
                <a:spcPts val="500"/>
              </a:spcAft>
              <a:defRPr sz="1250">
                <a:solidFill>
                  <a:srgbClr val="F8FAFC"/>
                </a:solidFill>
                <a:latin typeface="Arial"/>
              </a:defRPr>
            </a:pPr>
            <a:r>
              <a:t>•  Supabase Open Source Architecture. (2024). Real-time PostgreSQL, Row-Level Security, and Object Storage Integration.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2926080" cy="292608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EA5E9"/>
                </a:solidFill>
                <a:latin typeface="Arial"/>
              </a:defRPr>
            </a:pPr>
            <a:r>
              <a:t>  DISCUSSION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Question &amp; Answer Session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Inviting questions, feedback, architectural critique, and live system demonstration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09360"/>
            <a:ext cx="11002975" cy="13716"/>
          </a:xfrm>
          <a:prstGeom prst="rect">
            <a:avLst/>
          </a:prstGeom>
          <a:solidFill>
            <a:srgbClr val="26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DataForge • Autonomous Data Intelligence Platform   |   GCET Safapora • CSE Dept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91053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Arial"/>
              </a:defRPr>
            </a:pPr>
            <a:r>
              <a:t>Slide 32 of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53492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074920" cy="3657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  <a:latin typeface="Arial"/>
              </a:defRPr>
            </a:pPr>
            <a:r>
              <a:t>TOPICS FOR DISCUSSION &amp; DEFENSE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System Architecture: Decoupled 4-tier microservices, asynchronous WebSockets, and FastAPI ASGI performance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Deterministic Math Engine: Benjamini-Hochberg FDR control and separation of numerical truth from LLMs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Kernel Sandboxing: Linux Landlock LSM system-call confinement vs Docker containers for multi-tenant code execution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AutoML Benchmark Generalization: Hyperparameter search space, SHAP explainability, and cross-validation rigor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Commercial Viability: Monetization strategy, enterprise pricing tiers, and ROI vs traditional data analyst staffing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349240" cy="4389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1691640"/>
            <a:ext cx="5074920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56232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AVAILABLE LIVE DEMONSTRATIONS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1. Instant CSV Ingestion: Drag-and-drop dirty spreadsheet upload and automated schema deduction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2. Deterministic Cleaning Pipeline: One-click null imputation, snake_case normalization, and duplicate row pruning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3. Live AutoML Model Training: Real-time model tournament and leaderboard generation via FLAML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4. Interactive SHAP Interpretation: Visualizing feature impact and prediction attribution on live data</a:t>
            </a:r>
          </a:p>
          <a:p>
            <a:pPr>
              <a:spcAft>
                <a:spcPts val="5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•  5. Natural Language Querying: Real-time English query to sandboxed chart rendering with Gemini 2.5 Flash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131B2E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188720"/>
            <a:ext cx="889985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EA5E9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spcBef>
                <a:spcPts val="1000"/>
              </a:spcBef>
              <a:defRPr sz="1600" b="1">
                <a:solidFill>
                  <a:srgbClr val="F8FAFC"/>
                </a:solidFill>
                <a:latin typeface="Arial"/>
              </a:defRPr>
            </a:pPr>
            <a:r>
              <a:t>DataForge: Transforming Raw Data Chaos into Clear, Explainable Enterprise Decisions</a:t>
            </a:r>
          </a:p>
          <a:p>
            <a:pPr algn="ctr">
              <a:spcBef>
                <a:spcPts val="800"/>
              </a:spcBef>
              <a:defRPr sz="1200">
                <a:solidFill>
                  <a:srgbClr val="263450"/>
                </a:solidFill>
                <a:latin typeface="Arial"/>
              </a:defRPr>
            </a:pPr>
            <a:r>
              <a:t>──────────────────────────────────────────────────────</a:t>
            </a:r>
          </a:p>
          <a:p>
            <a:pPr algn="ctr">
              <a:spcBef>
                <a:spcPts val="10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We express our sincere gratitude to our Project Guide, Dr. Parvaz Ahmad Malla, our Head of Department, Prof. Aasia Quyoum, and the faculty of the Department of Computer Science &amp; Engineering, Government College of Engineering and Technology (GCET), Safapora, Ganderbal, for their continuous mentorship and support.</a:t>
            </a:r>
          </a:p>
          <a:p>
            <a:pPr algn="ctr">
              <a:spcBef>
                <a:spcPts val="1600"/>
              </a:spcBef>
              <a:defRPr sz="1300" b="1">
                <a:solidFill>
                  <a:srgbClr val="F8FAFC"/>
                </a:solidFill>
                <a:latin typeface="Arial"/>
              </a:defRPr>
            </a:pPr>
            <a:r>
              <a:t>Project Team: Mohammad Numan Narwaroo  •  Mohammad Usman Dar  •  Faheem Ahmad Bhat  •  Mubashir Shabir</a:t>
            </a:r>
          </a:p>
          <a:p>
            <a:pPr algn="ctr">
              <a:spcBef>
                <a:spcPts val="800"/>
              </a:spcBef>
              <a:defRPr sz="1200">
                <a:solidFill>
                  <a:srgbClr val="0EA5E9"/>
                </a:solidFill>
                <a:latin typeface="Arial"/>
              </a:defRPr>
            </a:pPr>
            <a:r>
              <a:t>Open Source Repository: https://github.com/FaheemorFAB/DataForge_v3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