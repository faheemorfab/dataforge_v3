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Error %</c:v>
                </c:pt>
              </c:strCache>
            </c:strRef>
          </c:tx>
          <c:spPr>
            <a:solidFill>
              <a:srgbClr val="1D4ED8"/>
            </a:solidFill>
            <a:effectLst/>
          </c:spPr>
          <c:invertIfNegative val="0"/>
          <c:dLbls>
            <c:numFmt formatCode="0.0&quot;%&quot;"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Raw GPT-4o</c:v>
                  </c:pt>
                  <c:pt idx="1">
                    <c:v>Claude 3.5 Sonnet</c:v>
                  </c:pt>
                  <c:pt idx="2">
                    <c:v>Gemini 2.5 Flash</c:v>
                  </c:pt>
                  <c:pt idx="3">
                    <c:v>DataForge v3</c:v>
                  </c:pt>
                </c:lvl>
              </c:multiLvlStrCache>
            </c:multiLvlStrRef>
          </c:cat>
          <c:val>
            <c:numRef>
              <c:f>Sheet1!$B$2:$B$5</c:f>
              <c:numCache>
                <c:formatCode>General</c:formatCode>
                <c:ptCount val="4"/>
                <c:pt idx="0">
                  <c:v>38.6</c:v>
                </c:pt>
                <c:pt idx="1">
                  <c:v>33.6</c:v>
                </c:pt>
                <c:pt idx="2">
                  <c:v>40.8</c:v>
                </c:pt>
                <c:pt idx="3">
                  <c:v>0</c:v>
                </c:pt>
              </c:numCache>
            </c:numRef>
          </c:val>
        </c:ser>
        <c:dLbls>
          <c:numFmt formatCode="0.0&quot;%&quot;" sourceLinked="0"/>
          <c:txPr>
            <a:bodyPr/>
            <a:lstStyle/>
            <a:p>
              <a:pPr>
                <a:defRPr b="0" i="0" strike="noStrike" sz="14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CF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committee members and attendees. Today, I am proud to present DataForge v3, an end-to-end intelligent data workspace designed to solve one of the biggest challenges in modern computing: making data analysis fast, automated, and mathematically trustworthy without relying on fragile tools or guessing artificial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its core, DataForge is built around a simple question: why do organizations need five different complicated software tools just to turn raw data into decisions? DataForge provides a unified platform where anyone can upload a messy spreadsheet, clean it automatically, discover key patterns, ask questions in plain English, and even train machine learning models, all in one browser tab, with zero software installation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out with three core engineering objectives: first, automate repetitive cleaning tasks like handling missing values and typos while keeping full audit history; second, scan datasets for statistically genuine patterns without falling victim to random noise; and third, build an AI assistant that never invents numbers. Our final outcome is a fully tested platform that shortens the entire analytical journey from days to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every modern industry, decisions are only as good as the data behind them. However, industry research consistently shows that data teams spend four out of every five hours simply cleaning messy files and fixing broken columns. Highly trained experts spend their days acting like digital custodians instead of uncovering valuable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leads us to the core problem. First, spreadsheets are notoriously error-prone: academic audits show nearly nine out of ten corporate spreadsheets contain formula errors. Second, companies patch this by buying multiple disconnected SaaS tools. And third, when teams try using modern generative AI like ChatGPT for data analysis, the AI frequently hallucinates numbers because language models predict words, not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DataForge introduces a fundamental shift in design philosophy: compute first, speak second. Instead of asking an AI to do math in its head, DataForge uses verified, sandboxed code to compute exact statistical facts first. The language model's only job is to translate those exact numbers into clear English. This guarantees that every number shown on screen is mathematically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examine the current landscape: Excel is easy to use but notoriously fragile. Dedicated BI platforms like Tableau make great charts but cost thousands of dollars per user and still require clean data upfront. Meanwhile, raw AI chatbots are conversational but get basic arithmetic wrong more than a third of the time. There is a glaring gap for a solution that combines ease of use with absolute mathematical rigor.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our competitive advantage. While existing solutions require users to manually clean data in one tool, build reports in a second, and hire data scientists for a third, DataForge handles the entire lifecycle in one place. Most importantly, it is the only conversational tool that includes multiple-testing correction to prevent false correlation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complies with ISO/IEC/IEEE 42010 standards. The frontend runs in modern Next.js. The backend uses FastAPI with strict rate limiting and token authentication. All heavy data lifting is performed in Tier 4 using high-speed DuckDB and Pandas engines. Notice that the AI is not allowed direct access to the database or operating system; everything executes through monitored, sandboxed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ensure enterprise-grade speed and reliability, we selected a battle-tested modern technology stack. On the client side, Next.js and TypeScript deliver a responsive, zero-refresh interface. On the server side, Python and DuckDB process tens of thousands of rows in milliseconds. For predictive analytics, we leverage Microsoft's cost-frugal FLAML engine alongside Google Gemini for natural language orchestration.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Ingesting data is seamless. Users can drag and drop messy CSV or Excel files, or connect directly to cloud databases and live Google Sheets. The system automatically detects file encoding, identifies delimiter types, and converts raw files into compressed Parquet tables, cutting memory usage by over 60%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cleaning in DataForge is completely deterministic. When a dirty file arrives, the engine scans for broken entries and applies proven statistical rules: numerical gaps are filled with column medians to resist outliers, and extreme spikes are capped using Tukey's method. Every cleaning step is recorded as an immutable recipe, allowing users to step backward or forward in time with a single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relying on a single monolithic prompt, DataForge employs a specialized team of autonomous AI agents. The Chief Supervisor acts as the conductor. If you ask a cleaning question, it calls the CleanerAgent; if you ask for predictions, it calls the AutoMLAgent. If you simply say hello or ask for column names, it uses an instant local fast-path to respond in zero milliseconds without making an external API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analysis is complete, DataForge bridges the gap between business leaders and engineers. For executives, it generates crisp, publication-quality PDF summaries with embedded vector charts. For engineering teams, it automatically compiles the visual transformations into production-ready Airflow DAGs and dbt SQL models, eliminating weeks of manual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demonstrate file ingestion. In under one second, the engine ingests 50,000 messy rows, correctly infers integer, floating-point, and timestamp datatypes, and creates an optimized memory snapshot. The user immediately sees column health scores and memory consumption without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Immediately upon ingestion, our automated profiler generates a full statistical health check. Users can see distribution shapes, missingness ratios, and potential data leaks at a glance. What traditionally required writing dozens of lines of exploratory Python code appears instantly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our automated cleaning in action. On the left, the raw data had artificial negative numbers and missing entries. The cleaning engine repaired these values using deterministic rules. Notice the before-and-after distribution curves: the underlying data shape is preserved without allowing extreme errors to skew business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interactive dashboard automatically suggests the most informative charts for the uploaded data. Business users can filter dates, isolate segments, and drill into categories interactively. All visualizations follow strict statistical visualization rules to ensure axes and scales never mislead the 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academic contribution of DataForge is how it handles multiple hypothesis testing. When you compare 40 columns, standard software tests 780 pairs simultaneously, virtually guaranteeing false alarms due to random chance. DataForge integrates the Benjamini-Hochberg procedure, slashing false alarms from nearly 40 down to almost zero while retaining 100% of real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zero-hallucination conversational interface. When a user asks an analytical question, the AI does not guess the answer. It writes and executes a sandboxed script that computes the exact value. Our Ground-Truth Synchronizer audits the final sentence to guarantee that the text, the chart labels, and the underlying data match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predictive modeling, DataForge includes an explainable AutoML studio. Users simply select what they want to predict. In under 30 seconds, the system automatically detects whether it is a classification or regression problem, trains multiple competitive algorithms, and selects the best model. It also generates feature importance charts so domain experts understand exactly why the model makes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work is done, sharing results is instant. With one click, users can download an executive PDF report ready for boardroom presentation, complete with vector charts and executive summaries. Simultaneously, engineers can download the full transformation pipeline as an Airflow DAG to run automatically in their enterprise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validate engineering reliability, the platform was subjected to extensive automated testing. We developed 26 test suites containing 165 automated test cases covering security, concurrency, and statistical correctness. Furthermore, our sandbox was penetration-tested against hostile code execution, arbitrary file access, and memory exhaustion attacks, achieving a 100% blocking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benchmark represents our most critical empirical finding. We tested 500 complex mathematical prompts across four datasets. Leading foundation models failed between 33% and 40% of the time, often inventing product rankings or swapping correlation signs. DataForge recorded a 0.00% numerical hallucination rate because it mathematically synchronizes text with sandboxed execution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DataForge v3 demonstrates that business intelligence does not have to be slow, expensive, or mathematically unreliable. By putting deterministic code execution before language generation, we deliver a platform where anyone can analyze data with conversational ease while maintaining the uncompromising precision demanded by academic and enterprise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our strategic roadmap focuses on three areas: first, supporting real-time data streams from systems like Kafka; second, adding computer vision to extract tables from scanned PDF invoices; and third, scaling our backend to distributed compute clusters using Apache Arrow and Ray for massive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is grounded in established computer science and statistical literature, including Benjamini and Hochberg's seminal work on False Discovery Rates, John Tukey's exploratory data analysis, and the ISO 42010 architectural standard. All foundational models and database engines are documented and referenced.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My supervisor and I would now be delighted to answer any questions from the committee.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once again. You can review the complete codebase, test reports, and documentation at the repository link shown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p:bgPr>
    </p:bg>
    <p:spTree>
      <p:nvGrpSpPr>
        <p:cNvPr id="1" name=""/>
        <p:cNvGrpSpPr/>
        <p:nvPr/>
      </p:nvGrpSpPr>
      <p:grpSpPr>
        <a:xfrm>
          <a:off x="0" y="0"/>
          <a:ext cx="0" cy="0"/>
          <a:chOff x="0" y="0"/>
          <a:chExt cx="0" cy="0"/>
        </a:xfrm>
      </p:grpSpPr>
      <p:pic>
        <p:nvPicPr>
          <p:cNvPr id="2" name="Image 0" descr="/home/claude/deck/img/ct_bg.pn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457200" y="0"/>
            <a:ext cx="91440" cy="6858000"/>
          </a:xfrm>
          <a:prstGeom prst="rect">
            <a:avLst/>
          </a:prstGeom>
          <a:solidFill>
            <a:srgbClr val="1D4ED8"/>
          </a:solidFill>
          <a:ln/>
        </p:spPr>
      </p:sp>
      <p:sp>
        <p:nvSpPr>
          <p:cNvPr id="4" name="Shape 1"/>
          <p:cNvSpPr/>
          <p:nvPr/>
        </p:nvSpPr>
        <p:spPr>
          <a:xfrm>
            <a:off x="457200" y="0"/>
            <a:ext cx="91440" cy="1463040"/>
          </a:xfrm>
          <a:prstGeom prst="rect">
            <a:avLst/>
          </a:prstGeom>
          <a:solidFill>
            <a:srgbClr val="F97316"/>
          </a:solidFill>
          <a:ln/>
        </p:spPr>
      </p:sp>
      <p:sp>
        <p:nvSpPr>
          <p:cNvPr id="5" name="Text 2"/>
          <p:cNvSpPr/>
          <p:nvPr/>
        </p:nvSpPr>
        <p:spPr>
          <a:xfrm rot="16200000">
            <a:off x="-1188720" y="3268980"/>
            <a:ext cx="2926080" cy="320040"/>
          </a:xfrm>
          <a:prstGeom prst="rect">
            <a:avLst/>
          </a:prstGeom>
          <a:noFill/>
          <a:ln/>
        </p:spPr>
        <p:txBody>
          <a:bodyPr wrap="square" lIns="0" tIns="0" rIns="0" bIns="0" rtlCol="0" anchor="ctr"/>
          <a:lstStyle/>
          <a:p>
            <a:pPr algn="ctr" indent="0" marL="0">
              <a:buNone/>
            </a:pPr>
            <a:r>
              <a:rPr lang="en-US" sz="1100" b="1" spc="500" kern="0" dirty="0">
                <a:solidFill>
                  <a:srgbClr val="64748B"/>
                </a:solidFill>
                <a:latin typeface="Arial" pitchFamily="34" charset="0"/>
                <a:ea typeface="Arial" pitchFamily="34" charset="-122"/>
                <a:cs typeface="Arial" pitchFamily="34" charset="-120"/>
              </a:rPr>
              <a:t>DATAFORGE  v3</a:t>
            </a:r>
            <a:endParaRPr lang="en-US" sz="1100" dirty="0"/>
          </a:p>
        </p:txBody>
      </p:sp>
      <p:sp>
        <p:nvSpPr>
          <p:cNvPr id="6" name="Shape 3"/>
          <p:cNvSpPr/>
          <p:nvPr/>
        </p:nvSpPr>
        <p:spPr>
          <a:xfrm>
            <a:off x="1097280" y="1444752"/>
            <a:ext cx="10543032" cy="0"/>
          </a:xfrm>
          <a:prstGeom prst="line">
            <a:avLst/>
          </a:prstGeom>
          <a:noFill/>
          <a:ln w="38100">
            <a:solidFill>
              <a:srgbClr val="1E3A8A"/>
            </a:solidFill>
            <a:prstDash val="solid"/>
          </a:ln>
        </p:spPr>
      </p:sp>
      <p:sp>
        <p:nvSpPr>
          <p:cNvPr id="7" name="Shape 4"/>
          <p:cNvSpPr/>
          <p:nvPr/>
        </p:nvSpPr>
        <p:spPr>
          <a:xfrm>
            <a:off x="1097280" y="1517904"/>
            <a:ext cx="10543032" cy="0"/>
          </a:xfrm>
          <a:prstGeom prst="line">
            <a:avLst/>
          </a:prstGeom>
          <a:noFill/>
          <a:ln w="9525">
            <a:solidFill>
              <a:srgbClr val="1E3A8A"/>
            </a:solidFill>
            <a:prstDash val="solid"/>
          </a:ln>
        </p:spPr>
      </p:sp>
      <p:sp>
        <p:nvSpPr>
          <p:cNvPr id="8" name="Text 5"/>
          <p:cNvSpPr/>
          <p:nvPr/>
        </p:nvSpPr>
        <p:spPr>
          <a:xfrm>
            <a:off x="11000232" y="4572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DF</a:t>
            </a:r>
            <a:endParaRPr lang="en-US" sz="2000" dirty="0"/>
          </a:p>
        </p:txBody>
      </p:sp>
      <p:sp>
        <p:nvSpPr>
          <p:cNvPr id="9" name="Shape 6"/>
          <p:cNvSpPr/>
          <p:nvPr/>
        </p:nvSpPr>
        <p:spPr>
          <a:xfrm>
            <a:off x="1097280" y="6382512"/>
            <a:ext cx="10543032" cy="0"/>
          </a:xfrm>
          <a:prstGeom prst="line">
            <a:avLst/>
          </a:prstGeom>
          <a:noFill/>
          <a:ln w="9525">
            <a:solidFill>
              <a:srgbClr val="D5DEEC"/>
            </a:solidFill>
            <a:prstDash val="solid"/>
          </a:ln>
        </p:spPr>
      </p:sp>
      <p:sp>
        <p:nvSpPr>
          <p:cNvPr id="10" name="Text 7"/>
          <p:cNvSpPr/>
          <p:nvPr/>
        </p:nvSpPr>
        <p:spPr>
          <a:xfrm>
            <a:off x="1097280" y="6437376"/>
            <a:ext cx="8229600" cy="274320"/>
          </a:xfrm>
          <a:prstGeom prst="rect">
            <a:avLst/>
          </a:prstGeom>
          <a:noFill/>
          <a:ln/>
        </p:spPr>
        <p:txBody>
          <a:bodyPr wrap="square" lIns="0" tIns="0" rIns="0" bIns="0" rtlCol="0" anchor="ctr"/>
          <a:lstStyle/>
          <a:p>
            <a:pPr indent="0" marL="0">
              <a:buNone/>
            </a:pPr>
            <a:r>
              <a:rPr lang="en-US" sz="1100" dirty="0">
                <a:solidFill>
                  <a:srgbClr val="64748B"/>
                </a:solidFill>
                <a:latin typeface="Arial" pitchFamily="34" charset="0"/>
                <a:ea typeface="Arial" pitchFamily="34" charset="-122"/>
                <a:cs typeface="Arial" pitchFamily="34" charset="-120"/>
              </a:rPr>
              <a:t>Autonomous Multi-Agent Platform for Reliable Data Engineering</a:t>
            </a:r>
            <a:endParaRPr lang="en-US" sz="1100" dirty="0"/>
          </a:p>
        </p:txBody>
      </p:sp>
      <p:sp>
        <p:nvSpPr>
          <p:cNvPr id="11" name="Text 8"/>
          <p:cNvSpPr/>
          <p:nvPr>
            <p:ph idx="110" type="title" hasCustomPrompt="1"/>
          </p:nvPr>
        </p:nvSpPr>
        <p:spPr>
          <a:xfrm>
            <a:off x="1097280" y="566928"/>
            <a:ext cx="9601200" cy="777240"/>
          </a:xfrm>
          <a:prstGeom prst="rect">
            <a:avLst/>
          </a:prstGeom>
          <a:noFill/>
          <a:ln/>
        </p:spPr>
        <p:txBody>
          <a:bodyPr wrap="square" rtlCol="0"/>
          <a:lstStyle>
            <a:lvl1pPr algn="l" indent="0" marL="0">
              <a:buNone/>
              <a:defRPr lang="en-US" sz="3200" b="1" dirty="0">
                <a:solidFill>
                  <a:srgbClr val="1E3A8A"/>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4297680"/>
          </a:xfrm>
          <a:prstGeom prst="rect">
            <a:avLst/>
          </a:prstGeom>
          <a:solidFill>
            <a:srgbClr val="1D4ED8"/>
          </a:solidFill>
          <a:ln w="3175">
            <a:solidFill>
              <a:srgbClr val="1D4ED8"/>
            </a:solidFill>
            <a:prstDash val="solid"/>
          </a:ln>
        </p:spPr>
        <p:txBody>
          <a:bodyPr/>
          <a:p/>
        </p:txBody>
      </p:sp>
      <p:pic>
        <p:nvPicPr>
          <p:cNvPr id="3" name="Image 0" descr="/home/claude/deck/img/orbit_w.png">    </p:cNvPr>
          <p:cNvPicPr>
            <a:picLocks noChangeAspect="1"/>
          </p:cNvPicPr>
          <p:nvPr/>
        </p:nvPicPr>
        <p:blipFill>
          <a:blip r:embed="rId1"/>
          <a:stretch>
            <a:fillRect/>
          </a:stretch>
        </p:blipFill>
        <p:spPr>
          <a:xfrm>
            <a:off x="0" y="0"/>
            <a:ext cx="12188952" cy="6858000"/>
          </a:xfrm>
          <a:prstGeom prst="rect">
            <a:avLst/>
          </a:prstGeom>
        </p:spPr>
      </p:pic>
      <p:sp>
        <p:nvSpPr>
          <p:cNvPr id="4" name="Text 1"/>
          <p:cNvSpPr txBox="1"/>
          <p:nvPr/>
        </p:nvSpPr>
        <p:spPr>
          <a:xfrm>
            <a:off x="1097280" y="640080"/>
            <a:ext cx="6400800" cy="274320"/>
          </a:xfrm>
          <a:prstGeom prst="rect">
            <a:avLst/>
          </a:prstGeom>
          <a:noFill/>
          <a:ln/>
        </p:spPr>
        <p:txBody>
          <a:bodyPr wrap="square" lIns="0" tIns="0" rIns="0" bIns="0" rtlCol="0" anchor="t"/>
          <a:lstStyle/>
          <a:p>
            <a:pPr indent="0" marL="0">
              <a:buNone/>
            </a:pPr>
            <a:r>
              <a:rPr lang="en-US" sz="1300" b="1" spc="400" kern="0" dirty="0">
                <a:solidFill>
                  <a:srgbClr val="FFFFFF"/>
                </a:solidFill>
                <a:latin typeface="Arial" pitchFamily="34" charset="0"/>
                <a:ea typeface="Arial" pitchFamily="34" charset="-122"/>
                <a:cs typeface="Arial" pitchFamily="34" charset="-120"/>
              </a:rPr>
              <a:t>PROJECT PRESENTATION</a:t>
            </a:r>
            <a:endParaRPr lang="en-US" sz="1300" dirty="0"/>
          </a:p>
        </p:txBody>
      </p:sp>
      <p:sp>
        <p:nvSpPr>
          <p:cNvPr id="5" name="Text 2"/>
          <p:cNvSpPr txBox="1"/>
          <p:nvPr/>
        </p:nvSpPr>
        <p:spPr>
          <a:xfrm>
            <a:off x="1051560" y="2103120"/>
            <a:ext cx="10058400" cy="1828800"/>
          </a:xfrm>
          <a:prstGeom prst="rect">
            <a:avLst/>
          </a:prstGeom>
          <a:noFill/>
          <a:ln/>
        </p:spPr>
        <p:txBody>
          <a:bodyPr wrap="square" lIns="0" tIns="0" rIns="0" bIns="0" rtlCol="0" anchor="b"/>
          <a:lstStyle/>
          <a:p>
            <a:pPr indent="0" marL="0">
              <a:buNone/>
            </a:pPr>
            <a:r>
              <a:rPr lang="en-US" sz="10000" b="1" dirty="0">
                <a:solidFill>
                  <a:srgbClr val="FFFFFF"/>
                </a:solidFill>
                <a:latin typeface="Arial" pitchFamily="34" charset="0"/>
                <a:ea typeface="Arial" pitchFamily="34" charset="-122"/>
                <a:cs typeface="Arial" pitchFamily="34" charset="-120"/>
              </a:rPr>
              <a:t>DataForge v3</a:t>
            </a:r>
            <a:endParaRPr lang="en-US" sz="10000" dirty="0"/>
          </a:p>
        </p:txBody>
      </p:sp>
      <p:sp>
        <p:nvSpPr>
          <p:cNvPr id="6" name="Shape 3"/>
          <p:cNvSpPr/>
          <p:nvPr/>
        </p:nvSpPr>
        <p:spPr>
          <a:xfrm>
            <a:off x="457200" y="0"/>
            <a:ext cx="91440" cy="4297680"/>
          </a:xfrm>
          <a:prstGeom prst="rect">
            <a:avLst/>
          </a:prstGeom>
          <a:solidFill>
            <a:srgbClr val="F97316"/>
          </a:solidFill>
          <a:ln w="3175">
            <a:solidFill>
              <a:srgbClr val="F97316"/>
            </a:solidFill>
            <a:prstDash val="solid"/>
          </a:ln>
        </p:spPr>
        <p:txBody>
          <a:bodyPr/>
          <a:p/>
        </p:txBody>
      </p:sp>
      <p:sp>
        <p:nvSpPr>
          <p:cNvPr id="7" name="Text 4"/>
          <p:cNvSpPr txBox="1"/>
          <p:nvPr/>
        </p:nvSpPr>
        <p:spPr>
          <a:xfrm>
            <a:off x="1097280" y="4572000"/>
            <a:ext cx="6309360" cy="1645920"/>
          </a:xfrm>
          <a:prstGeom prst="rect">
            <a:avLst/>
          </a:prstGeom>
          <a:noFill/>
          <a:ln/>
        </p:spPr>
        <p:txBody>
          <a:bodyPr wrap="square" lIns="0" tIns="0" rIns="0" bIns="0" rtlCol="0" anchor="t"/>
          <a:lstStyle/>
          <a:p>
            <a:pPr indent="0" marL="0">
              <a:buNone/>
            </a:pPr>
            <a:r>
              <a:rPr lang="en-US" sz="2000" b="1" dirty="0">
                <a:solidFill>
                  <a:srgbClr val="1D4ED8"/>
                </a:solidFill>
                <a:latin typeface="Arial" pitchFamily="34" charset="0"/>
                <a:ea typeface="Arial" pitchFamily="34" charset="-122"/>
                <a:cs typeface="Arial" pitchFamily="34" charset="-120"/>
              </a:rPr>
              <a:t>DataForge: Making Reliable Data Insights Simple &amp; Accessible to Everyone</a:t>
            </a:r>
            <a:endParaRPr lang="en-US" sz="2000" dirty="0"/>
          </a:p>
        </p:txBody>
      </p:sp>
      <p:sp>
        <p:nvSpPr>
          <p:cNvPr id="8" name="Shape 5"/>
          <p:cNvSpPr/>
          <p:nvPr/>
        </p:nvSpPr>
        <p:spPr>
          <a:xfrm>
            <a:off x="7772400" y="4572000"/>
            <a:ext cx="0" cy="1600200"/>
          </a:xfrm>
          <a:prstGeom prst="line">
            <a:avLst/>
          </a:prstGeom>
          <a:noFill/>
          <a:ln w="12700">
            <a:solidFill>
              <a:srgbClr val="D5DEEC"/>
            </a:solidFill>
            <a:prstDash val="solid"/>
          </a:ln>
        </p:spPr>
        <p:txBody>
          <a:bodyPr/>
          <a:p/>
        </p:txBody>
      </p:sp>
      <p:sp>
        <p:nvSpPr>
          <p:cNvPr id="9" name="Text 6"/>
          <p:cNvSpPr txBox="1"/>
          <p:nvPr/>
        </p:nvSpPr>
        <p:spPr>
          <a:xfrm>
            <a:off x="8046720" y="4572000"/>
            <a:ext cx="3657600" cy="1005840"/>
          </a:xfrm>
          <a:prstGeom prst="rect">
            <a:avLst/>
          </a:prstGeom>
          <a:noFill/>
          <a:ln/>
        </p:spPr>
        <p:txBody>
          <a:bodyPr wrap="square" lIns="0" tIns="0" rIns="0" bIns="0" rtlCol="0" anchor="t"/>
          <a:lstStyle/>
          <a:p>
            <a:pPr indent="0" marL="0">
              <a:buNone/>
            </a:pPr>
            <a:r>
              <a:rPr lang="en-US" sz="1400" b="1" dirty="0">
                <a:solidFill>
                  <a:srgbClr val="1E293B"/>
                </a:solidFill>
                <a:latin typeface="Arial" pitchFamily="34" charset="0"/>
                <a:ea typeface="Arial" pitchFamily="34" charset="-122"/>
                <a:cs typeface="Arial" pitchFamily="34" charset="-120"/>
              </a:rPr>
              <a:t>Mohammad Numan Narwaroo</a:t>
            </a:r>
            <a:endParaRPr lang="en-US" sz="1400" dirty="0"/>
          </a:p>
          <a:p>
            <a:pPr indent="0" marL="0">
              <a:buNone/>
            </a:pPr>
            <a:r>
              <a:rPr lang="en-US" sz="1400" b="1" dirty="0">
                <a:solidFill>
                  <a:srgbClr val="1E293B"/>
                </a:solidFill>
                <a:latin typeface="Arial" pitchFamily="34" charset="0"/>
                <a:ea typeface="Arial" pitchFamily="34" charset="-122"/>
                <a:cs typeface="Arial" pitchFamily="34" charset="-120"/>
              </a:rPr>
              <a:t>Mohammad Usman Dar</a:t>
            </a:r>
            <a:endParaRPr lang="en-US" sz="1400" dirty="0"/>
          </a:p>
          <a:p>
            <a:pPr indent="0" marL="0">
              <a:buNone/>
            </a:pPr>
            <a:r>
              <a:rPr lang="en-US" sz="1400" b="1" dirty="0">
                <a:solidFill>
                  <a:srgbClr val="1E293B"/>
                </a:solidFill>
                <a:latin typeface="Arial" pitchFamily="34" charset="0"/>
                <a:ea typeface="Arial" pitchFamily="34" charset="-122"/>
                <a:cs typeface="Arial" pitchFamily="34" charset="-120"/>
              </a:rPr>
              <a:t>Faheem Ahmad Bhat</a:t>
            </a:r>
            <a:endParaRPr lang="en-US" sz="1400" dirty="0"/>
          </a:p>
          <a:p>
            <a:pPr indent="0" marL="0">
              <a:buNone/>
            </a:pPr>
            <a:r>
              <a:rPr lang="en-US" sz="1400" b="1" dirty="0">
                <a:solidFill>
                  <a:srgbClr val="1E293B"/>
                </a:solidFill>
                <a:latin typeface="Arial" pitchFamily="34" charset="0"/>
                <a:ea typeface="Arial" pitchFamily="34" charset="-122"/>
                <a:cs typeface="Arial" pitchFamily="34" charset="-120"/>
              </a:rPr>
              <a:t>Mubashir Shabir</a:t>
            </a:r>
            <a:endParaRPr lang="en-US" sz="1400" dirty="0"/>
          </a:p>
        </p:txBody>
      </p:sp>
      <p:sp>
        <p:nvSpPr>
          <p:cNvPr id="10" name="Text 7"/>
          <p:cNvSpPr txBox="1"/>
          <p:nvPr/>
        </p:nvSpPr>
        <p:spPr>
          <a:xfrm>
            <a:off x="8046720" y="5623560"/>
            <a:ext cx="3657600" cy="640080"/>
          </a:xfrm>
          <a:prstGeom prst="rect">
            <a:avLst/>
          </a:prstGeom>
          <a:noFill/>
          <a:ln/>
        </p:spPr>
        <p:txBody>
          <a:bodyPr wrap="square" lIns="0" tIns="0" rIns="0" bIns="0" rtlCol="0" anchor="t"/>
          <a:lstStyle/>
          <a:p>
            <a:pPr indent="0" marL="0">
              <a:buNone/>
            </a:pPr>
            <a:r>
              <a:rPr lang="en-US" sz="1300" dirty="0">
                <a:solidFill>
                  <a:srgbClr val="64748B"/>
                </a:solidFill>
                <a:latin typeface="Arial" pitchFamily="34" charset="0"/>
                <a:ea typeface="Arial" pitchFamily="34" charset="-122"/>
                <a:cs typeface="Arial" pitchFamily="34" charset="-120"/>
              </a:rPr>
              <a:t>Supervisor: Dr. Parvaz Ahmad Malla</a:t>
            </a:r>
            <a:endParaRPr lang="en-US" sz="1300" dirty="0"/>
          </a:p>
          <a:p>
            <a:pPr indent="0" marL="0">
              <a:buNone/>
            </a:pPr>
            <a:r>
              <a:rPr lang="en-US" sz="1300" dirty="0">
                <a:solidFill>
                  <a:srgbClr val="64748B"/>
                </a:solidFill>
                <a:latin typeface="Arial" pitchFamily="34" charset="0"/>
                <a:ea typeface="Arial" pitchFamily="34" charset="-122"/>
                <a:cs typeface="Arial" pitchFamily="34" charset="-120"/>
              </a:rPr>
              <a:t>GCET Safapora, Ganderbal · Under the Guidance of Dr. Parvaz Ahmad Malla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OVERVIEW</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Project Overview: Easy Insights for All</a:t>
            </a:r>
            <a:endParaRPr lang="en-US" sz="3200" dirty="0"/>
          </a:p>
        </p:txBody>
      </p:sp>
      <p:sp>
        <p:nvSpPr>
          <p:cNvPr id="5" name="Shape 2"/>
          <p:cNvSpPr/>
          <p:nvPr/>
        </p:nvSpPr>
        <p:spPr>
          <a:xfrm>
            <a:off x="1097280" y="1691640"/>
            <a:ext cx="5760720" cy="0"/>
          </a:xfrm>
          <a:prstGeom prst="line">
            <a:avLst/>
          </a:prstGeom>
          <a:noFill/>
          <a:ln w="9525">
            <a:solidFill>
              <a:srgbClr val="D5DEEC"/>
            </a:solidFill>
            <a:prstDash val="solid"/>
          </a:ln>
        </p:spPr>
        <p:txBody>
          <a:bodyPr/>
          <a:p/>
        </p:txBody>
      </p:sp>
      <p:sp>
        <p:nvSpPr>
          <p:cNvPr id="6" name="Text 3"/>
          <p:cNvSpPr txBox="1"/>
          <p:nvPr/>
        </p:nvSpPr>
        <p:spPr>
          <a:xfrm>
            <a:off x="1097280" y="18196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7" name="Text 4"/>
          <p:cNvSpPr txBox="1"/>
          <p:nvPr/>
        </p:nvSpPr>
        <p:spPr>
          <a:xfrm>
            <a:off x="1828800" y="17830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Purpose</a:t>
            </a:r>
            <a:endParaRPr lang="en-US" sz="2200" dirty="0"/>
          </a:p>
        </p:txBody>
      </p:sp>
      <p:sp>
        <p:nvSpPr>
          <p:cNvPr id="8" name="Text 5"/>
          <p:cNvSpPr txBox="1"/>
          <p:nvPr/>
        </p:nvSpPr>
        <p:spPr>
          <a:xfrm>
            <a:off x="1828800" y="214884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Make deep data analysis as simple as a conversation, with 100% verified math</a:t>
            </a:r>
            <a:endParaRPr lang="en-US" sz="1700" dirty="0"/>
          </a:p>
        </p:txBody>
      </p:sp>
      <p:sp>
        <p:nvSpPr>
          <p:cNvPr id="9" name="Shape 6"/>
          <p:cNvSpPr/>
          <p:nvPr/>
        </p:nvSpPr>
        <p:spPr>
          <a:xfrm>
            <a:off x="1097280" y="2788920"/>
            <a:ext cx="5760720" cy="0"/>
          </a:xfrm>
          <a:prstGeom prst="line">
            <a:avLst/>
          </a:prstGeom>
          <a:noFill/>
          <a:ln w="9525">
            <a:solidFill>
              <a:srgbClr val="D5DEEC"/>
            </a:solidFill>
            <a:prstDash val="solid"/>
          </a:ln>
        </p:spPr>
        <p:txBody>
          <a:bodyPr/>
          <a:p/>
        </p:txBody>
      </p:sp>
      <p:sp>
        <p:nvSpPr>
          <p:cNvPr id="10" name="Text 7"/>
          <p:cNvSpPr txBox="1"/>
          <p:nvPr/>
        </p:nvSpPr>
        <p:spPr>
          <a:xfrm>
            <a:off x="1097280" y="291693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11" name="Text 8"/>
          <p:cNvSpPr txBox="1"/>
          <p:nvPr/>
        </p:nvSpPr>
        <p:spPr>
          <a:xfrm>
            <a:off x="1828800" y="288036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What it does</a:t>
            </a:r>
            <a:endParaRPr lang="en-US" sz="2200" dirty="0"/>
          </a:p>
        </p:txBody>
      </p:sp>
      <p:sp>
        <p:nvSpPr>
          <p:cNvPr id="12" name="Text 9"/>
          <p:cNvSpPr txBox="1"/>
          <p:nvPr/>
        </p:nvSpPr>
        <p:spPr>
          <a:xfrm>
            <a:off x="1828800" y="324612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Upload any file · auto-cleans mistakes · reveals patterns · creates charts · predicts trends</a:t>
            </a:r>
            <a:endParaRPr lang="en-US" sz="1700" dirty="0"/>
          </a:p>
        </p:txBody>
      </p:sp>
      <p:sp>
        <p:nvSpPr>
          <p:cNvPr id="13" name="Shape 10"/>
          <p:cNvSpPr/>
          <p:nvPr/>
        </p:nvSpPr>
        <p:spPr>
          <a:xfrm>
            <a:off x="1097280" y="3886200"/>
            <a:ext cx="5760720" cy="0"/>
          </a:xfrm>
          <a:prstGeom prst="line">
            <a:avLst/>
          </a:prstGeom>
          <a:noFill/>
          <a:ln w="9525">
            <a:solidFill>
              <a:srgbClr val="D5DEEC"/>
            </a:solidFill>
            <a:prstDash val="solid"/>
          </a:ln>
        </p:spPr>
        <p:txBody>
          <a:bodyPr/>
          <a:p/>
        </p:txBody>
      </p:sp>
      <p:sp>
        <p:nvSpPr>
          <p:cNvPr id="14" name="Text 11"/>
          <p:cNvSpPr txBox="1"/>
          <p:nvPr/>
        </p:nvSpPr>
        <p:spPr>
          <a:xfrm>
            <a:off x="1097280" y="401421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03</a:t>
            </a:r>
            <a:endParaRPr lang="en-US" sz="1800" dirty="0"/>
          </a:p>
        </p:txBody>
      </p:sp>
      <p:sp>
        <p:nvSpPr>
          <p:cNvPr id="15" name="Text 12"/>
          <p:cNvSpPr txBox="1"/>
          <p:nvPr/>
        </p:nvSpPr>
        <p:spPr>
          <a:xfrm>
            <a:off x="1828800" y="397764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Who it is for</a:t>
            </a:r>
            <a:endParaRPr lang="en-US" sz="2200" dirty="0"/>
          </a:p>
        </p:txBody>
      </p:sp>
      <p:sp>
        <p:nvSpPr>
          <p:cNvPr id="16" name="Text 13"/>
          <p:cNvSpPr txBox="1"/>
          <p:nvPr/>
        </p:nvSpPr>
        <p:spPr>
          <a:xfrm>
            <a:off x="1828800" y="434340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Business owners, team leaders, students, and analysts—no coding needed</a:t>
            </a:r>
            <a:endParaRPr lang="en-US" sz="1700" dirty="0"/>
          </a:p>
        </p:txBody>
      </p:sp>
      <p:sp>
        <p:nvSpPr>
          <p:cNvPr id="17" name="Shape 14"/>
          <p:cNvSpPr/>
          <p:nvPr/>
        </p:nvSpPr>
        <p:spPr>
          <a:xfrm>
            <a:off x="1097280" y="4983480"/>
            <a:ext cx="5760720" cy="0"/>
          </a:xfrm>
          <a:prstGeom prst="line">
            <a:avLst/>
          </a:prstGeom>
          <a:noFill/>
          <a:ln w="9525">
            <a:solidFill>
              <a:srgbClr val="D5DEEC"/>
            </a:solidFill>
            <a:prstDash val="solid"/>
          </a:ln>
        </p:spPr>
        <p:txBody>
          <a:bodyPr/>
          <a:p/>
        </p:txBody>
      </p:sp>
      <p:sp>
        <p:nvSpPr>
          <p:cNvPr id="18" name="Text 15"/>
          <p:cNvSpPr txBox="1"/>
          <p:nvPr/>
        </p:nvSpPr>
        <p:spPr>
          <a:xfrm>
            <a:off x="1097280" y="511149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04</a:t>
            </a:r>
            <a:endParaRPr lang="en-US" sz="1800" dirty="0"/>
          </a:p>
        </p:txBody>
      </p:sp>
      <p:sp>
        <p:nvSpPr>
          <p:cNvPr id="19" name="Text 16"/>
          <p:cNvSpPr txBox="1"/>
          <p:nvPr/>
        </p:nvSpPr>
        <p:spPr>
          <a:xfrm>
            <a:off x="1828800" y="507492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Main value</a:t>
            </a:r>
            <a:endParaRPr lang="en-US" sz="2200" dirty="0"/>
          </a:p>
        </p:txBody>
      </p:sp>
      <p:sp>
        <p:nvSpPr>
          <p:cNvPr id="20" name="Text 17"/>
          <p:cNvSpPr txBox="1"/>
          <p:nvPr/>
        </p:nvSpPr>
        <p:spPr>
          <a:xfrm>
            <a:off x="1828800" y="544068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All-in-one assistant: zero data errors, zero AI fake numbers, 1-click shareable reports</a:t>
            </a:r>
            <a:endParaRPr lang="en-US" sz="1700" dirty="0"/>
          </a:p>
        </p:txBody>
      </p:sp>
      <p:sp>
        <p:nvSpPr>
          <p:cNvPr id="21" name="Shape 18"/>
          <p:cNvSpPr/>
          <p:nvPr/>
        </p:nvSpPr>
        <p:spPr>
          <a:xfrm>
            <a:off x="1097280" y="6080760"/>
            <a:ext cx="5760720" cy="0"/>
          </a:xfrm>
          <a:prstGeom prst="line">
            <a:avLst/>
          </a:prstGeom>
          <a:noFill/>
          <a:ln w="9525">
            <a:solidFill>
              <a:srgbClr val="D5DEEC"/>
            </a:solidFill>
            <a:prstDash val="solid"/>
          </a:ln>
        </p:spPr>
        <p:txBody>
          <a:bodyPr/>
          <a:p/>
        </p:txBody>
      </p:sp>
      <p:sp>
        <p:nvSpPr>
          <p:cNvPr id="22" name="Shape 19"/>
          <p:cNvSpPr/>
          <p:nvPr/>
        </p:nvSpPr>
        <p:spPr>
          <a:xfrm>
            <a:off x="7132320" y="1691640"/>
            <a:ext cx="4507992" cy="4389120"/>
          </a:xfrm>
          <a:prstGeom prst="roundRect">
            <a:avLst>
              <a:gd name="adj" fmla="val 3125"/>
            </a:avLst>
          </a:prstGeom>
          <a:solidFill>
            <a:srgbClr val="F0F5FF"/>
          </a:solidFill>
          <a:ln w="15875">
            <a:solidFill>
              <a:srgbClr val="1D4ED8"/>
            </a:solidFill>
            <a:prstDash val="dash"/>
          </a:ln>
        </p:spPr>
        <p:txBody>
          <a:bodyPr/>
          <a:p/>
        </p:txBody>
      </p:sp>
      <p:sp>
        <p:nvSpPr>
          <p:cNvPr id="23" name="Text 20"/>
          <p:cNvSpPr txBox="1"/>
          <p:nvPr/>
        </p:nvSpPr>
        <p:spPr>
          <a:xfrm>
            <a:off x="7132320" y="3200400"/>
            <a:ext cx="4507992" cy="640080"/>
          </a:xfrm>
          <a:prstGeom prst="rect">
            <a:avLst/>
          </a:prstGeom>
          <a:noFill/>
          <a:ln/>
        </p:spPr>
        <p:txBody>
          <a:bodyPr wrap="square" lIns="0" tIns="0" rIns="0" bIns="0" rtlCol="0" anchor="t"/>
          <a:lstStyle/>
          <a:p>
            <a:pPr algn="ctr" indent="0" marL="0">
              <a:buNone/>
            </a:pPr>
            <a:r>
              <a:rPr lang="en-US" sz="3400" dirty="0">
                <a:solidFill>
                  <a:srgbClr val="93B4F5"/>
                </a:solidFill>
                <a:latin typeface="Arial" pitchFamily="34" charset="0"/>
                <a:ea typeface="Arial" pitchFamily="34" charset="-122"/>
                <a:cs typeface="Arial" pitchFamily="34" charset="-120"/>
              </a:rPr>
              <a:t>▣</a:t>
            </a:r>
            <a:endParaRPr lang="en-US" sz="3400" dirty="0"/>
          </a:p>
        </p:txBody>
      </p:sp>
      <p:sp>
        <p:nvSpPr>
          <p:cNvPr id="24" name="Text 21"/>
          <p:cNvSpPr txBox="1"/>
          <p:nvPr/>
        </p:nvSpPr>
        <p:spPr>
          <a:xfrm>
            <a:off x="7132320" y="3886200"/>
            <a:ext cx="4507992" cy="27432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SCREENSHOT</a:t>
            </a:r>
            <a:endParaRPr lang="en-US" sz="1200" dirty="0"/>
          </a:p>
        </p:txBody>
      </p:sp>
      <p:sp>
        <p:nvSpPr>
          <p:cNvPr id="25" name="Text 22"/>
          <p:cNvSpPr txBox="1"/>
          <p:nvPr/>
        </p:nvSpPr>
        <p:spPr>
          <a:xfrm>
            <a:off x="7406640" y="4251960"/>
            <a:ext cx="3959352" cy="82296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Friendly dashboard: raw data · automatic cleanup recipe · live interactive charts</a:t>
            </a:r>
            <a:endParaRPr lang="en-US" sz="14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OVERVIEW</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Our Objectives: Removing the Complexity</a:t>
            </a:r>
            <a:endParaRPr lang="en-US" sz="3200" dirty="0"/>
          </a:p>
        </p:txBody>
      </p:sp>
      <p:sp>
        <p:nvSpPr>
          <p:cNvPr id="5" name="Text 2"/>
          <p:cNvSpPr txBox="1"/>
          <p:nvPr/>
        </p:nvSpPr>
        <p:spPr>
          <a:xfrm>
            <a:off x="1097280" y="1783080"/>
            <a:ext cx="5486400" cy="27432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EXPECTED OUTCOME</a:t>
            </a:r>
            <a:endParaRPr lang="en-US" sz="1200" dirty="0"/>
          </a:p>
        </p:txBody>
      </p:sp>
      <p:sp>
        <p:nvSpPr>
          <p:cNvPr id="6" name="Text 3"/>
          <p:cNvSpPr txBox="1"/>
          <p:nvPr/>
        </p:nvSpPr>
        <p:spPr>
          <a:xfrm>
            <a:off x="1097280" y="2103120"/>
            <a:ext cx="5943600" cy="914400"/>
          </a:xfrm>
          <a:prstGeom prst="rect">
            <a:avLst/>
          </a:prstGeom>
          <a:noFill/>
          <a:ln/>
        </p:spPr>
        <p:txBody>
          <a:bodyPr wrap="square" lIns="0" tIns="0" rIns="0" bIns="0" rtlCol="0" anchor="t"/>
          <a:lstStyle/>
          <a:p>
            <a:pPr indent="0" marL="0">
              <a:buNone/>
            </a:pPr>
            <a:r>
              <a:rPr lang="en-US" sz="2800" b="1" dirty="0">
                <a:solidFill>
                  <a:srgbClr val="1E3A8A"/>
                </a:solidFill>
                <a:latin typeface="Arial" pitchFamily="34" charset="0"/>
                <a:ea typeface="Arial" pitchFamily="34" charset="-122"/>
                <a:cs typeface="Arial" pitchFamily="34" charset="-120"/>
              </a:rPr>
              <a:t>Days of spreadsheet frustration</a:t>
            </a:r>
            <a:endParaRPr lang="en-US" sz="2800" dirty="0"/>
          </a:p>
          <a:p>
            <a:pPr indent="0" marL="0">
              <a:buNone/>
            </a:pPr>
            <a:r>
              <a:rPr lang="en-US" sz="2800" b="1" dirty="0">
                <a:solidFill>
                  <a:srgbClr val="1E3A8A"/>
                </a:solidFill>
                <a:latin typeface="Arial" pitchFamily="34" charset="0"/>
                <a:ea typeface="Arial" pitchFamily="34" charset="-122"/>
                <a:cs typeface="Arial" pitchFamily="34" charset="-120"/>
              </a:rPr>
              <a:t>→ Done in under 2 minutes</a:t>
            </a:r>
            <a:endParaRPr lang="en-US" sz="2800" dirty="0"/>
          </a:p>
        </p:txBody>
      </p:sp>
      <p:sp>
        <p:nvSpPr>
          <p:cNvPr id="7" name="Shape 4"/>
          <p:cNvSpPr/>
          <p:nvPr/>
        </p:nvSpPr>
        <p:spPr>
          <a:xfrm>
            <a:off x="1097280" y="5852160"/>
            <a:ext cx="3514344" cy="0"/>
          </a:xfrm>
          <a:prstGeom prst="line">
            <a:avLst/>
          </a:prstGeom>
          <a:noFill/>
          <a:ln w="50800">
            <a:solidFill>
              <a:srgbClr val="1D4ED8"/>
            </a:solidFill>
            <a:prstDash val="solid"/>
          </a:ln>
        </p:spPr>
        <p:txBody>
          <a:bodyPr/>
          <a:p/>
        </p:txBody>
      </p:sp>
      <p:sp>
        <p:nvSpPr>
          <p:cNvPr id="8" name="Shape 5"/>
          <p:cNvSpPr/>
          <p:nvPr/>
        </p:nvSpPr>
        <p:spPr>
          <a:xfrm>
            <a:off x="4611624" y="4754880"/>
            <a:ext cx="0" cy="1097280"/>
          </a:xfrm>
          <a:prstGeom prst="line">
            <a:avLst/>
          </a:prstGeom>
          <a:noFill/>
          <a:ln w="50800">
            <a:solidFill>
              <a:srgbClr val="1D4ED8"/>
            </a:solidFill>
            <a:prstDash val="solid"/>
          </a:ln>
        </p:spPr>
        <p:txBody>
          <a:bodyPr/>
          <a:p/>
        </p:txBody>
      </p:sp>
      <p:sp>
        <p:nvSpPr>
          <p:cNvPr id="9" name="Text 6"/>
          <p:cNvSpPr txBox="1"/>
          <p:nvPr/>
        </p:nvSpPr>
        <p:spPr>
          <a:xfrm>
            <a:off x="1234440" y="4206240"/>
            <a:ext cx="3240024" cy="274320"/>
          </a:xfrm>
          <a:prstGeom prst="rect">
            <a:avLst/>
          </a:prstGeom>
          <a:noFill/>
          <a:ln/>
        </p:spPr>
        <p:txBody>
          <a:bodyPr wrap="square" lIns="0" tIns="0" rIns="0" bIns="0" rtlCol="0" anchor="t"/>
          <a:lstStyle/>
          <a:p>
            <a:pPr indent="0" marL="0">
              <a:buNone/>
            </a:pPr>
            <a:r>
              <a:rPr lang="en-US" sz="1200" b="1" spc="300" kern="0" dirty="0">
                <a:solidFill>
                  <a:srgbClr val="F97316"/>
                </a:solidFill>
                <a:latin typeface="Arial" pitchFamily="34" charset="0"/>
                <a:ea typeface="Arial" pitchFamily="34" charset="-122"/>
                <a:cs typeface="Arial" pitchFamily="34" charset="-120"/>
              </a:rPr>
              <a:t>OBJECTIVE 1</a:t>
            </a:r>
            <a:endParaRPr lang="en-US" sz="1200" dirty="0"/>
          </a:p>
        </p:txBody>
      </p:sp>
      <p:sp>
        <p:nvSpPr>
          <p:cNvPr id="10" name="Text 7"/>
          <p:cNvSpPr txBox="1"/>
          <p:nvPr/>
        </p:nvSpPr>
        <p:spPr>
          <a:xfrm>
            <a:off x="1234440" y="4526280"/>
            <a:ext cx="3240024" cy="45720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Auto-Clean Messy Data</a:t>
            </a:r>
            <a:endParaRPr lang="en-US" sz="2200" dirty="0"/>
          </a:p>
        </p:txBody>
      </p:sp>
      <p:sp>
        <p:nvSpPr>
          <p:cNvPr id="11" name="Text 8"/>
          <p:cNvSpPr txBox="1"/>
          <p:nvPr/>
        </p:nvSpPr>
        <p:spPr>
          <a:xfrm>
            <a:off x="1234440" y="5029200"/>
            <a:ext cx="3240024" cy="731520"/>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Automatically fix typos, blank cells, and errors with a 1-click Undo safety net</a:t>
            </a:r>
            <a:endParaRPr lang="en-US" sz="1600" dirty="0"/>
          </a:p>
        </p:txBody>
      </p:sp>
      <p:sp>
        <p:nvSpPr>
          <p:cNvPr id="12" name="Shape 9"/>
          <p:cNvSpPr/>
          <p:nvPr/>
        </p:nvSpPr>
        <p:spPr>
          <a:xfrm>
            <a:off x="4611624" y="4754880"/>
            <a:ext cx="3514344" cy="0"/>
          </a:xfrm>
          <a:prstGeom prst="line">
            <a:avLst/>
          </a:prstGeom>
          <a:noFill/>
          <a:ln w="50800">
            <a:solidFill>
              <a:srgbClr val="1D4ED8"/>
            </a:solidFill>
            <a:prstDash val="solid"/>
          </a:ln>
        </p:spPr>
        <p:txBody>
          <a:bodyPr/>
          <a:p/>
        </p:txBody>
      </p:sp>
      <p:sp>
        <p:nvSpPr>
          <p:cNvPr id="13" name="Shape 10"/>
          <p:cNvSpPr/>
          <p:nvPr/>
        </p:nvSpPr>
        <p:spPr>
          <a:xfrm>
            <a:off x="8125968" y="3657600"/>
            <a:ext cx="0" cy="1097280"/>
          </a:xfrm>
          <a:prstGeom prst="line">
            <a:avLst/>
          </a:prstGeom>
          <a:noFill/>
          <a:ln w="50800">
            <a:solidFill>
              <a:srgbClr val="1D4ED8"/>
            </a:solidFill>
            <a:prstDash val="solid"/>
          </a:ln>
        </p:spPr>
        <p:txBody>
          <a:bodyPr/>
          <a:p/>
        </p:txBody>
      </p:sp>
      <p:sp>
        <p:nvSpPr>
          <p:cNvPr id="14" name="Text 11"/>
          <p:cNvSpPr txBox="1"/>
          <p:nvPr/>
        </p:nvSpPr>
        <p:spPr>
          <a:xfrm>
            <a:off x="4748784" y="3108960"/>
            <a:ext cx="3240024" cy="274320"/>
          </a:xfrm>
          <a:prstGeom prst="rect">
            <a:avLst/>
          </a:prstGeom>
          <a:noFill/>
          <a:ln/>
        </p:spPr>
        <p:txBody>
          <a:bodyPr wrap="square" lIns="0" tIns="0" rIns="0" bIns="0" rtlCol="0" anchor="t"/>
          <a:lstStyle/>
          <a:p>
            <a:pPr indent="0" marL="0">
              <a:buNone/>
            </a:pPr>
            <a:r>
              <a:rPr lang="en-US" sz="1200" b="1" spc="300" kern="0" dirty="0">
                <a:solidFill>
                  <a:srgbClr val="F97316"/>
                </a:solidFill>
                <a:latin typeface="Arial" pitchFamily="34" charset="0"/>
                <a:ea typeface="Arial" pitchFamily="34" charset="-122"/>
                <a:cs typeface="Arial" pitchFamily="34" charset="-120"/>
              </a:rPr>
              <a:t>OBJECTIVE 2</a:t>
            </a:r>
            <a:endParaRPr lang="en-US" sz="1200" dirty="0"/>
          </a:p>
        </p:txBody>
      </p:sp>
      <p:sp>
        <p:nvSpPr>
          <p:cNvPr id="15" name="Text 12"/>
          <p:cNvSpPr txBox="1"/>
          <p:nvPr/>
        </p:nvSpPr>
        <p:spPr>
          <a:xfrm>
            <a:off x="4748784" y="3429000"/>
            <a:ext cx="3240024" cy="45720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Discover Real Patterns</a:t>
            </a:r>
            <a:endParaRPr lang="en-US" sz="2200" dirty="0"/>
          </a:p>
        </p:txBody>
      </p:sp>
      <p:sp>
        <p:nvSpPr>
          <p:cNvPr id="16" name="Text 13"/>
          <p:cNvSpPr txBox="1"/>
          <p:nvPr/>
        </p:nvSpPr>
        <p:spPr>
          <a:xfrm>
            <a:off x="4748784" y="3931920"/>
            <a:ext cx="3240024" cy="731520"/>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Automatically uncover genuine business trends while blocking false-alarm coincidences</a:t>
            </a:r>
            <a:endParaRPr lang="en-US" sz="1600" dirty="0"/>
          </a:p>
        </p:txBody>
      </p:sp>
      <p:sp>
        <p:nvSpPr>
          <p:cNvPr id="17" name="Shape 14"/>
          <p:cNvSpPr/>
          <p:nvPr/>
        </p:nvSpPr>
        <p:spPr>
          <a:xfrm>
            <a:off x="8125968" y="3657600"/>
            <a:ext cx="3514344" cy="0"/>
          </a:xfrm>
          <a:prstGeom prst="line">
            <a:avLst/>
          </a:prstGeom>
          <a:noFill/>
          <a:ln w="50800">
            <a:solidFill>
              <a:srgbClr val="1D4ED8"/>
            </a:solidFill>
            <a:prstDash val="solid"/>
          </a:ln>
        </p:spPr>
        <p:txBody>
          <a:bodyPr/>
          <a:p/>
        </p:txBody>
      </p:sp>
      <p:sp>
        <p:nvSpPr>
          <p:cNvPr id="18" name="Text 15"/>
          <p:cNvSpPr txBox="1"/>
          <p:nvPr/>
        </p:nvSpPr>
        <p:spPr>
          <a:xfrm>
            <a:off x="8263128" y="2011680"/>
            <a:ext cx="3240024" cy="274320"/>
          </a:xfrm>
          <a:prstGeom prst="rect">
            <a:avLst/>
          </a:prstGeom>
          <a:noFill/>
          <a:ln/>
        </p:spPr>
        <p:txBody>
          <a:bodyPr wrap="square" lIns="0" tIns="0" rIns="0" bIns="0" rtlCol="0" anchor="t"/>
          <a:lstStyle/>
          <a:p>
            <a:pPr indent="0" marL="0">
              <a:buNone/>
            </a:pPr>
            <a:r>
              <a:rPr lang="en-US" sz="1200" b="1" spc="300" kern="0" dirty="0">
                <a:solidFill>
                  <a:srgbClr val="F97316"/>
                </a:solidFill>
                <a:latin typeface="Arial" pitchFamily="34" charset="0"/>
                <a:ea typeface="Arial" pitchFamily="34" charset="-122"/>
                <a:cs typeface="Arial" pitchFamily="34" charset="-120"/>
              </a:rPr>
              <a:t>OBJECTIVE 3</a:t>
            </a:r>
            <a:endParaRPr lang="en-US" sz="1200" dirty="0"/>
          </a:p>
        </p:txBody>
      </p:sp>
      <p:sp>
        <p:nvSpPr>
          <p:cNvPr id="19" name="Text 16"/>
          <p:cNvSpPr txBox="1"/>
          <p:nvPr/>
        </p:nvSpPr>
        <p:spPr>
          <a:xfrm>
            <a:off x="8263128" y="2331720"/>
            <a:ext cx="3240024" cy="45720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Chat in Everyday English</a:t>
            </a:r>
            <a:endParaRPr lang="en-US" sz="2200" dirty="0"/>
          </a:p>
        </p:txBody>
      </p:sp>
      <p:sp>
        <p:nvSpPr>
          <p:cNvPr id="20" name="Text 17"/>
          <p:cNvSpPr txBox="1"/>
          <p:nvPr/>
        </p:nvSpPr>
        <p:spPr>
          <a:xfrm>
            <a:off x="8263128" y="2834640"/>
            <a:ext cx="3240024" cy="731520"/>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Ask questions naturally and get real charts with guaranteed 100% correct math</a:t>
            </a:r>
            <a:endParaRPr lang="en-US" sz="1600" dirty="0"/>
          </a:p>
        </p:txBody>
      </p:sp>
      <p:sp>
        <p:nvSpPr>
          <p:cNvPr id="21" name="Shape 18"/>
          <p:cNvSpPr/>
          <p:nvPr/>
        </p:nvSpPr>
        <p:spPr>
          <a:xfrm>
            <a:off x="11484864" y="3502152"/>
            <a:ext cx="310896" cy="310896"/>
          </a:xfrm>
          <a:prstGeom prst="ellipse">
            <a:avLst/>
          </a:prstGeom>
          <a:solidFill>
            <a:srgbClr val="F97316"/>
          </a:solidFill>
          <a:ln w="12700">
            <a:solidFill>
              <a:srgbClr val="F97316"/>
            </a:solidFill>
            <a:prstDash val="solid"/>
          </a:ln>
        </p:spPr>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PROBLEM</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The Hidden Crisis in Everyday Data</a:t>
            </a:r>
            <a:endParaRPr lang="en-US" sz="3200" dirty="0"/>
          </a:p>
        </p:txBody>
      </p:sp>
      <p:sp>
        <p:nvSpPr>
          <p:cNvPr id="5" name="Shape 2"/>
          <p:cNvSpPr/>
          <p:nvPr/>
        </p:nvSpPr>
        <p:spPr>
          <a:xfrm>
            <a:off x="1097280" y="1691640"/>
            <a:ext cx="5760720" cy="0"/>
          </a:xfrm>
          <a:prstGeom prst="line">
            <a:avLst/>
          </a:prstGeom>
          <a:noFill/>
          <a:ln w="9525">
            <a:solidFill>
              <a:srgbClr val="D5DEEC"/>
            </a:solidFill>
            <a:prstDash val="solid"/>
          </a:ln>
        </p:spPr>
        <p:txBody>
          <a:bodyPr/>
          <a:p/>
        </p:txBody>
      </p:sp>
      <p:sp>
        <p:nvSpPr>
          <p:cNvPr id="6" name="Text 3"/>
          <p:cNvSpPr txBox="1"/>
          <p:nvPr/>
        </p:nvSpPr>
        <p:spPr>
          <a:xfrm>
            <a:off x="1097280" y="18196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7" name="Text 4"/>
          <p:cNvSpPr txBox="1"/>
          <p:nvPr/>
        </p:nvSpPr>
        <p:spPr>
          <a:xfrm>
            <a:off x="1828800" y="17830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Main message</a:t>
            </a:r>
            <a:endParaRPr lang="en-US" sz="2200" dirty="0"/>
          </a:p>
        </p:txBody>
      </p:sp>
      <p:sp>
        <p:nvSpPr>
          <p:cNvPr id="8" name="Text 5"/>
          <p:cNvSpPr txBox="1"/>
          <p:nvPr/>
        </p:nvSpPr>
        <p:spPr>
          <a:xfrm>
            <a:off x="1828800" y="2148840"/>
            <a:ext cx="5029200" cy="86868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Every good decision relies on accurate facts—in business, healthcare, or education</a:t>
            </a:r>
            <a:endParaRPr lang="en-US" sz="1700" dirty="0"/>
          </a:p>
        </p:txBody>
      </p:sp>
      <p:sp>
        <p:nvSpPr>
          <p:cNvPr id="9" name="Shape 6"/>
          <p:cNvSpPr/>
          <p:nvPr/>
        </p:nvSpPr>
        <p:spPr>
          <a:xfrm>
            <a:off x="1097280" y="3063240"/>
            <a:ext cx="5760720" cy="0"/>
          </a:xfrm>
          <a:prstGeom prst="line">
            <a:avLst/>
          </a:prstGeom>
          <a:noFill/>
          <a:ln w="9525">
            <a:solidFill>
              <a:srgbClr val="D5DEEC"/>
            </a:solidFill>
            <a:prstDash val="solid"/>
          </a:ln>
        </p:spPr>
        <p:txBody>
          <a:bodyPr/>
          <a:p/>
        </p:txBody>
      </p:sp>
      <p:sp>
        <p:nvSpPr>
          <p:cNvPr id="10" name="Text 7"/>
          <p:cNvSpPr txBox="1"/>
          <p:nvPr/>
        </p:nvSpPr>
        <p:spPr>
          <a:xfrm>
            <a:off x="1097280" y="31912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11" name="Text 8"/>
          <p:cNvSpPr txBox="1"/>
          <p:nvPr/>
        </p:nvSpPr>
        <p:spPr>
          <a:xfrm>
            <a:off x="1828800" y="31546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Why it matters</a:t>
            </a:r>
            <a:endParaRPr lang="en-US" sz="2200" dirty="0"/>
          </a:p>
        </p:txBody>
      </p:sp>
      <p:sp>
        <p:nvSpPr>
          <p:cNvPr id="12" name="Text 9"/>
          <p:cNvSpPr txBox="1"/>
          <p:nvPr/>
        </p:nvSpPr>
        <p:spPr>
          <a:xfrm>
            <a:off x="1828800" y="3520440"/>
            <a:ext cx="5029200" cy="86868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Yet valuable insights remain locked away because data tools are too technical</a:t>
            </a:r>
            <a:endParaRPr lang="en-US" sz="1700" dirty="0"/>
          </a:p>
        </p:txBody>
      </p:sp>
      <p:sp>
        <p:nvSpPr>
          <p:cNvPr id="13" name="Shape 10"/>
          <p:cNvSpPr/>
          <p:nvPr/>
        </p:nvSpPr>
        <p:spPr>
          <a:xfrm>
            <a:off x="1097280" y="4434840"/>
            <a:ext cx="5760720" cy="0"/>
          </a:xfrm>
          <a:prstGeom prst="line">
            <a:avLst/>
          </a:prstGeom>
          <a:noFill/>
          <a:ln w="9525">
            <a:solidFill>
              <a:srgbClr val="D5DEEC"/>
            </a:solidFill>
            <a:prstDash val="solid"/>
          </a:ln>
        </p:spPr>
        <p:txBody>
          <a:bodyPr/>
          <a:p/>
        </p:txBody>
      </p:sp>
      <p:sp>
        <p:nvSpPr>
          <p:cNvPr id="14" name="Text 11"/>
          <p:cNvSpPr txBox="1"/>
          <p:nvPr/>
        </p:nvSpPr>
        <p:spPr>
          <a:xfrm>
            <a:off x="1097280" y="45628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03</a:t>
            </a:r>
            <a:endParaRPr lang="en-US" sz="1800" dirty="0"/>
          </a:p>
        </p:txBody>
      </p:sp>
      <p:sp>
        <p:nvSpPr>
          <p:cNvPr id="15" name="Text 12"/>
          <p:cNvSpPr txBox="1"/>
          <p:nvPr/>
        </p:nvSpPr>
        <p:spPr>
          <a:xfrm>
            <a:off x="1828800" y="45262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The reality</a:t>
            </a:r>
            <a:endParaRPr lang="en-US" sz="2200" dirty="0"/>
          </a:p>
        </p:txBody>
      </p:sp>
      <p:sp>
        <p:nvSpPr>
          <p:cNvPr id="16" name="Text 13"/>
          <p:cNvSpPr txBox="1"/>
          <p:nvPr/>
        </p:nvSpPr>
        <p:spPr>
          <a:xfrm>
            <a:off x="1828800" y="4892040"/>
            <a:ext cx="5029200" cy="86868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Teams spend over 80% of their time 'janitoring' messy spreadsheets instead of getting answers</a:t>
            </a:r>
            <a:endParaRPr lang="en-US" sz="1700" dirty="0"/>
          </a:p>
        </p:txBody>
      </p:sp>
      <p:sp>
        <p:nvSpPr>
          <p:cNvPr id="17" name="Shape 14"/>
          <p:cNvSpPr/>
          <p:nvPr/>
        </p:nvSpPr>
        <p:spPr>
          <a:xfrm>
            <a:off x="1097280" y="5806440"/>
            <a:ext cx="5760720" cy="0"/>
          </a:xfrm>
          <a:prstGeom prst="line">
            <a:avLst/>
          </a:prstGeom>
          <a:noFill/>
          <a:ln w="9525">
            <a:solidFill>
              <a:srgbClr val="D5DEEC"/>
            </a:solidFill>
            <a:prstDash val="solid"/>
          </a:ln>
        </p:spPr>
        <p:txBody>
          <a:bodyPr/>
          <a:p/>
        </p:txBody>
      </p:sp>
      <p:pic>
        <p:nvPicPr>
          <p:cNvPr id="18" name="Image 0" descr="/home/claude/deck/img/iceberg.png">    </p:cNvPr>
          <p:cNvPicPr>
            <a:picLocks noChangeAspect="1"/>
          </p:cNvPicPr>
          <p:nvPr/>
        </p:nvPicPr>
        <p:blipFill>
          <a:blip r:embed="rId1"/>
          <a:stretch>
            <a:fillRect/>
          </a:stretch>
        </p:blipFill>
        <p:spPr>
          <a:xfrm>
            <a:off x="7132320" y="1691640"/>
            <a:ext cx="4507992" cy="4389120"/>
          </a:xfrm>
          <a:prstGeom prst="rect">
            <a:avLst/>
          </a:prstGeom>
        </p:spPr>
      </p:pic>
      <p:sp>
        <p:nvSpPr>
          <p:cNvPr id="19" name="Text 15"/>
          <p:cNvSpPr txBox="1"/>
          <p:nvPr/>
        </p:nvSpPr>
        <p:spPr>
          <a:xfrm>
            <a:off x="7269480" y="1828800"/>
            <a:ext cx="2926080" cy="274320"/>
          </a:xfrm>
          <a:prstGeom prst="rect">
            <a:avLst/>
          </a:prstGeom>
          <a:noFill/>
          <a:ln/>
        </p:spPr>
        <p:txBody>
          <a:bodyPr wrap="square" lIns="0" tIns="0" rIns="0" bIns="0" rtlCol="0" anchor="t"/>
          <a:lstStyle/>
          <a:p>
            <a:pPr indent="0" marL="0">
              <a:buNone/>
            </a:pPr>
            <a:r>
              <a:rPr lang="en-US" sz="1200" b="1" spc="200" kern="0" dirty="0">
                <a:solidFill>
                  <a:srgbClr val="1E3A8A"/>
                </a:solidFill>
                <a:latin typeface="Arial" pitchFamily="34" charset="0"/>
                <a:ea typeface="Arial" pitchFamily="34" charset="-122"/>
                <a:cs typeface="Arial" pitchFamily="34" charset="-120"/>
              </a:rPr>
              <a:t>20% ACTUAL DECISIONS</a:t>
            </a:r>
            <a:endParaRPr lang="en-US" sz="1200" dirty="0"/>
          </a:p>
        </p:txBody>
      </p:sp>
      <p:sp>
        <p:nvSpPr>
          <p:cNvPr id="20" name="Text 16"/>
          <p:cNvSpPr txBox="1"/>
          <p:nvPr/>
        </p:nvSpPr>
        <p:spPr>
          <a:xfrm>
            <a:off x="8138160" y="3657600"/>
            <a:ext cx="2468880" cy="822960"/>
          </a:xfrm>
          <a:prstGeom prst="rect">
            <a:avLst/>
          </a:prstGeom>
          <a:noFill/>
          <a:ln/>
        </p:spPr>
        <p:txBody>
          <a:bodyPr wrap="square" lIns="0" tIns="0" rIns="0" bIns="0" rtlCol="0" anchor="t"/>
          <a:lstStyle/>
          <a:p>
            <a:pPr algn="ctr" indent="0" marL="0">
              <a:buNone/>
            </a:pPr>
            <a:r>
              <a:rPr lang="en-US" sz="5400" b="1" dirty="0">
                <a:solidFill>
                  <a:srgbClr val="FFFFFF"/>
                </a:solidFill>
                <a:latin typeface="Arial" pitchFamily="34" charset="0"/>
                <a:ea typeface="Arial" pitchFamily="34" charset="-122"/>
                <a:cs typeface="Arial" pitchFamily="34" charset="-120"/>
              </a:rPr>
              <a:t>80%</a:t>
            </a:r>
            <a:endParaRPr lang="en-US" sz="5400" dirty="0"/>
          </a:p>
        </p:txBody>
      </p:sp>
      <p:sp>
        <p:nvSpPr>
          <p:cNvPr id="21" name="Text 17"/>
          <p:cNvSpPr txBox="1"/>
          <p:nvPr/>
        </p:nvSpPr>
        <p:spPr>
          <a:xfrm>
            <a:off x="8138160" y="4526280"/>
            <a:ext cx="2468880" cy="73152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Wasted on manual data cleanup &amp; wrangling</a:t>
            </a:r>
            <a:endParaRPr lang="en-US" sz="16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PROBLEM</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Why Current Data Tools Fail Regular People</a:t>
            </a:r>
            <a:endParaRPr lang="en-US" sz="3200" dirty="0"/>
          </a:p>
        </p:txBody>
      </p:sp>
      <p:sp>
        <p:nvSpPr>
          <p:cNvPr id="5" name="Shape 2"/>
          <p:cNvSpPr/>
          <p:nvPr/>
        </p:nvSpPr>
        <p:spPr>
          <a:xfrm>
            <a:off x="1097280" y="1691640"/>
            <a:ext cx="5760720" cy="0"/>
          </a:xfrm>
          <a:prstGeom prst="line">
            <a:avLst/>
          </a:prstGeom>
          <a:noFill/>
          <a:ln w="9525">
            <a:solidFill>
              <a:srgbClr val="D5DEEC"/>
            </a:solidFill>
            <a:prstDash val="solid"/>
          </a:ln>
        </p:spPr>
        <p:txBody>
          <a:bodyPr/>
          <a:p/>
        </p:txBody>
      </p:sp>
      <p:sp>
        <p:nvSpPr>
          <p:cNvPr id="6" name="Text 3"/>
          <p:cNvSpPr txBox="1"/>
          <p:nvPr/>
        </p:nvSpPr>
        <p:spPr>
          <a:xfrm>
            <a:off x="1097280" y="18196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7" name="Text 4"/>
          <p:cNvSpPr txBox="1"/>
          <p:nvPr/>
        </p:nvSpPr>
        <p:spPr>
          <a:xfrm>
            <a:off x="1828800" y="17830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Fragile Spreadsheets</a:t>
            </a:r>
            <a:endParaRPr lang="en-US" sz="2200" dirty="0"/>
          </a:p>
        </p:txBody>
      </p:sp>
      <p:sp>
        <p:nvSpPr>
          <p:cNvPr id="8" name="Text 5"/>
          <p:cNvSpPr txBox="1"/>
          <p:nvPr/>
        </p:nvSpPr>
        <p:spPr>
          <a:xfrm>
            <a:off x="1828800" y="214884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Formulas break silently, typos slip in, and 88% of spreadsheets have errors</a:t>
            </a:r>
            <a:endParaRPr lang="en-US" sz="1700" dirty="0"/>
          </a:p>
        </p:txBody>
      </p:sp>
      <p:sp>
        <p:nvSpPr>
          <p:cNvPr id="9" name="Shape 6"/>
          <p:cNvSpPr/>
          <p:nvPr/>
        </p:nvSpPr>
        <p:spPr>
          <a:xfrm>
            <a:off x="1097280" y="2788920"/>
            <a:ext cx="5760720" cy="0"/>
          </a:xfrm>
          <a:prstGeom prst="line">
            <a:avLst/>
          </a:prstGeom>
          <a:noFill/>
          <a:ln w="9525">
            <a:solidFill>
              <a:srgbClr val="D5DEEC"/>
            </a:solidFill>
            <a:prstDash val="solid"/>
          </a:ln>
        </p:spPr>
        <p:txBody>
          <a:bodyPr/>
          <a:p/>
        </p:txBody>
      </p:sp>
      <p:sp>
        <p:nvSpPr>
          <p:cNvPr id="10" name="Text 7"/>
          <p:cNvSpPr txBox="1"/>
          <p:nvPr/>
        </p:nvSpPr>
        <p:spPr>
          <a:xfrm>
            <a:off x="1097280" y="291693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11" name="Text 8"/>
          <p:cNvSpPr txBox="1"/>
          <p:nvPr/>
        </p:nvSpPr>
        <p:spPr>
          <a:xfrm>
            <a:off x="1828800" y="288036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Too Many Disconnected Apps</a:t>
            </a:r>
            <a:endParaRPr lang="en-US" sz="2200" dirty="0"/>
          </a:p>
        </p:txBody>
      </p:sp>
      <p:sp>
        <p:nvSpPr>
          <p:cNvPr id="12" name="Text 9"/>
          <p:cNvSpPr txBox="1"/>
          <p:nvPr/>
        </p:nvSpPr>
        <p:spPr>
          <a:xfrm>
            <a:off x="1828800" y="324612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You need 5 different complex apps just to clean, calculate, chart, and share numbers</a:t>
            </a:r>
            <a:endParaRPr lang="en-US" sz="1700" dirty="0"/>
          </a:p>
        </p:txBody>
      </p:sp>
      <p:sp>
        <p:nvSpPr>
          <p:cNvPr id="13" name="Shape 10"/>
          <p:cNvSpPr/>
          <p:nvPr/>
        </p:nvSpPr>
        <p:spPr>
          <a:xfrm>
            <a:off x="1097280" y="3886200"/>
            <a:ext cx="5760720" cy="0"/>
          </a:xfrm>
          <a:prstGeom prst="line">
            <a:avLst/>
          </a:prstGeom>
          <a:noFill/>
          <a:ln w="9525">
            <a:solidFill>
              <a:srgbClr val="D5DEEC"/>
            </a:solidFill>
            <a:prstDash val="solid"/>
          </a:ln>
        </p:spPr>
        <p:txBody>
          <a:bodyPr/>
          <a:p/>
        </p:txBody>
      </p:sp>
      <p:sp>
        <p:nvSpPr>
          <p:cNvPr id="14" name="Text 11"/>
          <p:cNvSpPr txBox="1"/>
          <p:nvPr/>
        </p:nvSpPr>
        <p:spPr>
          <a:xfrm>
            <a:off x="1097280" y="401421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03</a:t>
            </a:r>
            <a:endParaRPr lang="en-US" sz="1800" dirty="0"/>
          </a:p>
        </p:txBody>
      </p:sp>
      <p:sp>
        <p:nvSpPr>
          <p:cNvPr id="15" name="Text 12"/>
          <p:cNvSpPr txBox="1"/>
          <p:nvPr/>
        </p:nvSpPr>
        <p:spPr>
          <a:xfrm>
            <a:off x="1828800" y="397764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Chatbots Make Up Math</a:t>
            </a:r>
            <a:endParaRPr lang="en-US" sz="2200" dirty="0"/>
          </a:p>
        </p:txBody>
      </p:sp>
      <p:sp>
        <p:nvSpPr>
          <p:cNvPr id="16" name="Text 13"/>
          <p:cNvSpPr txBox="1"/>
          <p:nvPr/>
        </p:nvSpPr>
        <p:spPr>
          <a:xfrm>
            <a:off x="1828800" y="434340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Generic AI chatbots sound convincing but hallucinate completely fake numbers</a:t>
            </a:r>
            <a:endParaRPr lang="en-US" sz="1700" dirty="0"/>
          </a:p>
        </p:txBody>
      </p:sp>
      <p:sp>
        <p:nvSpPr>
          <p:cNvPr id="17" name="Shape 14"/>
          <p:cNvSpPr/>
          <p:nvPr/>
        </p:nvSpPr>
        <p:spPr>
          <a:xfrm>
            <a:off x="1097280" y="4983480"/>
            <a:ext cx="5760720" cy="0"/>
          </a:xfrm>
          <a:prstGeom prst="line">
            <a:avLst/>
          </a:prstGeom>
          <a:noFill/>
          <a:ln w="9525">
            <a:solidFill>
              <a:srgbClr val="D5DEEC"/>
            </a:solidFill>
            <a:prstDash val="solid"/>
          </a:ln>
        </p:spPr>
        <p:txBody>
          <a:bodyPr/>
          <a:p/>
        </p:txBody>
      </p:sp>
      <p:sp>
        <p:nvSpPr>
          <p:cNvPr id="18" name="Shape 15"/>
          <p:cNvSpPr/>
          <p:nvPr/>
        </p:nvSpPr>
        <p:spPr>
          <a:xfrm>
            <a:off x="1097280" y="5166360"/>
            <a:ext cx="5760720" cy="914400"/>
          </a:xfrm>
          <a:prstGeom prst="roundRect">
            <a:avLst>
              <a:gd name="adj" fmla="val 20000"/>
            </a:avLst>
          </a:prstGeom>
          <a:solidFill>
            <a:srgbClr val="FFF3E8"/>
          </a:solidFill>
          <a:ln w="3175">
            <a:solidFill>
              <a:srgbClr val="FFF3E8"/>
            </a:solidFill>
            <a:prstDash val="solid"/>
          </a:ln>
        </p:spPr>
        <p:txBody>
          <a:bodyPr/>
          <a:p/>
        </p:txBody>
      </p:sp>
      <p:sp>
        <p:nvSpPr>
          <p:cNvPr id="19" name="Text 16"/>
          <p:cNvSpPr txBox="1"/>
          <p:nvPr/>
        </p:nvSpPr>
        <p:spPr>
          <a:xfrm>
            <a:off x="1353312" y="5303520"/>
            <a:ext cx="5248656" cy="640080"/>
          </a:xfrm>
          <a:prstGeom prst="rect">
            <a:avLst/>
          </a:prstGeom>
          <a:noFill/>
          <a:ln/>
        </p:spPr>
        <p:txBody>
          <a:bodyPr wrap="square" lIns="0" tIns="0" rIns="0" bIns="0" rtlCol="0" anchor="ctr"/>
          <a:lstStyle/>
          <a:p>
            <a:pPr indent="0" marL="0">
              <a:buNone/>
            </a:pPr>
            <a:r>
              <a:rPr lang="en-US" sz="1800" b="1" dirty="0">
                <a:solidFill>
                  <a:srgbClr val="1E3A8A"/>
                </a:solidFill>
                <a:latin typeface="Arial" pitchFamily="34" charset="0"/>
                <a:ea typeface="Arial" pitchFamily="34" charset="-122"/>
                <a:cs typeface="Arial" pitchFamily="34" charset="-120"/>
              </a:rPr>
              <a:t>The Result: Costly budget mistakes, delayed decisions, and reliance on pure guesswork</a:t>
            </a:r>
            <a:endParaRPr lang="en-US" sz="1800" dirty="0"/>
          </a:p>
        </p:txBody>
      </p:sp>
      <p:sp>
        <p:nvSpPr>
          <p:cNvPr id="20" name="Shape 17"/>
          <p:cNvSpPr/>
          <p:nvPr/>
        </p:nvSpPr>
        <p:spPr>
          <a:xfrm>
            <a:off x="7132320" y="1691640"/>
            <a:ext cx="4507992" cy="822960"/>
          </a:xfrm>
          <a:prstGeom prst="roundRect">
            <a:avLst>
              <a:gd name="adj" fmla="val 22222"/>
            </a:avLst>
          </a:prstGeom>
          <a:solidFill>
            <a:srgbClr val="F0F5FF"/>
          </a:solidFill>
          <a:ln w="3175">
            <a:solidFill>
              <a:srgbClr val="F0F5FF"/>
            </a:solidFill>
            <a:prstDash val="solid"/>
          </a:ln>
        </p:spPr>
        <p:txBody>
          <a:bodyPr/>
          <a:p/>
        </p:txBody>
      </p:sp>
      <p:sp>
        <p:nvSpPr>
          <p:cNvPr id="21" name="Text 18"/>
          <p:cNvSpPr txBox="1"/>
          <p:nvPr/>
        </p:nvSpPr>
        <p:spPr>
          <a:xfrm>
            <a:off x="7388352" y="1828800"/>
            <a:ext cx="3995928" cy="548640"/>
          </a:xfrm>
          <a:prstGeom prst="rect">
            <a:avLst/>
          </a:prstGeom>
          <a:noFill/>
          <a:ln/>
        </p:spPr>
        <p:txBody>
          <a:bodyPr wrap="square" lIns="0" tIns="0" rIns="0" bIns="0" rtlCol="0" anchor="ctr"/>
          <a:lstStyle/>
          <a:p>
            <a:pPr indent="0" marL="0">
              <a:buNone/>
            </a:pPr>
            <a:r>
              <a:rPr lang="en-US" sz="2000" b="1" dirty="0">
                <a:solidFill>
                  <a:srgbClr val="1E3A8A"/>
                </a:solidFill>
                <a:latin typeface="Arial" pitchFamily="34" charset="0"/>
                <a:ea typeface="Arial" pitchFamily="34" charset="-122"/>
                <a:cs typeface="Arial" pitchFamily="34" charset="-120"/>
              </a:rPr>
              <a:t>Broken spreadsheet formula</a:t>
            </a:r>
            <a:endParaRPr lang="en-US" sz="2000" dirty="0"/>
          </a:p>
        </p:txBody>
      </p:sp>
      <p:sp>
        <p:nvSpPr>
          <p:cNvPr id="22" name="Text 19"/>
          <p:cNvSpPr txBox="1"/>
          <p:nvPr/>
        </p:nvSpPr>
        <p:spPr>
          <a:xfrm>
            <a:off x="7132320" y="2514600"/>
            <a:ext cx="4507992" cy="274320"/>
          </a:xfrm>
          <a:prstGeom prst="rect">
            <a:avLst/>
          </a:prstGeom>
          <a:noFill/>
          <a:ln/>
        </p:spPr>
        <p:txBody>
          <a:bodyPr wrap="square" lIns="0" tIns="0" rIns="0" bIns="0" rtlCol="0" anchor="t"/>
          <a:lstStyle/>
          <a:p>
            <a:pPr algn="ctr" indent="0" marL="0">
              <a:buNone/>
            </a:pPr>
            <a:r>
              <a:rPr lang="en-US" sz="1600" dirty="0">
                <a:solidFill>
                  <a:srgbClr val="F97316"/>
                </a:solidFill>
                <a:latin typeface="Arial" pitchFamily="34" charset="0"/>
                <a:ea typeface="Arial" pitchFamily="34" charset="-122"/>
                <a:cs typeface="Arial" pitchFamily="34" charset="-120"/>
              </a:rPr>
              <a:t>▼</a:t>
            </a:r>
            <a:endParaRPr lang="en-US" sz="1600" dirty="0"/>
          </a:p>
        </p:txBody>
      </p:sp>
      <p:sp>
        <p:nvSpPr>
          <p:cNvPr id="23" name="Shape 20"/>
          <p:cNvSpPr/>
          <p:nvPr/>
        </p:nvSpPr>
        <p:spPr>
          <a:xfrm>
            <a:off x="7132320" y="2788920"/>
            <a:ext cx="4507992" cy="822960"/>
          </a:xfrm>
          <a:prstGeom prst="roundRect">
            <a:avLst>
              <a:gd name="adj" fmla="val 22222"/>
            </a:avLst>
          </a:prstGeom>
          <a:solidFill>
            <a:srgbClr val="F0F5FF"/>
          </a:solidFill>
          <a:ln w="3175">
            <a:solidFill>
              <a:srgbClr val="F0F5FF"/>
            </a:solidFill>
            <a:prstDash val="solid"/>
          </a:ln>
        </p:spPr>
        <p:txBody>
          <a:bodyPr/>
          <a:p/>
        </p:txBody>
      </p:sp>
      <p:sp>
        <p:nvSpPr>
          <p:cNvPr id="24" name="Text 21"/>
          <p:cNvSpPr txBox="1"/>
          <p:nvPr/>
        </p:nvSpPr>
        <p:spPr>
          <a:xfrm>
            <a:off x="7388352" y="2926080"/>
            <a:ext cx="3995928" cy="548640"/>
          </a:xfrm>
          <a:prstGeom prst="rect">
            <a:avLst/>
          </a:prstGeom>
          <a:noFill/>
          <a:ln/>
        </p:spPr>
        <p:txBody>
          <a:bodyPr wrap="square" lIns="0" tIns="0" rIns="0" bIns="0" rtlCol="0" anchor="ctr"/>
          <a:lstStyle/>
          <a:p>
            <a:pPr indent="0" marL="0">
              <a:buNone/>
            </a:pPr>
            <a:r>
              <a:rPr lang="en-US" sz="2000" b="1" dirty="0">
                <a:solidFill>
                  <a:srgbClr val="1E3A8A"/>
                </a:solidFill>
                <a:latin typeface="Arial" pitchFamily="34" charset="0"/>
                <a:ea typeface="Arial" pitchFamily="34" charset="-122"/>
                <a:cs typeface="Arial" pitchFamily="34" charset="-120"/>
              </a:rPr>
              <a:t>Chatbot</a:t>
            </a:r>
            <a:endParaRPr lang="en-US" sz="2000" dirty="0"/>
          </a:p>
        </p:txBody>
      </p:sp>
      <p:sp>
        <p:nvSpPr>
          <p:cNvPr id="25" name="Text 22"/>
          <p:cNvSpPr txBox="1"/>
          <p:nvPr/>
        </p:nvSpPr>
        <p:spPr>
          <a:xfrm>
            <a:off x="7132320" y="3611880"/>
            <a:ext cx="4507992" cy="274320"/>
          </a:xfrm>
          <a:prstGeom prst="rect">
            <a:avLst/>
          </a:prstGeom>
          <a:noFill/>
          <a:ln/>
        </p:spPr>
        <p:txBody>
          <a:bodyPr wrap="square" lIns="0" tIns="0" rIns="0" bIns="0" rtlCol="0" anchor="t"/>
          <a:lstStyle/>
          <a:p>
            <a:pPr algn="ctr" indent="0" marL="0">
              <a:buNone/>
            </a:pPr>
            <a:r>
              <a:rPr lang="en-US" sz="1600" dirty="0">
                <a:solidFill>
                  <a:srgbClr val="F97316"/>
                </a:solidFill>
                <a:latin typeface="Arial" pitchFamily="34" charset="0"/>
                <a:ea typeface="Arial" pitchFamily="34" charset="-122"/>
                <a:cs typeface="Arial" pitchFamily="34" charset="-120"/>
              </a:rPr>
              <a:t>▼</a:t>
            </a:r>
            <a:endParaRPr lang="en-US" sz="1600" dirty="0"/>
          </a:p>
        </p:txBody>
      </p:sp>
      <p:sp>
        <p:nvSpPr>
          <p:cNvPr id="26" name="Shape 23"/>
          <p:cNvSpPr/>
          <p:nvPr/>
        </p:nvSpPr>
        <p:spPr>
          <a:xfrm>
            <a:off x="7132320" y="3886200"/>
            <a:ext cx="4507992" cy="822960"/>
          </a:xfrm>
          <a:prstGeom prst="roundRect">
            <a:avLst>
              <a:gd name="adj" fmla="val 22222"/>
            </a:avLst>
          </a:prstGeom>
          <a:solidFill>
            <a:srgbClr val="1E3A8A"/>
          </a:solidFill>
          <a:ln w="3175">
            <a:solidFill>
              <a:srgbClr val="1E3A8A"/>
            </a:solidFill>
            <a:prstDash val="solid"/>
          </a:ln>
        </p:spPr>
        <p:txBody>
          <a:bodyPr/>
          <a:p/>
        </p:txBody>
      </p:sp>
      <p:sp>
        <p:nvSpPr>
          <p:cNvPr id="27" name="Text 24"/>
          <p:cNvSpPr txBox="1"/>
          <p:nvPr/>
        </p:nvSpPr>
        <p:spPr>
          <a:xfrm>
            <a:off x="7388352" y="4023360"/>
            <a:ext cx="3995928" cy="54864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Confident, completely fake total</a:t>
            </a:r>
            <a:endParaRPr lang="en-US" sz="2000" dirty="0"/>
          </a:p>
        </p:txBody>
      </p:sp>
      <p:sp>
        <p:nvSpPr>
          <p:cNvPr id="28" name="Shape 25"/>
          <p:cNvSpPr/>
          <p:nvPr/>
        </p:nvSpPr>
        <p:spPr>
          <a:xfrm>
            <a:off x="7132320" y="5029200"/>
            <a:ext cx="4507992" cy="1051560"/>
          </a:xfrm>
          <a:prstGeom prst="roundRect">
            <a:avLst>
              <a:gd name="adj" fmla="val 17391"/>
            </a:avLst>
          </a:prstGeom>
          <a:solidFill>
            <a:srgbClr val="F97316"/>
          </a:solidFill>
          <a:ln w="3175">
            <a:solidFill>
              <a:srgbClr val="F97316"/>
            </a:solidFill>
            <a:prstDash val="solid"/>
          </a:ln>
        </p:spPr>
        <p:txBody>
          <a:bodyPr/>
          <a:p/>
        </p:txBody>
      </p:sp>
      <p:sp>
        <p:nvSpPr>
          <p:cNvPr id="29" name="Text 26"/>
          <p:cNvSpPr txBox="1"/>
          <p:nvPr/>
        </p:nvSpPr>
        <p:spPr>
          <a:xfrm>
            <a:off x="7388352" y="5166360"/>
            <a:ext cx="3995928" cy="7772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88% of business spreadsheets contain significant calculation errors (Panko)</a:t>
            </a:r>
            <a:endParaRPr lang="en-US" sz="17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PROBLEM</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Our Core Principle: Compute First, Speak Second</a:t>
            </a:r>
            <a:endParaRPr lang="en-US" sz="3200" dirty="0"/>
          </a:p>
        </p:txBody>
      </p:sp>
      <p:sp>
        <p:nvSpPr>
          <p:cNvPr id="5" name="Shape 2"/>
          <p:cNvSpPr/>
          <p:nvPr/>
        </p:nvSpPr>
        <p:spPr>
          <a:xfrm>
            <a:off x="1097280" y="1691640"/>
            <a:ext cx="5166360" cy="2286000"/>
          </a:xfrm>
          <a:prstGeom prst="roundRect">
            <a:avLst>
              <a:gd name="adj" fmla="val 8000"/>
            </a:avLst>
          </a:prstGeom>
          <a:solidFill>
            <a:srgbClr val="F0F5FF"/>
          </a:solidFill>
          <a:ln w="3175">
            <a:solidFill>
              <a:srgbClr val="F0F5FF"/>
            </a:solidFill>
            <a:prstDash val="solid"/>
          </a:ln>
        </p:spPr>
        <p:txBody>
          <a:bodyPr/>
          <a:p/>
        </p:txBody>
      </p:sp>
      <p:sp>
        <p:nvSpPr>
          <p:cNvPr id="6" name="Text 3"/>
          <p:cNvSpPr txBox="1"/>
          <p:nvPr/>
        </p:nvSpPr>
        <p:spPr>
          <a:xfrm>
            <a:off x="1353312" y="1828800"/>
            <a:ext cx="4654296" cy="50292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Why existing approaches fall short</a:t>
            </a:r>
            <a:endParaRPr lang="en-US" sz="2200" dirty="0"/>
          </a:p>
        </p:txBody>
      </p:sp>
      <p:sp>
        <p:nvSpPr>
          <p:cNvPr id="7" name="Text 4"/>
          <p:cNvSpPr txBox="1"/>
          <p:nvPr/>
        </p:nvSpPr>
        <p:spPr>
          <a:xfrm>
            <a:off x="1353312" y="2377440"/>
            <a:ext cx="4654296" cy="1463040"/>
          </a:xfrm>
          <a:prstGeom prst="rect">
            <a:avLst/>
          </a:prstGeom>
          <a:noFill/>
          <a:ln/>
        </p:spPr>
        <p:txBody>
          <a:bodyPr wrap="square" lIns="0" tIns="0" rIns="0" bIns="0" rtlCol="0" anchor="t"/>
          <a:lstStyle/>
          <a:p>
            <a:pPr indent="0" marL="0">
              <a:buNone/>
            </a:pPr>
            <a:r>
              <a:rPr lang="en-US" sz="1800" dirty="0">
                <a:solidFill>
                  <a:srgbClr val="475569"/>
                </a:solidFill>
                <a:latin typeface="Arial" pitchFamily="34" charset="0"/>
                <a:ea typeface="Arial" pitchFamily="34" charset="-122"/>
                <a:cs typeface="Arial" pitchFamily="34" charset="-120"/>
              </a:rPr>
              <a:t>Learning Python or SQL is too slow and technical</a:t>
            </a:r>
            <a:endParaRPr lang="en-US" sz="1800" dirty="0"/>
          </a:p>
          <a:p>
            <a:pPr indent="0" marL="0">
              <a:buNone/>
            </a:pPr>
            <a:r>
              <a:rPr lang="en-US" sz="1800" dirty="0">
                <a:solidFill>
                  <a:srgbClr val="475569"/>
                </a:solidFill>
                <a:latin typeface="Arial" pitchFamily="34" charset="0"/>
                <a:ea typeface="Arial" pitchFamily="34" charset="-122"/>
                <a:cs typeface="Arial" pitchFamily="34" charset="-120"/>
              </a:rPr>
              <a:t>Spreadsheets lack safety checks and break easily</a:t>
            </a:r>
            <a:endParaRPr lang="en-US" sz="1800" dirty="0"/>
          </a:p>
          <a:p>
            <a:pPr indent="0" marL="0">
              <a:buNone/>
            </a:pPr>
            <a:r>
              <a:rPr lang="en-US" sz="1800" dirty="0">
                <a:solidFill>
                  <a:srgbClr val="475569"/>
                </a:solidFill>
                <a:latin typeface="Arial" pitchFamily="34" charset="0"/>
                <a:ea typeface="Arial" pitchFamily="34" charset="-122"/>
                <a:cs typeface="Arial" pitchFamily="34" charset="-120"/>
              </a:rPr>
              <a:t>Standard AI chatbots cannot do reliable arithmetic</a:t>
            </a:r>
            <a:endParaRPr lang="en-US" sz="1800" dirty="0"/>
          </a:p>
        </p:txBody>
      </p:sp>
      <p:sp>
        <p:nvSpPr>
          <p:cNvPr id="8" name="Shape 5"/>
          <p:cNvSpPr/>
          <p:nvPr/>
        </p:nvSpPr>
        <p:spPr>
          <a:xfrm>
            <a:off x="6446520" y="1691640"/>
            <a:ext cx="5193792" cy="2286000"/>
          </a:xfrm>
          <a:prstGeom prst="roundRect">
            <a:avLst>
              <a:gd name="adj" fmla="val 8000"/>
            </a:avLst>
          </a:prstGeom>
          <a:solidFill>
            <a:srgbClr val="1D4ED8"/>
          </a:solidFill>
          <a:ln w="3175">
            <a:solidFill>
              <a:srgbClr val="1D4ED8"/>
            </a:solidFill>
            <a:prstDash val="solid"/>
          </a:ln>
        </p:spPr>
        <p:txBody>
          <a:bodyPr/>
          <a:p/>
        </p:txBody>
      </p:sp>
      <p:sp>
        <p:nvSpPr>
          <p:cNvPr id="9" name="Text 6"/>
          <p:cNvSpPr txBox="1"/>
          <p:nvPr/>
        </p:nvSpPr>
        <p:spPr>
          <a:xfrm>
            <a:off x="6702552" y="1828800"/>
            <a:ext cx="4681728" cy="50292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DataForge proposes</a:t>
            </a:r>
            <a:endParaRPr lang="en-US" sz="2200" dirty="0"/>
          </a:p>
        </p:txBody>
      </p:sp>
      <p:sp>
        <p:nvSpPr>
          <p:cNvPr id="10" name="Text 7"/>
          <p:cNvSpPr txBox="1"/>
          <p:nvPr/>
        </p:nvSpPr>
        <p:spPr>
          <a:xfrm>
            <a:off x="6702552" y="2377440"/>
            <a:ext cx="4681728" cy="1463040"/>
          </a:xfrm>
          <a:prstGeom prst="rect">
            <a:avLst/>
          </a:prstGeom>
          <a:noFill/>
          <a:ln/>
        </p:spPr>
        <p:txBody>
          <a:bodyPr wrap="square" lIns="0" tIns="0" rIns="0" bIns="0" rtlCol="0" anchor="t"/>
          <a:lstStyle/>
          <a:p>
            <a:pPr indent="0" marL="0">
              <a:buNone/>
            </a:pPr>
            <a:r>
              <a:rPr lang="en-US" sz="1900" dirty="0">
                <a:solidFill>
                  <a:srgbClr val="D6E4FF"/>
                </a:solidFill>
                <a:latin typeface="Arial" pitchFamily="34" charset="0"/>
                <a:ea typeface="Arial" pitchFamily="34" charset="-122"/>
                <a:cs typeface="Arial" pitchFamily="34" charset="-120"/>
              </a:rPr>
              <a:t>Compute First, Speak Second: Database engines calculate exact facts; AI only explains them</a:t>
            </a:r>
            <a:endParaRPr lang="en-US" sz="1900" dirty="0"/>
          </a:p>
        </p:txBody>
      </p:sp>
      <p:sp>
        <p:nvSpPr>
          <p:cNvPr id="11" name="Shape 8"/>
          <p:cNvSpPr/>
          <p:nvPr/>
        </p:nvSpPr>
        <p:spPr>
          <a:xfrm>
            <a:off x="1097280" y="4160520"/>
            <a:ext cx="3380232" cy="1920240"/>
          </a:xfrm>
          <a:prstGeom prst="roundRect">
            <a:avLst>
              <a:gd name="adj" fmla="val 9524"/>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12" name="Text 9"/>
          <p:cNvSpPr txBox="1"/>
          <p:nvPr/>
        </p:nvSpPr>
        <p:spPr>
          <a:xfrm>
            <a:off x="1371600" y="4297680"/>
            <a:ext cx="2831592" cy="1645920"/>
          </a:xfrm>
          <a:prstGeom prst="rect">
            <a:avLst/>
          </a:prstGeom>
          <a:noFill/>
          <a:ln/>
        </p:spPr>
        <p:txBody>
          <a:bodyPr wrap="square" lIns="0" tIns="0" rIns="0" bIns="0" rtlCol="0" anchor="ctr"/>
          <a:lstStyle/>
          <a:p>
            <a:pPr indent="0" marL="0">
              <a:buNone/>
            </a:pPr>
            <a:r>
              <a:rPr lang="en-US" sz="2200" b="1" dirty="0">
                <a:solidFill>
                  <a:srgbClr val="1E3A8A"/>
                </a:solidFill>
                <a:latin typeface="Arial" pitchFamily="34" charset="0"/>
                <a:ea typeface="Arial" pitchFamily="34" charset="-122"/>
                <a:cs typeface="Arial" pitchFamily="34" charset="-120"/>
              </a:rPr>
              <a:t>Zero Fake Numbers
100% verified math every single time</a:t>
            </a:r>
            <a:endParaRPr lang="en-US" sz="2200" dirty="0"/>
          </a:p>
        </p:txBody>
      </p:sp>
      <p:sp>
        <p:nvSpPr>
          <p:cNvPr id="13" name="Shape 10"/>
          <p:cNvSpPr/>
          <p:nvPr/>
        </p:nvSpPr>
        <p:spPr>
          <a:xfrm>
            <a:off x="4678680" y="4160520"/>
            <a:ext cx="3380232" cy="1920240"/>
          </a:xfrm>
          <a:prstGeom prst="roundRect">
            <a:avLst>
              <a:gd name="adj" fmla="val 9524"/>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14" name="Text 11"/>
          <p:cNvSpPr txBox="1"/>
          <p:nvPr/>
        </p:nvSpPr>
        <p:spPr>
          <a:xfrm>
            <a:off x="4953000" y="4297680"/>
            <a:ext cx="2831592" cy="1645920"/>
          </a:xfrm>
          <a:prstGeom prst="rect">
            <a:avLst/>
          </a:prstGeom>
          <a:noFill/>
          <a:ln/>
        </p:spPr>
        <p:txBody>
          <a:bodyPr wrap="square" lIns="0" tIns="0" rIns="0" bIns="0" rtlCol="0" anchor="ctr"/>
          <a:lstStyle/>
          <a:p>
            <a:pPr indent="0" marL="0">
              <a:buNone/>
            </a:pPr>
            <a:r>
              <a:rPr lang="en-US" sz="2200" b="1" dirty="0">
                <a:solidFill>
                  <a:srgbClr val="1E3A8A"/>
                </a:solidFill>
                <a:latin typeface="Arial" pitchFamily="34" charset="0"/>
                <a:ea typeface="Arial" pitchFamily="34" charset="-122"/>
                <a:cs typeface="Arial" pitchFamily="34" charset="-120"/>
              </a:rPr>
              <a:t>Fraction of the Cost
No expensive corporate BI licenses needed</a:t>
            </a:r>
            <a:endParaRPr lang="en-US" sz="2200" dirty="0"/>
          </a:p>
        </p:txBody>
      </p:sp>
      <p:sp>
        <p:nvSpPr>
          <p:cNvPr id="15" name="Shape 12"/>
          <p:cNvSpPr/>
          <p:nvPr/>
        </p:nvSpPr>
        <p:spPr>
          <a:xfrm>
            <a:off x="8260080" y="4160520"/>
            <a:ext cx="3380232" cy="1920240"/>
          </a:xfrm>
          <a:prstGeom prst="roundRect">
            <a:avLst>
              <a:gd name="adj" fmla="val 9524"/>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16" name="Text 13"/>
          <p:cNvSpPr txBox="1"/>
          <p:nvPr/>
        </p:nvSpPr>
        <p:spPr>
          <a:xfrm>
            <a:off x="8534400" y="4297680"/>
            <a:ext cx="2831592" cy="1645920"/>
          </a:xfrm>
          <a:prstGeom prst="rect">
            <a:avLst/>
          </a:prstGeom>
          <a:noFill/>
          <a:ln/>
        </p:spPr>
        <p:txBody>
          <a:bodyPr wrap="square" lIns="0" tIns="0" rIns="0" bIns="0" rtlCol="0" anchor="ctr"/>
          <a:lstStyle/>
          <a:p>
            <a:pPr indent="0" marL="0">
              <a:buNone/>
            </a:pPr>
            <a:r>
              <a:rPr lang="en-US" sz="2200" b="1" dirty="0">
                <a:solidFill>
                  <a:srgbClr val="1E3A8A"/>
                </a:solidFill>
                <a:latin typeface="Arial" pitchFamily="34" charset="0"/>
                <a:ea typeface="Arial" pitchFamily="34" charset="-122"/>
                <a:cs typeface="Arial" pitchFamily="34" charset="-120"/>
              </a:rPr>
              <a:t>Accessible to Everyone
Advanced machine learning in plain English</a:t>
            </a:r>
            <a:endParaRPr lang="en-US" sz="22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BACKGROUND</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Existing Tools Force You to Compromise</a:t>
            </a:r>
            <a:endParaRPr lang="en-US" sz="3200" dirty="0"/>
          </a:p>
        </p:txBody>
      </p:sp>
      <p:sp>
        <p:nvSpPr>
          <p:cNvPr id="5" name="Shape 2"/>
          <p:cNvSpPr/>
          <p:nvPr/>
        </p:nvSpPr>
        <p:spPr>
          <a:xfrm>
            <a:off x="1097280" y="1691640"/>
            <a:ext cx="3380232" cy="3520440"/>
          </a:xfrm>
          <a:prstGeom prst="roundRect">
            <a:avLst>
              <a:gd name="adj" fmla="val 5410"/>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6" name="Shape 3"/>
          <p:cNvSpPr/>
          <p:nvPr/>
        </p:nvSpPr>
        <p:spPr>
          <a:xfrm>
            <a:off x="1353312" y="1920240"/>
            <a:ext cx="457200" cy="54864"/>
          </a:xfrm>
          <a:prstGeom prst="rect">
            <a:avLst/>
          </a:prstGeom>
          <a:solidFill>
            <a:srgbClr val="F97316"/>
          </a:solidFill>
          <a:ln w="3175">
            <a:solidFill>
              <a:srgbClr val="F97316"/>
            </a:solidFill>
            <a:prstDash val="solid"/>
          </a:ln>
        </p:spPr>
        <p:txBody>
          <a:bodyPr/>
          <a:p/>
        </p:txBody>
      </p:sp>
      <p:sp>
        <p:nvSpPr>
          <p:cNvPr id="7" name="Text 4"/>
          <p:cNvSpPr txBox="1"/>
          <p:nvPr/>
        </p:nvSpPr>
        <p:spPr>
          <a:xfrm>
            <a:off x="1353312" y="2103120"/>
            <a:ext cx="2868168" cy="822960"/>
          </a:xfrm>
          <a:prstGeom prst="rect">
            <a:avLst/>
          </a:prstGeom>
          <a:noFill/>
          <a:ln/>
        </p:spPr>
        <p:txBody>
          <a:bodyPr wrap="square" lIns="0" tIns="0" rIns="0" bIns="0" rtlCol="0" anchor="t"/>
          <a:lstStyle/>
          <a:p>
            <a:pPr indent="0" marL="0">
              <a:buNone/>
            </a:pPr>
            <a:r>
              <a:rPr lang="en-US" sz="2100" b="1" dirty="0">
                <a:solidFill>
                  <a:srgbClr val="1E3A8A"/>
                </a:solidFill>
                <a:latin typeface="Arial" pitchFamily="34" charset="0"/>
                <a:ea typeface="Arial" pitchFamily="34" charset="-122"/>
                <a:cs typeface="Arial" pitchFamily="34" charset="-120"/>
              </a:rPr>
              <a:t>Spreadsheets (Excel)</a:t>
            </a:r>
            <a:endParaRPr lang="en-US" sz="2100" dirty="0"/>
          </a:p>
        </p:txBody>
      </p:sp>
      <p:sp>
        <p:nvSpPr>
          <p:cNvPr id="8" name="Text 5"/>
          <p:cNvSpPr txBox="1"/>
          <p:nvPr/>
        </p:nvSpPr>
        <p:spPr>
          <a:xfrm>
            <a:off x="1353312" y="2971800"/>
            <a:ext cx="2868168" cy="640080"/>
          </a:xfrm>
          <a:prstGeom prst="rect">
            <a:avLst/>
          </a:prstGeom>
          <a:noFill/>
          <a:ln/>
        </p:spPr>
        <p:txBody>
          <a:bodyPr wrap="square" lIns="0" tIns="0" rIns="0" bIns="0" rtlCol="0" anchor="t"/>
          <a:lstStyle/>
          <a:p>
            <a:pPr indent="0" marL="0">
              <a:buNone/>
            </a:pPr>
            <a:r>
              <a:rPr lang="en-US" sz="1600" b="1" dirty="0">
                <a:solidFill>
                  <a:srgbClr val="1D4ED8"/>
                </a:solidFill>
                <a:latin typeface="Arial" pitchFamily="34" charset="0"/>
                <a:ea typeface="Arial" pitchFamily="34" charset="-122"/>
                <a:cs typeface="Arial" pitchFamily="34" charset="-120"/>
              </a:rPr>
              <a:t>Familiar grid used by millions of people</a:t>
            </a:r>
            <a:endParaRPr lang="en-US" sz="1600" dirty="0"/>
          </a:p>
        </p:txBody>
      </p:sp>
      <p:sp>
        <p:nvSpPr>
          <p:cNvPr id="9" name="Text 6"/>
          <p:cNvSpPr txBox="1"/>
          <p:nvPr/>
        </p:nvSpPr>
        <p:spPr>
          <a:xfrm>
            <a:off x="1353312" y="3611880"/>
            <a:ext cx="2868168" cy="1463040"/>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Drawbacks: Silent formula errors, freezes on large files, zero safety checks</a:t>
            </a:r>
            <a:endParaRPr lang="en-US" sz="1600" dirty="0"/>
          </a:p>
        </p:txBody>
      </p:sp>
      <p:sp>
        <p:nvSpPr>
          <p:cNvPr id="10" name="Shape 7"/>
          <p:cNvSpPr/>
          <p:nvPr/>
        </p:nvSpPr>
        <p:spPr>
          <a:xfrm>
            <a:off x="4678680" y="1691640"/>
            <a:ext cx="3380232" cy="3520440"/>
          </a:xfrm>
          <a:prstGeom prst="roundRect">
            <a:avLst>
              <a:gd name="adj" fmla="val 5410"/>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11" name="Shape 8"/>
          <p:cNvSpPr/>
          <p:nvPr/>
        </p:nvSpPr>
        <p:spPr>
          <a:xfrm>
            <a:off x="4934712" y="1920240"/>
            <a:ext cx="457200" cy="54864"/>
          </a:xfrm>
          <a:prstGeom prst="rect">
            <a:avLst/>
          </a:prstGeom>
          <a:solidFill>
            <a:srgbClr val="F97316"/>
          </a:solidFill>
          <a:ln w="3175">
            <a:solidFill>
              <a:srgbClr val="F97316"/>
            </a:solidFill>
            <a:prstDash val="solid"/>
          </a:ln>
        </p:spPr>
        <p:txBody>
          <a:bodyPr/>
          <a:p/>
        </p:txBody>
      </p:sp>
      <p:sp>
        <p:nvSpPr>
          <p:cNvPr id="12" name="Text 9"/>
          <p:cNvSpPr txBox="1"/>
          <p:nvPr/>
        </p:nvSpPr>
        <p:spPr>
          <a:xfrm>
            <a:off x="4934712" y="2103120"/>
            <a:ext cx="2868168" cy="822960"/>
          </a:xfrm>
          <a:prstGeom prst="rect">
            <a:avLst/>
          </a:prstGeom>
          <a:noFill/>
          <a:ln/>
        </p:spPr>
        <p:txBody>
          <a:bodyPr wrap="square" lIns="0" tIns="0" rIns="0" bIns="0" rtlCol="0" anchor="t"/>
          <a:lstStyle/>
          <a:p>
            <a:pPr indent="0" marL="0">
              <a:buNone/>
            </a:pPr>
            <a:r>
              <a:rPr lang="en-US" sz="2100" b="1" dirty="0">
                <a:solidFill>
                  <a:srgbClr val="1E3A8A"/>
                </a:solidFill>
                <a:latin typeface="Arial" pitchFamily="34" charset="0"/>
                <a:ea typeface="Arial" pitchFamily="34" charset="-122"/>
                <a:cs typeface="Arial" pitchFamily="34" charset="-120"/>
              </a:rPr>
              <a:t>Enterprise BI (Tableau / Power BI)</a:t>
            </a:r>
            <a:endParaRPr lang="en-US" sz="2100" dirty="0"/>
          </a:p>
        </p:txBody>
      </p:sp>
      <p:sp>
        <p:nvSpPr>
          <p:cNvPr id="13" name="Text 10"/>
          <p:cNvSpPr txBox="1"/>
          <p:nvPr/>
        </p:nvSpPr>
        <p:spPr>
          <a:xfrm>
            <a:off x="4934712" y="2971800"/>
            <a:ext cx="2868168" cy="640080"/>
          </a:xfrm>
          <a:prstGeom prst="rect">
            <a:avLst/>
          </a:prstGeom>
          <a:noFill/>
          <a:ln/>
        </p:spPr>
        <p:txBody>
          <a:bodyPr wrap="square" lIns="0" tIns="0" rIns="0" bIns="0" rtlCol="0" anchor="t"/>
          <a:lstStyle/>
          <a:p>
            <a:pPr indent="0" marL="0">
              <a:buNone/>
            </a:pPr>
            <a:r>
              <a:rPr lang="en-US" sz="1600" b="1" dirty="0">
                <a:solidFill>
                  <a:srgbClr val="1D4ED8"/>
                </a:solidFill>
                <a:latin typeface="Arial" pitchFamily="34" charset="0"/>
                <a:ea typeface="Arial" pitchFamily="34" charset="-122"/>
                <a:cs typeface="Arial" pitchFamily="34" charset="-120"/>
              </a:rPr>
              <a:t>Polished executive charts and dashboards</a:t>
            </a:r>
            <a:endParaRPr lang="en-US" sz="1600" dirty="0"/>
          </a:p>
        </p:txBody>
      </p:sp>
      <p:sp>
        <p:nvSpPr>
          <p:cNvPr id="14" name="Text 11"/>
          <p:cNvSpPr txBox="1"/>
          <p:nvPr/>
        </p:nvSpPr>
        <p:spPr>
          <a:xfrm>
            <a:off x="4934712" y="3611880"/>
            <a:ext cx="2868168" cy="1463040"/>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Drawbacks: Very costly per-user licenses, steep learning curve, manual data prep</a:t>
            </a:r>
            <a:endParaRPr lang="en-US" sz="1600" dirty="0"/>
          </a:p>
        </p:txBody>
      </p:sp>
      <p:sp>
        <p:nvSpPr>
          <p:cNvPr id="15" name="Shape 12"/>
          <p:cNvSpPr/>
          <p:nvPr/>
        </p:nvSpPr>
        <p:spPr>
          <a:xfrm>
            <a:off x="8260080" y="1691640"/>
            <a:ext cx="3380232" cy="3520440"/>
          </a:xfrm>
          <a:prstGeom prst="roundRect">
            <a:avLst>
              <a:gd name="adj" fmla="val 5410"/>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16" name="Shape 13"/>
          <p:cNvSpPr/>
          <p:nvPr/>
        </p:nvSpPr>
        <p:spPr>
          <a:xfrm>
            <a:off x="8516112" y="1920240"/>
            <a:ext cx="457200" cy="54864"/>
          </a:xfrm>
          <a:prstGeom prst="rect">
            <a:avLst/>
          </a:prstGeom>
          <a:solidFill>
            <a:srgbClr val="F97316"/>
          </a:solidFill>
          <a:ln w="3175">
            <a:solidFill>
              <a:srgbClr val="F97316"/>
            </a:solidFill>
            <a:prstDash val="solid"/>
          </a:ln>
        </p:spPr>
        <p:txBody>
          <a:bodyPr/>
          <a:p/>
        </p:txBody>
      </p:sp>
      <p:sp>
        <p:nvSpPr>
          <p:cNvPr id="17" name="Text 14"/>
          <p:cNvSpPr txBox="1"/>
          <p:nvPr/>
        </p:nvSpPr>
        <p:spPr>
          <a:xfrm>
            <a:off x="8516112" y="2103120"/>
            <a:ext cx="2868168" cy="822960"/>
          </a:xfrm>
          <a:prstGeom prst="rect">
            <a:avLst/>
          </a:prstGeom>
          <a:noFill/>
          <a:ln/>
        </p:spPr>
        <p:txBody>
          <a:bodyPr wrap="square" lIns="0" tIns="0" rIns="0" bIns="0" rtlCol="0" anchor="t"/>
          <a:lstStyle/>
          <a:p>
            <a:pPr indent="0" marL="0">
              <a:buNone/>
            </a:pPr>
            <a:r>
              <a:rPr lang="en-US" sz="2100" b="1" dirty="0">
                <a:solidFill>
                  <a:srgbClr val="1E3A8A"/>
                </a:solidFill>
                <a:latin typeface="Arial" pitchFamily="34" charset="0"/>
                <a:ea typeface="Arial" pitchFamily="34" charset="-122"/>
                <a:cs typeface="Arial" pitchFamily="34" charset="-120"/>
              </a:rPr>
              <a:t>Raw AI chatbots</a:t>
            </a:r>
            <a:endParaRPr lang="en-US" sz="2100" dirty="0"/>
          </a:p>
        </p:txBody>
      </p:sp>
      <p:sp>
        <p:nvSpPr>
          <p:cNvPr id="18" name="Text 15"/>
          <p:cNvSpPr txBox="1"/>
          <p:nvPr/>
        </p:nvSpPr>
        <p:spPr>
          <a:xfrm>
            <a:off x="8516112" y="2971800"/>
            <a:ext cx="2868168" cy="640080"/>
          </a:xfrm>
          <a:prstGeom prst="rect">
            <a:avLst/>
          </a:prstGeom>
          <a:noFill/>
          <a:ln/>
        </p:spPr>
        <p:txBody>
          <a:bodyPr wrap="square" lIns="0" tIns="0" rIns="0" bIns="0" rtlCol="0" anchor="t"/>
          <a:lstStyle/>
          <a:p>
            <a:pPr indent="0" marL="0">
              <a:buNone/>
            </a:pPr>
            <a:r>
              <a:rPr lang="en-US" sz="1600" b="1" dirty="0">
                <a:solidFill>
                  <a:srgbClr val="1D4ED8"/>
                </a:solidFill>
                <a:latin typeface="Arial" pitchFamily="34" charset="0"/>
                <a:ea typeface="Arial" pitchFamily="34" charset="-122"/>
                <a:cs typeface="Arial" pitchFamily="34" charset="-120"/>
              </a:rPr>
              <a:t>Conversational, easy-to-use chat interface</a:t>
            </a:r>
            <a:endParaRPr lang="en-US" sz="1600" dirty="0"/>
          </a:p>
        </p:txBody>
      </p:sp>
      <p:sp>
        <p:nvSpPr>
          <p:cNvPr id="19" name="Text 16"/>
          <p:cNvSpPr txBox="1"/>
          <p:nvPr/>
        </p:nvSpPr>
        <p:spPr>
          <a:xfrm>
            <a:off x="8516112" y="3611880"/>
            <a:ext cx="2868168" cy="1463040"/>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Drawbacks: 38.6% math error rate, hallucinates numbers, security risks</a:t>
            </a:r>
            <a:endParaRPr lang="en-US" sz="1600" dirty="0"/>
          </a:p>
        </p:txBody>
      </p:sp>
      <p:sp>
        <p:nvSpPr>
          <p:cNvPr id="20" name="Shape 17"/>
          <p:cNvSpPr/>
          <p:nvPr/>
        </p:nvSpPr>
        <p:spPr>
          <a:xfrm>
            <a:off x="1097280" y="5394960"/>
            <a:ext cx="10543032" cy="685800"/>
          </a:xfrm>
          <a:prstGeom prst="roundRect">
            <a:avLst>
              <a:gd name="adj" fmla="val 26667"/>
            </a:avLst>
          </a:prstGeom>
          <a:solidFill>
            <a:srgbClr val="F97316"/>
          </a:solidFill>
          <a:ln w="3175">
            <a:solidFill>
              <a:srgbClr val="F97316"/>
            </a:solidFill>
            <a:prstDash val="solid"/>
          </a:ln>
        </p:spPr>
        <p:txBody>
          <a:bodyPr/>
          <a:p/>
        </p:txBody>
      </p:sp>
      <p:sp>
        <p:nvSpPr>
          <p:cNvPr id="21" name="Text 18"/>
          <p:cNvSpPr txBox="1"/>
          <p:nvPr/>
        </p:nvSpPr>
        <p:spPr>
          <a:xfrm>
            <a:off x="1353312" y="5532120"/>
            <a:ext cx="10030968"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Until now, you had to choose between ease of use, affordable cost, or math truth</a:t>
            </a:r>
            <a:endParaRPr lang="en-US" sz="2000" dirty="0"/>
          </a:p>
        </p:txBody>
      </p:sp>
      <p:sp>
        <p:nvSpPr>
          <p:cNvPr id="22" name="Text 19"/>
          <p:cNvSpPr txBox="1"/>
          <p:nvPr/>
        </p:nvSpPr>
        <p:spPr>
          <a:xfrm>
            <a:off x="1097280" y="6144768"/>
            <a:ext cx="7315200" cy="201168"/>
          </a:xfrm>
          <a:prstGeom prst="rect">
            <a:avLst/>
          </a:prstGeom>
          <a:noFill/>
          <a:ln/>
        </p:spPr>
        <p:txBody>
          <a:bodyPr wrap="square" lIns="0" tIns="0" rIns="0" bIns="0" rtlCol="0" anchor="t"/>
          <a:lstStyle/>
          <a:p>
            <a:pPr indent="0" marL="0">
              <a:buNone/>
            </a:pPr>
            <a:r>
              <a:rPr lang="en-US" sz="1000" dirty="0">
                <a:solidFill>
                  <a:srgbClr val="64748B"/>
                </a:solidFill>
                <a:latin typeface="Arial" pitchFamily="34" charset="0"/>
                <a:ea typeface="Arial" pitchFamily="34" charset="-122"/>
                <a:cs typeface="Arial" pitchFamily="34" charset="-120"/>
              </a:rPr>
              <a:t>*DataForge Empirical Benchmark Battery</a:t>
            </a:r>
            <a:endParaRPr lang="en-US" sz="10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BACKGROUND</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How DataForge Outperforms Existing Solutions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097280" y="1737360"/>
          <a:ext cx="10543032" cy="914400"/>
        </p:xfrm>
        <a:graphic>
          <a:graphicData uri="http://schemas.openxmlformats.org/drawingml/2006/table">
            <a:tbl>
              <a:tblPr/>
              <a:tblGrid>
                <a:gridCol w="2560320"/>
                <a:gridCol w="1737360"/>
                <a:gridCol w="1737360"/>
                <a:gridCol w="2011680"/>
                <a:gridCol w="2496312"/>
              </a:tblGrid>
              <a:tr h="640080">
                <a:tc>
                  <a:txBody>
                    <a:bodyPr/>
                    <a:lstStyle/>
                    <a:p>
                      <a:r>
                        <a:t>Feature / Need</a:t>
                      </a:r>
                    </a:p>
                  </a:txBody>
                  <a:tcPr marL="91440" marR="91440" marT="45720" marB="45720" anchor="ctr">
                    <a:lnL w="0" cap="flat" cmpd="sng" algn="ctr">
                      <a:noFill/>
                    </a:lnL>
                    <a:lnR w="0" cap="flat" cmpd="sng" algn="ctr">
                      <a:noFill/>
                    </a:lnR>
                    <a:lnT w="0" cap="flat" cmpd="sng" algn="ctr">
                      <a:noFill/>
                    </a:lnT>
                    <a:lnB w="25400" cap="flat" cmpd="sng" algn="ctr">
                      <a:solidFill>
                        <a:srgbClr val="1E3A8A"/>
                      </a:solidFill>
                      <a:prstDash val="solid"/>
                      <a:round/>
                      <a:headEnd type="none" w="med" len="med"/>
                      <a:tailEnd type="none" w="med" len="med"/>
                    </a:lnB>
                    <a:solidFill>
                      <a:srgbClr val="FFFFFF"/>
                    </a:solidFill>
                  </a:tcPr>
                </a:tc>
                <a:tc>
                  <a:txBody>
                    <a:bodyPr/>
                    <a:lstStyle/>
                    <a:p>
                      <a:r>
                        <a:t>Excel</a:t>
                      </a:r>
                    </a:p>
                  </a:txBody>
                  <a:tcPr marL="91440" marR="91440" marT="45720" marB="45720" anchor="ctr">
                    <a:lnL w="0" cap="flat" cmpd="sng" algn="ctr">
                      <a:noFill/>
                    </a:lnL>
                    <a:lnR w="0" cap="flat" cmpd="sng" algn="ctr">
                      <a:noFill/>
                    </a:lnR>
                    <a:lnT w="0" cap="flat" cmpd="sng" algn="ctr">
                      <a:noFill/>
                    </a:lnT>
                    <a:lnB w="25400" cap="flat" cmpd="sng" algn="ctr">
                      <a:solidFill>
                        <a:srgbClr val="1E3A8A"/>
                      </a:solidFill>
                      <a:prstDash val="solid"/>
                      <a:round/>
                      <a:headEnd type="none" w="med" len="med"/>
                      <a:tailEnd type="none" w="med" len="med"/>
                    </a:lnB>
                    <a:solidFill>
                      <a:srgbClr val="FFFFFF"/>
                    </a:solidFill>
                  </a:tcPr>
                </a:tc>
                <a:tc>
                  <a:txBody>
                    <a:bodyPr/>
                    <a:lstStyle/>
                    <a:p>
                      <a:r>
                        <a:t>Tableau / BI</a:t>
                      </a:r>
                    </a:p>
                  </a:txBody>
                  <a:tcPr marL="91440" marR="91440" marT="45720" marB="45720" anchor="ctr">
                    <a:lnL w="0" cap="flat" cmpd="sng" algn="ctr">
                      <a:noFill/>
                    </a:lnL>
                    <a:lnR w="0" cap="flat" cmpd="sng" algn="ctr">
                      <a:noFill/>
                    </a:lnR>
                    <a:lnT w="0" cap="flat" cmpd="sng" algn="ctr">
                      <a:noFill/>
                    </a:lnT>
                    <a:lnB w="25400" cap="flat" cmpd="sng" algn="ctr">
                      <a:solidFill>
                        <a:srgbClr val="1E3A8A"/>
                      </a:solidFill>
                      <a:prstDash val="solid"/>
                      <a:round/>
                      <a:headEnd type="none" w="med" len="med"/>
                      <a:tailEnd type="none" w="med" len="med"/>
                    </a:lnB>
                    <a:solidFill>
                      <a:srgbClr val="FFFFFF"/>
                    </a:solidFill>
                  </a:tcPr>
                </a:tc>
                <a:tc>
                  <a:txBody>
                    <a:bodyPr/>
                    <a:lstStyle/>
                    <a:p>
                      <a:r>
                        <a:t>Generic AI</a:t>
                      </a:r>
                    </a:p>
                  </a:txBody>
                  <a:tcPr marL="91440" marR="91440" marT="45720" marB="45720" anchor="ctr">
                    <a:lnL w="0" cap="flat" cmpd="sng" algn="ctr">
                      <a:noFill/>
                    </a:lnL>
                    <a:lnR w="0" cap="flat" cmpd="sng" algn="ctr">
                      <a:noFill/>
                    </a:lnR>
                    <a:lnT w="0" cap="flat" cmpd="sng" algn="ctr">
                      <a:noFill/>
                    </a:lnT>
                    <a:lnB w="25400" cap="flat" cmpd="sng" algn="ctr">
                      <a:solidFill>
                        <a:srgbClr val="1E3A8A"/>
                      </a:solidFill>
                      <a:prstDash val="solid"/>
                      <a:round/>
                      <a:headEnd type="none" w="med" len="med"/>
                      <a:tailEnd type="none" w="med" len="med"/>
                    </a:lnB>
                    <a:solidFill>
                      <a:srgbClr val="FFFFFF"/>
                    </a:solidFill>
                  </a:tcPr>
                </a:tc>
                <a:tc>
                  <a:txBody>
                    <a:bodyPr/>
                    <a:lstStyle/>
                    <a:p>
                      <a:r>
                        <a:t>DataForge</a:t>
                      </a:r>
                    </a:p>
                  </a:txBody>
                  <a:tcPr marL="91440" marR="91440" marT="45720" marB="45720" anchor="ctr">
                    <a:lnL w="0" cap="flat" cmpd="sng" algn="ctr">
                      <a:noFill/>
                    </a:lnL>
                    <a:lnR w="0" cap="flat" cmpd="sng" algn="ctr">
                      <a:noFill/>
                    </a:lnR>
                    <a:lnT w="0" cap="flat" cmpd="sng" algn="ctr">
                      <a:noFill/>
                    </a:lnT>
                    <a:lnB w="25400" cap="flat" cmpd="sng" algn="ctr">
                      <a:solidFill>
                        <a:srgbClr val="1E3A8A"/>
                      </a:solidFill>
                      <a:prstDash val="solid"/>
                      <a:round/>
                      <a:headEnd type="none" w="med" len="med"/>
                      <a:tailEnd type="none" w="med" len="med"/>
                    </a:lnB>
                    <a:solidFill>
                      <a:srgbClr val="FFF3E8"/>
                    </a:solidFill>
                  </a:tcPr>
                </a:tc>
              </a:tr>
              <a:tr h="822960">
                <a:tc>
                  <a:txBody>
                    <a:bodyPr/>
                    <a:lstStyle/>
                    <a:p>
                      <a:r>
                        <a:t>Auto Data Cleanup</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tcPr>
                </a:tc>
                <a:tc>
                  <a:txBody>
                    <a:bodyPr/>
                    <a:lstStyle/>
                    <a:p>
                      <a:r>
                        <a:t>100% Manual</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None</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Unreliable</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Automated with Undo</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3E8"/>
                    </a:solidFill>
                  </a:tcPr>
                </a:tc>
              </a:tr>
              <a:tr h="822960">
                <a:tc>
                  <a:txBody>
                    <a:bodyPr/>
                    <a:lstStyle/>
                    <a:p>
                      <a:r>
                        <a:t>False-Alarm Control</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tcPr>
                </a:tc>
                <a:tc>
                  <a:txBody>
                    <a:bodyPr/>
                    <a:lstStyle/>
                    <a:p>
                      <a:r>
                        <a:t>None</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Manual</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None</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Built-in Guardrails</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3E8"/>
                    </a:solidFill>
                  </a:tcPr>
                </a:tc>
              </a:tr>
              <a:tr h="822960">
                <a:tc>
                  <a:txBody>
                    <a:bodyPr/>
                    <a:lstStyle/>
                    <a:p>
                      <a:r>
                        <a:t>Math Accuracy</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tcPr>
                </a:tc>
                <a:tc>
                  <a:txBody>
                    <a:bodyPr/>
                    <a:lstStyle/>
                    <a:p>
                      <a:r>
                        <a:t>High (if formulas right)</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High</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Poor (~61% accurate)</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100% Verified Math</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3E8"/>
                    </a:solidFill>
                  </a:tcPr>
                </a:tc>
              </a:tr>
              <a:tr h="822960">
                <a:tc>
                  <a:txBody>
                    <a:bodyPr/>
                    <a:lstStyle/>
                    <a:p>
                      <a:r>
                        <a:t>Export Real Work</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tcPr>
                </a:tc>
                <a:tc>
                  <a:txBody>
                    <a:bodyPr/>
                    <a:lstStyle/>
                    <a:p>
                      <a:r>
                        <a:t>None</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None</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Untested snippets</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FFF"/>
                    </a:solidFill>
                  </a:tcPr>
                </a:tc>
                <a:tc>
                  <a:txBody>
                    <a:bodyPr/>
                    <a:lstStyle/>
                    <a:p>
                      <a:r>
                        <a:t>1-Click PDF &amp; Code</a:t>
                      </a:r>
                    </a:p>
                  </a:txBody>
                  <a:tcPr marL="91440" marR="91440" marT="45720" marB="45720" anchor="ctr">
                    <a:lnL w="0" cap="flat" cmpd="sng" algn="ctr">
                      <a:noFill/>
                    </a:lnL>
                    <a:lnR w="0" cap="flat" cmpd="sng" algn="ctr">
                      <a:noFill/>
                    </a:lnR>
                    <a:lnT w="0" cap="flat" cmpd="sng" algn="ctr">
                      <a:noFill/>
                    </a:lnT>
                    <a:lnB w="9525" cap="flat" cmpd="sng" algn="ctr">
                      <a:solidFill>
                        <a:srgbClr val="D5DEEC"/>
                      </a:solidFill>
                      <a:prstDash val="solid"/>
                      <a:round/>
                      <a:headEnd type="none" w="med" len="med"/>
                      <a:tailEnd type="none" w="med" len="med"/>
                    </a:lnB>
                    <a:solidFill>
                      <a:srgbClr val="FFF3E8"/>
                    </a:solidFill>
                  </a:tcPr>
                </a:tc>
              </a:tr>
            </a:tbl>
          </a:graphicData>
        </a:graphic>
      </p:graphicFrame>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METHODOLOGY</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Under the Hood: Simple Outside, Powerful Inside</a:t>
            </a:r>
            <a:endParaRPr lang="en-US" sz="3200" dirty="0"/>
          </a:p>
        </p:txBody>
      </p:sp>
      <p:sp>
        <p:nvSpPr>
          <p:cNvPr id="5" name="Shape 2"/>
          <p:cNvSpPr/>
          <p:nvPr/>
        </p:nvSpPr>
        <p:spPr>
          <a:xfrm>
            <a:off x="1097280" y="1691640"/>
            <a:ext cx="6400800" cy="768096"/>
          </a:xfrm>
          <a:prstGeom prst="roundRect">
            <a:avLst>
              <a:gd name="adj" fmla="val 16667"/>
            </a:avLst>
          </a:prstGeom>
          <a:solidFill>
            <a:srgbClr val="1E3A8A"/>
          </a:solidFill>
          <a:ln w="3175">
            <a:solidFill>
              <a:srgbClr val="1E3A8A"/>
            </a:solidFill>
            <a:prstDash val="solid"/>
          </a:ln>
          <a:effectLst>
            <a:outerShdw sx="100000" sy="100000" kx="0" ky="0" algn="bl" rotWithShape="0" blurRad="114300" dist="38100" dir="5400000">
              <a:srgbClr val="1E3A8A">
                <a:alpha val="12000"/>
              </a:srgbClr>
            </a:outerShdw>
          </a:effectLst>
        </p:spPr>
        <p:txBody>
          <a:bodyPr/>
          <a:p/>
        </p:txBody>
      </p:sp>
      <p:sp>
        <p:nvSpPr>
          <p:cNvPr id="6" name="Text 3"/>
          <p:cNvSpPr txBox="1"/>
          <p:nvPr/>
        </p:nvSpPr>
        <p:spPr>
          <a:xfrm>
            <a:off x="1371600" y="1764792"/>
            <a:ext cx="5943600" cy="3200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LAYER 1 · What You See</a:t>
            </a:r>
            <a:endParaRPr lang="en-US" sz="1800" dirty="0"/>
          </a:p>
        </p:txBody>
      </p:sp>
      <p:sp>
        <p:nvSpPr>
          <p:cNvPr id="7" name="Text 4"/>
          <p:cNvSpPr txBox="1"/>
          <p:nvPr/>
        </p:nvSpPr>
        <p:spPr>
          <a:xfrm>
            <a:off x="1371600" y="2093976"/>
            <a:ext cx="5943600" cy="301752"/>
          </a:xfrm>
          <a:prstGeom prst="rect">
            <a:avLst/>
          </a:prstGeom>
          <a:noFill/>
          <a:ln/>
        </p:spPr>
        <p:txBody>
          <a:bodyPr wrap="square" lIns="0" tIns="0" rIns="0" bIns="0" rtlCol="0" anchor="t"/>
          <a:lstStyle/>
          <a:p>
            <a:pPr indent="0" marL="0">
              <a:buNone/>
            </a:pPr>
            <a:r>
              <a:rPr lang="en-US" sz="1500" dirty="0">
                <a:solidFill>
                  <a:srgbClr val="E8EFFF"/>
                </a:solidFill>
                <a:latin typeface="Arial" pitchFamily="34" charset="0"/>
                <a:ea typeface="Arial" pitchFamily="34" charset="-122"/>
                <a:cs typeface="Arial" pitchFamily="34" charset="-120"/>
              </a:rPr>
              <a:t>Clean, modern web interface that anyone can use on any browser</a:t>
            </a:r>
            <a:endParaRPr lang="en-US" sz="1500" dirty="0"/>
          </a:p>
        </p:txBody>
      </p:sp>
      <p:sp>
        <p:nvSpPr>
          <p:cNvPr id="8" name="Shape 5"/>
          <p:cNvSpPr/>
          <p:nvPr/>
        </p:nvSpPr>
        <p:spPr>
          <a:xfrm>
            <a:off x="1645920" y="2578608"/>
            <a:ext cx="6400800" cy="768096"/>
          </a:xfrm>
          <a:prstGeom prst="roundRect">
            <a:avLst>
              <a:gd name="adj" fmla="val 16667"/>
            </a:avLst>
          </a:prstGeom>
          <a:solidFill>
            <a:srgbClr val="1D4ED8"/>
          </a:solidFill>
          <a:ln w="3175">
            <a:solidFill>
              <a:srgbClr val="1D4ED8"/>
            </a:solidFill>
            <a:prstDash val="solid"/>
          </a:ln>
          <a:effectLst>
            <a:outerShdw sx="100000" sy="100000" kx="0" ky="0" algn="bl" rotWithShape="0" blurRad="114300" dist="38100" dir="5400000">
              <a:srgbClr val="1E3A8A">
                <a:alpha val="12000"/>
              </a:srgbClr>
            </a:outerShdw>
          </a:effectLst>
        </p:spPr>
        <p:txBody>
          <a:bodyPr/>
          <a:p/>
        </p:txBody>
      </p:sp>
      <p:sp>
        <p:nvSpPr>
          <p:cNvPr id="9" name="Text 6"/>
          <p:cNvSpPr txBox="1"/>
          <p:nvPr/>
        </p:nvSpPr>
        <p:spPr>
          <a:xfrm>
            <a:off x="1920240" y="2651760"/>
            <a:ext cx="5943600" cy="3200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LAYER 2 · Security Gateway</a:t>
            </a:r>
            <a:endParaRPr lang="en-US" sz="1800" dirty="0"/>
          </a:p>
        </p:txBody>
      </p:sp>
      <p:sp>
        <p:nvSpPr>
          <p:cNvPr id="10" name="Text 7"/>
          <p:cNvSpPr txBox="1"/>
          <p:nvPr/>
        </p:nvSpPr>
        <p:spPr>
          <a:xfrm>
            <a:off x="1920240" y="2980944"/>
            <a:ext cx="5943600" cy="301752"/>
          </a:xfrm>
          <a:prstGeom prst="rect">
            <a:avLst/>
          </a:prstGeom>
          <a:noFill/>
          <a:ln/>
        </p:spPr>
        <p:txBody>
          <a:bodyPr wrap="square" lIns="0" tIns="0" rIns="0" bIns="0" rtlCol="0" anchor="t"/>
          <a:lstStyle/>
          <a:p>
            <a:pPr indent="0" marL="0">
              <a:buNone/>
            </a:pPr>
            <a:r>
              <a:rPr lang="en-US" sz="1500" dirty="0">
                <a:solidFill>
                  <a:srgbClr val="E8EFFF"/>
                </a:solidFill>
                <a:latin typeface="Arial" pitchFamily="34" charset="0"/>
                <a:ea typeface="Arial" pitchFamily="34" charset="-122"/>
                <a:cs typeface="Arial" pitchFamily="34" charset="-120"/>
              </a:rPr>
              <a:t>Bank-grade protection, rate limits, and safe access control</a:t>
            </a:r>
            <a:endParaRPr lang="en-US" sz="1500" dirty="0"/>
          </a:p>
        </p:txBody>
      </p:sp>
      <p:sp>
        <p:nvSpPr>
          <p:cNvPr id="11" name="Shape 8"/>
          <p:cNvSpPr/>
          <p:nvPr/>
        </p:nvSpPr>
        <p:spPr>
          <a:xfrm>
            <a:off x="2194560" y="3465576"/>
            <a:ext cx="6400800" cy="768096"/>
          </a:xfrm>
          <a:prstGeom prst="roundRect">
            <a:avLst>
              <a:gd name="adj" fmla="val 16667"/>
            </a:avLst>
          </a:prstGeom>
          <a:solidFill>
            <a:srgbClr val="1D4ED8"/>
          </a:solidFill>
          <a:ln w="3175">
            <a:solidFill>
              <a:srgbClr val="1D4ED8"/>
            </a:solidFill>
            <a:prstDash val="solid"/>
          </a:ln>
          <a:effectLst>
            <a:outerShdw sx="100000" sy="100000" kx="0" ky="0" algn="bl" rotWithShape="0" blurRad="114300" dist="38100" dir="5400000">
              <a:srgbClr val="1E3A8A">
                <a:alpha val="12000"/>
              </a:srgbClr>
            </a:outerShdw>
          </a:effectLst>
        </p:spPr>
        <p:txBody>
          <a:bodyPr/>
          <a:p/>
        </p:txBody>
      </p:sp>
      <p:sp>
        <p:nvSpPr>
          <p:cNvPr id="12" name="Text 9"/>
          <p:cNvSpPr txBox="1"/>
          <p:nvPr/>
        </p:nvSpPr>
        <p:spPr>
          <a:xfrm>
            <a:off x="2468880" y="3538728"/>
            <a:ext cx="5943600" cy="3200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LAYER 3 · Real-Time Hub</a:t>
            </a:r>
            <a:endParaRPr lang="en-US" sz="1800" dirty="0"/>
          </a:p>
        </p:txBody>
      </p:sp>
      <p:sp>
        <p:nvSpPr>
          <p:cNvPr id="13" name="Text 10"/>
          <p:cNvSpPr txBox="1"/>
          <p:nvPr/>
        </p:nvSpPr>
        <p:spPr>
          <a:xfrm>
            <a:off x="2468880" y="3867912"/>
            <a:ext cx="5943600" cy="301752"/>
          </a:xfrm>
          <a:prstGeom prst="rect">
            <a:avLst/>
          </a:prstGeom>
          <a:noFill/>
          <a:ln/>
        </p:spPr>
        <p:txBody>
          <a:bodyPr wrap="square" lIns="0" tIns="0" rIns="0" bIns="0" rtlCol="0" anchor="t"/>
          <a:lstStyle/>
          <a:p>
            <a:pPr indent="0" marL="0">
              <a:buNone/>
            </a:pPr>
            <a:r>
              <a:rPr lang="en-US" sz="1500" dirty="0">
                <a:solidFill>
                  <a:srgbClr val="E8EFFF"/>
                </a:solidFill>
                <a:latin typeface="Arial" pitchFamily="34" charset="0"/>
                <a:ea typeface="Arial" pitchFamily="34" charset="-122"/>
                <a:cs typeface="Arial" pitchFamily="34" charset="-120"/>
              </a:rPr>
              <a:t>Instant live communication streaming answers and charts live</a:t>
            </a:r>
            <a:endParaRPr lang="en-US" sz="1500" dirty="0"/>
          </a:p>
        </p:txBody>
      </p:sp>
      <p:sp>
        <p:nvSpPr>
          <p:cNvPr id="14" name="Shape 11"/>
          <p:cNvSpPr/>
          <p:nvPr/>
        </p:nvSpPr>
        <p:spPr>
          <a:xfrm>
            <a:off x="2743200" y="4352544"/>
            <a:ext cx="6400800" cy="768096"/>
          </a:xfrm>
          <a:prstGeom prst="roundRect">
            <a:avLst>
              <a:gd name="adj" fmla="val 16667"/>
            </a:avLst>
          </a:prstGeom>
          <a:solidFill>
            <a:srgbClr val="F97316"/>
          </a:solidFill>
          <a:ln w="3175">
            <a:solidFill>
              <a:srgbClr val="F97316"/>
            </a:solidFill>
            <a:prstDash val="solid"/>
          </a:ln>
          <a:effectLst>
            <a:outerShdw sx="100000" sy="100000" kx="0" ky="0" algn="bl" rotWithShape="0" blurRad="114300" dist="38100" dir="5400000">
              <a:srgbClr val="1E3A8A">
                <a:alpha val="12000"/>
              </a:srgbClr>
            </a:outerShdw>
          </a:effectLst>
        </p:spPr>
        <p:txBody>
          <a:bodyPr/>
          <a:p/>
        </p:txBody>
      </p:sp>
      <p:sp>
        <p:nvSpPr>
          <p:cNvPr id="15" name="Text 12"/>
          <p:cNvSpPr txBox="1"/>
          <p:nvPr/>
        </p:nvSpPr>
        <p:spPr>
          <a:xfrm>
            <a:off x="3017520" y="4425696"/>
            <a:ext cx="5943600" cy="3200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LAYER 4 · Analytical Brain</a:t>
            </a:r>
            <a:endParaRPr lang="en-US" sz="1800" dirty="0"/>
          </a:p>
        </p:txBody>
      </p:sp>
      <p:sp>
        <p:nvSpPr>
          <p:cNvPr id="16" name="Text 13"/>
          <p:cNvSpPr txBox="1"/>
          <p:nvPr/>
        </p:nvSpPr>
        <p:spPr>
          <a:xfrm>
            <a:off x="3017520" y="4754880"/>
            <a:ext cx="5943600" cy="301752"/>
          </a:xfrm>
          <a:prstGeom prst="rect">
            <a:avLst/>
          </a:prstGeom>
          <a:noFill/>
          <a:ln/>
        </p:spPr>
        <p:txBody>
          <a:bodyPr wrap="square" lIns="0" tIns="0" rIns="0" bIns="0" rtlCol="0" anchor="t"/>
          <a:lstStyle/>
          <a:p>
            <a:pPr indent="0" marL="0">
              <a:buNone/>
            </a:pPr>
            <a:r>
              <a:rPr lang="en-US" sz="1500" dirty="0">
                <a:solidFill>
                  <a:srgbClr val="E8EFFF"/>
                </a:solidFill>
                <a:latin typeface="Arial" pitchFamily="34" charset="0"/>
                <a:ea typeface="Arial" pitchFamily="34" charset="-122"/>
                <a:cs typeface="Arial" pitchFamily="34" charset="-120"/>
              </a:rPr>
              <a:t>High-speed database engines crunch math, supervised by AI</a:t>
            </a:r>
            <a:endParaRPr lang="en-US" sz="1500" dirty="0"/>
          </a:p>
        </p:txBody>
      </p:sp>
      <p:sp>
        <p:nvSpPr>
          <p:cNvPr id="17" name="Shape 14"/>
          <p:cNvSpPr/>
          <p:nvPr/>
        </p:nvSpPr>
        <p:spPr>
          <a:xfrm>
            <a:off x="3291840" y="5239512"/>
            <a:ext cx="6400800" cy="768096"/>
          </a:xfrm>
          <a:prstGeom prst="roundRect">
            <a:avLst>
              <a:gd name="adj" fmla="val 16667"/>
            </a:avLst>
          </a:prstGeom>
          <a:solidFill>
            <a:srgbClr val="1E3A8A"/>
          </a:solidFill>
          <a:ln w="3175">
            <a:solidFill>
              <a:srgbClr val="1E3A8A"/>
            </a:solidFill>
            <a:prstDash val="solid"/>
          </a:ln>
          <a:effectLst>
            <a:outerShdw sx="100000" sy="100000" kx="0" ky="0" algn="bl" rotWithShape="0" blurRad="114300" dist="38100" dir="5400000">
              <a:srgbClr val="1E3A8A">
                <a:alpha val="12000"/>
              </a:srgbClr>
            </a:outerShdw>
          </a:effectLst>
        </p:spPr>
        <p:txBody>
          <a:bodyPr/>
          <a:p/>
        </p:txBody>
      </p:sp>
      <p:sp>
        <p:nvSpPr>
          <p:cNvPr id="18" name="Text 15"/>
          <p:cNvSpPr txBox="1"/>
          <p:nvPr/>
        </p:nvSpPr>
        <p:spPr>
          <a:xfrm>
            <a:off x="3566160" y="5312664"/>
            <a:ext cx="5943600" cy="3200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LAYER 5 · Safe Storage</a:t>
            </a:r>
            <a:endParaRPr lang="en-US" sz="1800" dirty="0"/>
          </a:p>
        </p:txBody>
      </p:sp>
      <p:sp>
        <p:nvSpPr>
          <p:cNvPr id="19" name="Text 16"/>
          <p:cNvSpPr txBox="1"/>
          <p:nvPr/>
        </p:nvSpPr>
        <p:spPr>
          <a:xfrm>
            <a:off x="3566160" y="5641848"/>
            <a:ext cx="5943600" cy="301752"/>
          </a:xfrm>
          <a:prstGeom prst="rect">
            <a:avLst/>
          </a:prstGeom>
          <a:noFill/>
          <a:ln/>
        </p:spPr>
        <p:txBody>
          <a:bodyPr wrap="square" lIns="0" tIns="0" rIns="0" bIns="0" rtlCol="0" anchor="t"/>
          <a:lstStyle/>
          <a:p>
            <a:pPr indent="0" marL="0">
              <a:buNone/>
            </a:pPr>
            <a:r>
              <a:rPr lang="en-US" sz="1500" dirty="0">
                <a:solidFill>
                  <a:srgbClr val="E8EFFF"/>
                </a:solidFill>
                <a:latin typeface="Arial" pitchFamily="34" charset="0"/>
                <a:ea typeface="Arial" pitchFamily="34" charset="-122"/>
                <a:cs typeface="Arial" pitchFamily="34" charset="-120"/>
              </a:rPr>
              <a:t>Fast, compressed, and encrypted storage for your files and results</a:t>
            </a:r>
            <a:endParaRPr lang="en-US" sz="1500" dirty="0"/>
          </a:p>
        </p:txBody>
      </p:sp>
      <p:sp>
        <p:nvSpPr>
          <p:cNvPr id="20" name="Shape 17"/>
          <p:cNvSpPr/>
          <p:nvPr/>
        </p:nvSpPr>
        <p:spPr>
          <a:xfrm>
            <a:off x="1097280" y="4480560"/>
            <a:ext cx="0" cy="1463040"/>
          </a:xfrm>
          <a:prstGeom prst="line">
            <a:avLst/>
          </a:prstGeom>
          <a:noFill/>
          <a:ln w="38100">
            <a:solidFill>
              <a:srgbClr val="F97316"/>
            </a:solidFill>
            <a:prstDash val="solid"/>
          </a:ln>
        </p:spPr>
        <p:txBody>
          <a:bodyPr/>
          <a:p/>
        </p:txBody>
      </p:sp>
      <p:sp>
        <p:nvSpPr>
          <p:cNvPr id="21" name="Text 18"/>
          <p:cNvSpPr txBox="1"/>
          <p:nvPr/>
        </p:nvSpPr>
        <p:spPr>
          <a:xfrm>
            <a:off x="1325880" y="4480560"/>
            <a:ext cx="3383280" cy="1554480"/>
          </a:xfrm>
          <a:prstGeom prst="rect">
            <a:avLst/>
          </a:prstGeom>
          <a:noFill/>
          <a:ln/>
        </p:spPr>
        <p:txBody>
          <a:bodyPr wrap="square" lIns="0" tIns="0" rIns="0" bIns="0" rtlCol="0" anchor="t"/>
          <a:lstStyle/>
          <a:p>
            <a:pPr indent="0" marL="0">
              <a:buNone/>
            </a:pPr>
            <a:r>
              <a:rPr lang="en-US" sz="1600" i="1" dirty="0">
                <a:solidFill>
                  <a:srgbClr val="1E3A8A"/>
                </a:solidFill>
                <a:latin typeface="Arial" pitchFamily="34" charset="0"/>
                <a:ea typeface="Arial" pitchFamily="34" charset="-122"/>
                <a:cs typeface="Arial" pitchFamily="34" charset="-120"/>
              </a:rPr>
              <a:t>You ask a question → Safe database engines compute verified math → Instant clear answers appear.</a:t>
            </a:r>
            <a:endParaRPr lang="en-US" sz="16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METHODOLOGY</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Built on Modern, High-Performance Technology</a:t>
            </a:r>
            <a:endParaRPr lang="en-US" sz="3200" dirty="0"/>
          </a:p>
        </p:txBody>
      </p:sp>
      <p:sp>
        <p:nvSpPr>
          <p:cNvPr id="5" name="Shape 2"/>
          <p:cNvSpPr/>
          <p:nvPr/>
        </p:nvSpPr>
        <p:spPr>
          <a:xfrm>
            <a:off x="1097280" y="1691640"/>
            <a:ext cx="5166360" cy="2103120"/>
          </a:xfrm>
          <a:prstGeom prst="roundRect">
            <a:avLst>
              <a:gd name="adj" fmla="val 8696"/>
            </a:avLst>
          </a:prstGeom>
          <a:solidFill>
            <a:srgbClr val="1D4ED8"/>
          </a:solidFill>
          <a:ln w="3175">
            <a:solidFill>
              <a:srgbClr val="1D4ED8"/>
            </a:solidFill>
            <a:prstDash val="solid"/>
          </a:ln>
        </p:spPr>
        <p:txBody>
          <a:bodyPr/>
          <a:p/>
        </p:txBody>
      </p:sp>
      <p:sp>
        <p:nvSpPr>
          <p:cNvPr id="6" name="Text 3"/>
          <p:cNvSpPr txBox="1"/>
          <p:nvPr/>
        </p:nvSpPr>
        <p:spPr>
          <a:xfrm>
            <a:off x="1353312" y="1828800"/>
            <a:ext cx="4654296" cy="50292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User Experience</a:t>
            </a:r>
            <a:endParaRPr lang="en-US" sz="2600" dirty="0"/>
          </a:p>
        </p:txBody>
      </p:sp>
      <p:sp>
        <p:nvSpPr>
          <p:cNvPr id="7" name="Text 4"/>
          <p:cNvSpPr txBox="1"/>
          <p:nvPr/>
        </p:nvSpPr>
        <p:spPr>
          <a:xfrm>
            <a:off x="1353312" y="2377440"/>
            <a:ext cx="4654296" cy="1280160"/>
          </a:xfrm>
          <a:prstGeom prst="rect">
            <a:avLst/>
          </a:prstGeom>
          <a:noFill/>
          <a:ln/>
        </p:spPr>
        <p:txBody>
          <a:bodyPr wrap="square" lIns="0" tIns="0" rIns="0" bIns="0" rtlCol="0" anchor="t"/>
          <a:lstStyle/>
          <a:p>
            <a:pPr indent="0" marL="0">
              <a:buNone/>
            </a:pPr>
            <a:r>
              <a:rPr lang="en-US" sz="1900" dirty="0">
                <a:solidFill>
                  <a:srgbClr val="D6E4FF"/>
                </a:solidFill>
                <a:latin typeface="Arial" pitchFamily="34" charset="0"/>
                <a:ea typeface="Arial" pitchFamily="34" charset="-122"/>
                <a:cs typeface="Arial" pitchFamily="34" charset="-120"/>
              </a:rPr>
              <a:t>Next.js 15 · React 19 · Tailwind · Chart.js (Fast, beautiful, zero-lag interface)</a:t>
            </a:r>
            <a:endParaRPr lang="en-US" sz="1900" dirty="0"/>
          </a:p>
        </p:txBody>
      </p:sp>
      <p:sp>
        <p:nvSpPr>
          <p:cNvPr id="8" name="Shape 5"/>
          <p:cNvSpPr/>
          <p:nvPr/>
        </p:nvSpPr>
        <p:spPr>
          <a:xfrm>
            <a:off x="6473952" y="1691640"/>
            <a:ext cx="5166360" cy="2103120"/>
          </a:xfrm>
          <a:prstGeom prst="roundRect">
            <a:avLst>
              <a:gd name="adj" fmla="val 8696"/>
            </a:avLst>
          </a:prstGeom>
          <a:solidFill>
            <a:srgbClr val="F0F5FF"/>
          </a:solidFill>
          <a:ln w="3175">
            <a:solidFill>
              <a:srgbClr val="F0F5FF"/>
            </a:solidFill>
            <a:prstDash val="solid"/>
          </a:ln>
        </p:spPr>
        <p:txBody>
          <a:bodyPr/>
          <a:p/>
        </p:txBody>
      </p:sp>
      <p:sp>
        <p:nvSpPr>
          <p:cNvPr id="9" name="Text 6"/>
          <p:cNvSpPr txBox="1"/>
          <p:nvPr/>
        </p:nvSpPr>
        <p:spPr>
          <a:xfrm>
            <a:off x="6729984" y="1828800"/>
            <a:ext cx="4654296" cy="502920"/>
          </a:xfrm>
          <a:prstGeom prst="rect">
            <a:avLst/>
          </a:prstGeom>
          <a:noFill/>
          <a:ln/>
        </p:spPr>
        <p:txBody>
          <a:bodyPr wrap="square" lIns="0" tIns="0" rIns="0" bIns="0" rtlCol="0" anchor="t"/>
          <a:lstStyle/>
          <a:p>
            <a:pPr indent="0" marL="0">
              <a:buNone/>
            </a:pPr>
            <a:r>
              <a:rPr lang="en-US" sz="2600" b="1" dirty="0">
                <a:solidFill>
                  <a:srgbClr val="1E3A8A"/>
                </a:solidFill>
                <a:latin typeface="Arial" pitchFamily="34" charset="0"/>
                <a:ea typeface="Arial" pitchFamily="34" charset="-122"/>
                <a:cs typeface="Arial" pitchFamily="34" charset="-120"/>
              </a:rPr>
              <a:t>High-Speed Engines</a:t>
            </a:r>
            <a:endParaRPr lang="en-US" sz="2600" dirty="0"/>
          </a:p>
        </p:txBody>
      </p:sp>
      <p:sp>
        <p:nvSpPr>
          <p:cNvPr id="10" name="Text 7"/>
          <p:cNvSpPr txBox="1"/>
          <p:nvPr/>
        </p:nvSpPr>
        <p:spPr>
          <a:xfrm>
            <a:off x="6729984" y="2377440"/>
            <a:ext cx="4654296" cy="1280160"/>
          </a:xfrm>
          <a:prstGeom prst="rect">
            <a:avLst/>
          </a:prstGeom>
          <a:noFill/>
          <a:ln/>
        </p:spPr>
        <p:txBody>
          <a:bodyPr wrap="square" lIns="0" tIns="0" rIns="0" bIns="0" rtlCol="0" anchor="t"/>
          <a:lstStyle/>
          <a:p>
            <a:pPr indent="0" marL="0">
              <a:buNone/>
            </a:pPr>
            <a:r>
              <a:rPr lang="en-US" sz="1900" dirty="0">
                <a:solidFill>
                  <a:srgbClr val="475569"/>
                </a:solidFill>
                <a:latin typeface="Arial" pitchFamily="34" charset="0"/>
                <a:ea typeface="Arial" pitchFamily="34" charset="-122"/>
                <a:cs typeface="Arial" pitchFamily="34" charset="-120"/>
              </a:rPr>
              <a:t>Python 3.12 · FastAPI · DuckDB · PostgreSQL · Parquet (Instant local calculations)</a:t>
            </a:r>
            <a:endParaRPr lang="en-US" sz="1900" dirty="0"/>
          </a:p>
        </p:txBody>
      </p:sp>
      <p:sp>
        <p:nvSpPr>
          <p:cNvPr id="11" name="Shape 8"/>
          <p:cNvSpPr/>
          <p:nvPr/>
        </p:nvSpPr>
        <p:spPr>
          <a:xfrm>
            <a:off x="1097280" y="3995928"/>
            <a:ext cx="5166360" cy="2103120"/>
          </a:xfrm>
          <a:prstGeom prst="roundRect">
            <a:avLst>
              <a:gd name="adj" fmla="val 8696"/>
            </a:avLst>
          </a:prstGeom>
          <a:solidFill>
            <a:srgbClr val="F0F5FF"/>
          </a:solidFill>
          <a:ln w="3175">
            <a:solidFill>
              <a:srgbClr val="F0F5FF"/>
            </a:solidFill>
            <a:prstDash val="solid"/>
          </a:ln>
        </p:spPr>
        <p:txBody>
          <a:bodyPr/>
          <a:p/>
        </p:txBody>
      </p:sp>
      <p:sp>
        <p:nvSpPr>
          <p:cNvPr id="12" name="Text 9"/>
          <p:cNvSpPr txBox="1"/>
          <p:nvPr/>
        </p:nvSpPr>
        <p:spPr>
          <a:xfrm>
            <a:off x="1353312" y="4133088"/>
            <a:ext cx="4654296" cy="502920"/>
          </a:xfrm>
          <a:prstGeom prst="rect">
            <a:avLst/>
          </a:prstGeom>
          <a:noFill/>
          <a:ln/>
        </p:spPr>
        <p:txBody>
          <a:bodyPr wrap="square" lIns="0" tIns="0" rIns="0" bIns="0" rtlCol="0" anchor="t"/>
          <a:lstStyle/>
          <a:p>
            <a:pPr indent="0" marL="0">
              <a:buNone/>
            </a:pPr>
            <a:r>
              <a:rPr lang="en-US" sz="2600" b="1" dirty="0">
                <a:solidFill>
                  <a:srgbClr val="1E3A8A"/>
                </a:solidFill>
                <a:latin typeface="Arial" pitchFamily="34" charset="0"/>
                <a:ea typeface="Arial" pitchFamily="34" charset="-122"/>
                <a:cs typeface="Arial" pitchFamily="34" charset="-120"/>
              </a:rPr>
              <a:t>Artificial Intelligence</a:t>
            </a:r>
            <a:endParaRPr lang="en-US" sz="2600" dirty="0"/>
          </a:p>
        </p:txBody>
      </p:sp>
      <p:sp>
        <p:nvSpPr>
          <p:cNvPr id="13" name="Text 10"/>
          <p:cNvSpPr txBox="1"/>
          <p:nvPr/>
        </p:nvSpPr>
        <p:spPr>
          <a:xfrm>
            <a:off x="1353312" y="4681728"/>
            <a:ext cx="4654296" cy="1280160"/>
          </a:xfrm>
          <a:prstGeom prst="rect">
            <a:avLst/>
          </a:prstGeom>
          <a:noFill/>
          <a:ln/>
        </p:spPr>
        <p:txBody>
          <a:bodyPr wrap="square" lIns="0" tIns="0" rIns="0" bIns="0" rtlCol="0" anchor="t"/>
          <a:lstStyle/>
          <a:p>
            <a:pPr indent="0" marL="0">
              <a:buNone/>
            </a:pPr>
            <a:r>
              <a:rPr lang="en-US" sz="1900" dirty="0">
                <a:solidFill>
                  <a:srgbClr val="475569"/>
                </a:solidFill>
                <a:latin typeface="Arial" pitchFamily="34" charset="0"/>
                <a:ea typeface="Arial" pitchFamily="34" charset="-122"/>
                <a:cs typeface="Arial" pitchFamily="34" charset="-120"/>
              </a:rPr>
              <a:t>Google Gemini · Scikit-learn · FLAML (Smart reasoning and automated machine learning)</a:t>
            </a:r>
            <a:endParaRPr lang="en-US" sz="1900" dirty="0"/>
          </a:p>
        </p:txBody>
      </p:sp>
      <p:sp>
        <p:nvSpPr>
          <p:cNvPr id="14" name="Shape 11"/>
          <p:cNvSpPr/>
          <p:nvPr/>
        </p:nvSpPr>
        <p:spPr>
          <a:xfrm>
            <a:off x="6473952" y="3995928"/>
            <a:ext cx="5166360" cy="2103120"/>
          </a:xfrm>
          <a:prstGeom prst="roundRect">
            <a:avLst>
              <a:gd name="adj" fmla="val 8696"/>
            </a:avLst>
          </a:prstGeom>
          <a:solidFill>
            <a:srgbClr val="F97316"/>
          </a:solidFill>
          <a:ln w="3175">
            <a:solidFill>
              <a:srgbClr val="F97316"/>
            </a:solidFill>
            <a:prstDash val="solid"/>
          </a:ln>
        </p:spPr>
        <p:txBody>
          <a:bodyPr/>
          <a:p/>
        </p:txBody>
      </p:sp>
      <p:sp>
        <p:nvSpPr>
          <p:cNvPr id="15" name="Text 12"/>
          <p:cNvSpPr txBox="1"/>
          <p:nvPr/>
        </p:nvSpPr>
        <p:spPr>
          <a:xfrm>
            <a:off x="6729984" y="4133088"/>
            <a:ext cx="4654296" cy="50292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Safety &amp; Sandboxing</a:t>
            </a:r>
            <a:endParaRPr lang="en-US" sz="2600" dirty="0"/>
          </a:p>
        </p:txBody>
      </p:sp>
      <p:sp>
        <p:nvSpPr>
          <p:cNvPr id="16" name="Text 13"/>
          <p:cNvSpPr txBox="1"/>
          <p:nvPr/>
        </p:nvSpPr>
        <p:spPr>
          <a:xfrm>
            <a:off x="6729984" y="4681728"/>
            <a:ext cx="4654296" cy="1280160"/>
          </a:xfrm>
          <a:prstGeom prst="rect">
            <a:avLst/>
          </a:prstGeom>
          <a:noFill/>
          <a:ln/>
        </p:spPr>
        <p:txBody>
          <a:bodyPr wrap="square" lIns="0" tIns="0" rIns="0" bIns="0" rtlCol="0" anchor="t"/>
          <a:lstStyle/>
          <a:p>
            <a:pPr indent="0" marL="0">
              <a:buNone/>
            </a:pPr>
            <a:r>
              <a:rPr lang="en-US" sz="1900" dirty="0">
                <a:solidFill>
                  <a:srgbClr val="FFF1E6"/>
                </a:solidFill>
                <a:latin typeface="Arial" pitchFamily="34" charset="0"/>
                <a:ea typeface="Arial" pitchFamily="34" charset="-122"/>
                <a:cs typeface="Arial" pitchFamily="34" charset="-120"/>
              </a:rPr>
              <a:t>Code Guardians &amp; Linux Sandboxing (Ensures calculations run safely with zero risk)</a:t>
            </a:r>
            <a:endParaRPr lang="en-US" sz="19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METHODOLOGY</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Connecting Your Data in Seconds</a:t>
            </a:r>
            <a:endParaRPr lang="en-US" sz="3200" dirty="0"/>
          </a:p>
        </p:txBody>
      </p:sp>
      <p:sp>
        <p:nvSpPr>
          <p:cNvPr id="5" name="Shape 2"/>
          <p:cNvSpPr/>
          <p:nvPr/>
        </p:nvSpPr>
        <p:spPr>
          <a:xfrm>
            <a:off x="1325880" y="2011680"/>
            <a:ext cx="0" cy="3154680"/>
          </a:xfrm>
          <a:prstGeom prst="line">
            <a:avLst/>
          </a:prstGeom>
          <a:noFill/>
          <a:ln w="38100">
            <a:solidFill>
              <a:srgbClr val="1D4ED8"/>
            </a:solidFill>
            <a:prstDash val="solid"/>
          </a:ln>
        </p:spPr>
        <p:txBody>
          <a:bodyPr/>
          <a:p/>
        </p:txBody>
      </p:sp>
      <p:sp>
        <p:nvSpPr>
          <p:cNvPr id="6" name="Shape 3"/>
          <p:cNvSpPr/>
          <p:nvPr/>
        </p:nvSpPr>
        <p:spPr>
          <a:xfrm>
            <a:off x="1216152" y="1920240"/>
            <a:ext cx="219456" cy="219456"/>
          </a:xfrm>
          <a:prstGeom prst="ellipse">
            <a:avLst/>
          </a:prstGeom>
          <a:solidFill>
            <a:srgbClr val="FFFFFF"/>
          </a:solidFill>
          <a:ln w="38100">
            <a:solidFill>
              <a:srgbClr val="F97316"/>
            </a:solidFill>
            <a:prstDash val="solid"/>
          </a:ln>
        </p:spPr>
        <p:txBody>
          <a:bodyPr/>
          <a:p/>
        </p:txBody>
      </p:sp>
      <p:sp>
        <p:nvSpPr>
          <p:cNvPr id="7" name="Text 4"/>
          <p:cNvSpPr txBox="1"/>
          <p:nvPr/>
        </p:nvSpPr>
        <p:spPr>
          <a:xfrm>
            <a:off x="1737360" y="1847088"/>
            <a:ext cx="5212080" cy="41148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Just Drag &amp; Drop</a:t>
            </a:r>
            <a:endParaRPr lang="en-US" sz="2200" dirty="0"/>
          </a:p>
        </p:txBody>
      </p:sp>
      <p:sp>
        <p:nvSpPr>
          <p:cNvPr id="8" name="Text 5"/>
          <p:cNvSpPr txBox="1"/>
          <p:nvPr/>
        </p:nvSpPr>
        <p:spPr>
          <a:xfrm>
            <a:off x="1737360" y="2267712"/>
            <a:ext cx="521208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Drop any Excel, CSV, or Parquet file, or connect live Google Sheets &amp; databases</a:t>
            </a:r>
            <a:endParaRPr lang="en-US" sz="1700" dirty="0"/>
          </a:p>
        </p:txBody>
      </p:sp>
      <p:sp>
        <p:nvSpPr>
          <p:cNvPr id="9" name="Shape 6"/>
          <p:cNvSpPr/>
          <p:nvPr/>
        </p:nvSpPr>
        <p:spPr>
          <a:xfrm>
            <a:off x="1216152" y="2971800"/>
            <a:ext cx="219456" cy="219456"/>
          </a:xfrm>
          <a:prstGeom prst="ellipse">
            <a:avLst/>
          </a:prstGeom>
          <a:solidFill>
            <a:srgbClr val="FFFFFF"/>
          </a:solidFill>
          <a:ln w="38100">
            <a:solidFill>
              <a:srgbClr val="F97316"/>
            </a:solidFill>
            <a:prstDash val="solid"/>
          </a:ln>
        </p:spPr>
        <p:txBody>
          <a:bodyPr/>
          <a:p/>
        </p:txBody>
      </p:sp>
      <p:sp>
        <p:nvSpPr>
          <p:cNvPr id="10" name="Text 7"/>
          <p:cNvSpPr txBox="1"/>
          <p:nvPr/>
        </p:nvSpPr>
        <p:spPr>
          <a:xfrm>
            <a:off x="1737360" y="2898648"/>
            <a:ext cx="5212080" cy="41148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Zero Setup Needed</a:t>
            </a:r>
            <a:endParaRPr lang="en-US" sz="2200" dirty="0"/>
          </a:p>
        </p:txBody>
      </p:sp>
      <p:sp>
        <p:nvSpPr>
          <p:cNvPr id="11" name="Text 8"/>
          <p:cNvSpPr txBox="1"/>
          <p:nvPr/>
        </p:nvSpPr>
        <p:spPr>
          <a:xfrm>
            <a:off x="1737360" y="3319272"/>
            <a:ext cx="521208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Automatically identifies file types, delimiters, and messy text encodings</a:t>
            </a:r>
            <a:endParaRPr lang="en-US" sz="1700" dirty="0"/>
          </a:p>
        </p:txBody>
      </p:sp>
      <p:sp>
        <p:nvSpPr>
          <p:cNvPr id="12" name="Shape 9"/>
          <p:cNvSpPr/>
          <p:nvPr/>
        </p:nvSpPr>
        <p:spPr>
          <a:xfrm>
            <a:off x="1216152" y="4023360"/>
            <a:ext cx="219456" cy="219456"/>
          </a:xfrm>
          <a:prstGeom prst="ellipse">
            <a:avLst/>
          </a:prstGeom>
          <a:solidFill>
            <a:srgbClr val="FFFFFF"/>
          </a:solidFill>
          <a:ln w="38100">
            <a:solidFill>
              <a:srgbClr val="F97316"/>
            </a:solidFill>
            <a:prstDash val="solid"/>
          </a:ln>
        </p:spPr>
        <p:txBody>
          <a:bodyPr/>
          <a:p/>
        </p:txBody>
      </p:sp>
      <p:sp>
        <p:nvSpPr>
          <p:cNvPr id="13" name="Text 10"/>
          <p:cNvSpPr txBox="1"/>
          <p:nvPr/>
        </p:nvSpPr>
        <p:spPr>
          <a:xfrm>
            <a:off x="1737360" y="3950208"/>
            <a:ext cx="5212080" cy="41148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Smart Column Recognition</a:t>
            </a:r>
            <a:endParaRPr lang="en-US" sz="2200" dirty="0"/>
          </a:p>
        </p:txBody>
      </p:sp>
      <p:sp>
        <p:nvSpPr>
          <p:cNvPr id="14" name="Text 11"/>
          <p:cNvSpPr txBox="1"/>
          <p:nvPr/>
        </p:nvSpPr>
        <p:spPr>
          <a:xfrm>
            <a:off x="1737360" y="4370832"/>
            <a:ext cx="521208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Instantly distinguishes dates, dollar amounts, percentages, and categories</a:t>
            </a:r>
            <a:endParaRPr lang="en-US" sz="1700" dirty="0"/>
          </a:p>
        </p:txBody>
      </p:sp>
      <p:sp>
        <p:nvSpPr>
          <p:cNvPr id="15" name="Shape 12"/>
          <p:cNvSpPr/>
          <p:nvPr/>
        </p:nvSpPr>
        <p:spPr>
          <a:xfrm>
            <a:off x="1216152" y="5074920"/>
            <a:ext cx="219456" cy="219456"/>
          </a:xfrm>
          <a:prstGeom prst="ellipse">
            <a:avLst/>
          </a:prstGeom>
          <a:solidFill>
            <a:srgbClr val="F97316"/>
          </a:solidFill>
          <a:ln w="38100">
            <a:solidFill>
              <a:srgbClr val="F97316"/>
            </a:solidFill>
            <a:prstDash val="solid"/>
          </a:ln>
        </p:spPr>
        <p:txBody>
          <a:bodyPr/>
          <a:p/>
        </p:txBody>
      </p:sp>
      <p:sp>
        <p:nvSpPr>
          <p:cNvPr id="16" name="Text 13"/>
          <p:cNvSpPr txBox="1"/>
          <p:nvPr/>
        </p:nvSpPr>
        <p:spPr>
          <a:xfrm>
            <a:off x="1737360" y="5001768"/>
            <a:ext cx="5212080" cy="41148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Over 60% Space Savings</a:t>
            </a:r>
            <a:endParaRPr lang="en-US" sz="2200" dirty="0"/>
          </a:p>
        </p:txBody>
      </p:sp>
      <p:sp>
        <p:nvSpPr>
          <p:cNvPr id="17" name="Text 14"/>
          <p:cNvSpPr txBox="1"/>
          <p:nvPr/>
        </p:nvSpPr>
        <p:spPr>
          <a:xfrm>
            <a:off x="1737360" y="5422392"/>
            <a:ext cx="521208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Compresses bulky files into ultra-fast snapshots for instant opening</a:t>
            </a:r>
            <a:endParaRPr lang="en-US" sz="1700" dirty="0"/>
          </a:p>
        </p:txBody>
      </p:sp>
      <p:sp>
        <p:nvSpPr>
          <p:cNvPr id="18" name="Text 15"/>
          <p:cNvSpPr txBox="1"/>
          <p:nvPr/>
        </p:nvSpPr>
        <p:spPr>
          <a:xfrm>
            <a:off x="1097280" y="5897880"/>
            <a:ext cx="5760720" cy="365760"/>
          </a:xfrm>
          <a:prstGeom prst="rect">
            <a:avLst/>
          </a:prstGeom>
          <a:noFill/>
          <a:ln/>
        </p:spPr>
        <p:txBody>
          <a:bodyPr wrap="square" lIns="0" tIns="0" rIns="0" bIns="0" rtlCol="0" anchor="t"/>
          <a:lstStyle/>
          <a:p>
            <a:pPr indent="0" marL="0">
              <a:buNone/>
            </a:pPr>
            <a:r>
              <a:rPr lang="en-US" sz="1400" i="1" dirty="0">
                <a:solidFill>
                  <a:srgbClr val="64748B"/>
                </a:solidFill>
                <a:latin typeface="Arial" pitchFamily="34" charset="0"/>
                <a:ea typeface="Arial" pitchFamily="34" charset="-122"/>
                <a:cs typeface="Arial" pitchFamily="34" charset="-120"/>
              </a:rPr>
              <a:t>Bank-level encryption protects your database passwords and private data</a:t>
            </a:r>
            <a:endParaRPr lang="en-US" sz="1400" dirty="0"/>
          </a:p>
        </p:txBody>
      </p:sp>
      <p:sp>
        <p:nvSpPr>
          <p:cNvPr id="19" name="Shape 16"/>
          <p:cNvSpPr/>
          <p:nvPr/>
        </p:nvSpPr>
        <p:spPr>
          <a:xfrm>
            <a:off x="7132320" y="1691640"/>
            <a:ext cx="4507992" cy="4389120"/>
          </a:xfrm>
          <a:prstGeom prst="roundRect">
            <a:avLst>
              <a:gd name="adj" fmla="val 3125"/>
            </a:avLst>
          </a:prstGeom>
          <a:solidFill>
            <a:srgbClr val="F0F5FF"/>
          </a:solidFill>
          <a:ln w="15875">
            <a:solidFill>
              <a:srgbClr val="1D4ED8"/>
            </a:solidFill>
            <a:prstDash val="dash"/>
          </a:ln>
        </p:spPr>
        <p:txBody>
          <a:bodyPr/>
          <a:p/>
        </p:txBody>
      </p:sp>
      <p:sp>
        <p:nvSpPr>
          <p:cNvPr id="20" name="Text 17"/>
          <p:cNvSpPr txBox="1"/>
          <p:nvPr/>
        </p:nvSpPr>
        <p:spPr>
          <a:xfrm>
            <a:off x="7132320" y="3200400"/>
            <a:ext cx="4507992" cy="640080"/>
          </a:xfrm>
          <a:prstGeom prst="rect">
            <a:avLst/>
          </a:prstGeom>
          <a:noFill/>
          <a:ln/>
        </p:spPr>
        <p:txBody>
          <a:bodyPr wrap="square" lIns="0" tIns="0" rIns="0" bIns="0" rtlCol="0" anchor="t"/>
          <a:lstStyle/>
          <a:p>
            <a:pPr algn="ctr" indent="0" marL="0">
              <a:buNone/>
            </a:pPr>
            <a:r>
              <a:rPr lang="en-US" sz="3400" dirty="0">
                <a:solidFill>
                  <a:srgbClr val="93B4F5"/>
                </a:solidFill>
                <a:latin typeface="Arial" pitchFamily="34" charset="0"/>
                <a:ea typeface="Arial" pitchFamily="34" charset="-122"/>
                <a:cs typeface="Arial" pitchFamily="34" charset="-120"/>
              </a:rPr>
              <a:t>▣</a:t>
            </a:r>
            <a:endParaRPr lang="en-US" sz="3400" dirty="0"/>
          </a:p>
        </p:txBody>
      </p:sp>
      <p:sp>
        <p:nvSpPr>
          <p:cNvPr id="21" name="Text 18"/>
          <p:cNvSpPr txBox="1"/>
          <p:nvPr/>
        </p:nvSpPr>
        <p:spPr>
          <a:xfrm>
            <a:off x="7132320" y="3886200"/>
            <a:ext cx="4507992" cy="27432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SCREENSHOT</a:t>
            </a:r>
            <a:endParaRPr lang="en-US" sz="1200" dirty="0"/>
          </a:p>
        </p:txBody>
      </p:sp>
      <p:sp>
        <p:nvSpPr>
          <p:cNvPr id="22" name="Text 19"/>
          <p:cNvSpPr txBox="1"/>
          <p:nvPr/>
        </p:nvSpPr>
        <p:spPr>
          <a:xfrm>
            <a:off x="7406640" y="4251960"/>
            <a:ext cx="3959352" cy="82296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Easy connection screen: upload a file or connect your database in 1 click</a:t>
            </a:r>
            <a:endParaRPr lang="en-US" sz="14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METHODOLOGY</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Automatic Data Cleaning with a Safety Net</a:t>
            </a:r>
            <a:endParaRPr lang="en-US" sz="3200" dirty="0"/>
          </a:p>
        </p:txBody>
      </p:sp>
      <p:sp>
        <p:nvSpPr>
          <p:cNvPr id="5" name="Text 2"/>
          <p:cNvSpPr txBox="1"/>
          <p:nvPr/>
        </p:nvSpPr>
        <p:spPr>
          <a:xfrm>
            <a:off x="1097280" y="1691640"/>
            <a:ext cx="5760720" cy="548640"/>
          </a:xfrm>
          <a:prstGeom prst="rect">
            <a:avLst/>
          </a:prstGeom>
          <a:noFill/>
          <a:ln/>
        </p:spPr>
        <p:txBody>
          <a:bodyPr wrap="square" lIns="0" tIns="0" rIns="0" bIns="0" rtlCol="0" anchor="t"/>
          <a:lstStyle/>
          <a:p>
            <a:pPr indent="0" marL="0">
              <a:buNone/>
            </a:pPr>
            <a:r>
              <a:rPr lang="en-US" sz="1600" dirty="0">
                <a:solidFill>
                  <a:srgbClr val="64748B"/>
                </a:solidFill>
                <a:latin typeface="Arial" pitchFamily="34" charset="0"/>
                <a:ea typeface="Arial" pitchFamily="34" charset="-122"/>
                <a:cs typeface="Arial" pitchFamily="34" charset="-120"/>
              </a:rPr>
              <a:t>Fixes: Empty cells · weird error codes (N/A, −999) · duplicate entries · crazy outliers</a:t>
            </a:r>
            <a:endParaRPr lang="en-US" sz="1600" dirty="0"/>
          </a:p>
        </p:txBody>
      </p:sp>
      <p:sp>
        <p:nvSpPr>
          <p:cNvPr id="6" name="Shape 3"/>
          <p:cNvSpPr/>
          <p:nvPr/>
        </p:nvSpPr>
        <p:spPr>
          <a:xfrm>
            <a:off x="1325880" y="2606040"/>
            <a:ext cx="0" cy="2743200"/>
          </a:xfrm>
          <a:prstGeom prst="line">
            <a:avLst/>
          </a:prstGeom>
          <a:noFill/>
          <a:ln w="38100">
            <a:solidFill>
              <a:srgbClr val="1D4ED8"/>
            </a:solidFill>
            <a:prstDash val="solid"/>
          </a:ln>
        </p:spPr>
        <p:txBody>
          <a:bodyPr/>
          <a:p/>
        </p:txBody>
      </p:sp>
      <p:sp>
        <p:nvSpPr>
          <p:cNvPr id="7" name="Shape 4"/>
          <p:cNvSpPr/>
          <p:nvPr/>
        </p:nvSpPr>
        <p:spPr>
          <a:xfrm>
            <a:off x="1216152" y="2514600"/>
            <a:ext cx="219456" cy="219456"/>
          </a:xfrm>
          <a:prstGeom prst="ellipse">
            <a:avLst/>
          </a:prstGeom>
          <a:solidFill>
            <a:srgbClr val="FFFFFF"/>
          </a:solidFill>
          <a:ln w="38100">
            <a:solidFill>
              <a:srgbClr val="F97316"/>
            </a:solidFill>
            <a:prstDash val="solid"/>
          </a:ln>
        </p:spPr>
        <p:txBody>
          <a:bodyPr/>
          <a:p/>
        </p:txBody>
      </p:sp>
      <p:sp>
        <p:nvSpPr>
          <p:cNvPr id="8" name="Text 5"/>
          <p:cNvSpPr txBox="1"/>
          <p:nvPr/>
        </p:nvSpPr>
        <p:spPr>
          <a:xfrm>
            <a:off x="1737360" y="2441448"/>
            <a:ext cx="5212080" cy="41148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Smart Column Detection</a:t>
            </a:r>
            <a:endParaRPr lang="en-US" sz="2200" dirty="0"/>
          </a:p>
        </p:txBody>
      </p:sp>
      <p:sp>
        <p:nvSpPr>
          <p:cNvPr id="9" name="Text 6"/>
          <p:cNvSpPr txBox="1"/>
          <p:nvPr/>
        </p:nvSpPr>
        <p:spPr>
          <a:xfrm>
            <a:off x="1737360" y="2862072"/>
            <a:ext cx="521208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Recognizes numbers stored as text and corrects them automatically</a:t>
            </a:r>
            <a:endParaRPr lang="en-US" sz="1700" dirty="0"/>
          </a:p>
        </p:txBody>
      </p:sp>
      <p:sp>
        <p:nvSpPr>
          <p:cNvPr id="10" name="Shape 7"/>
          <p:cNvSpPr/>
          <p:nvPr/>
        </p:nvSpPr>
        <p:spPr>
          <a:xfrm>
            <a:off x="1216152" y="3429000"/>
            <a:ext cx="219456" cy="219456"/>
          </a:xfrm>
          <a:prstGeom prst="ellipse">
            <a:avLst/>
          </a:prstGeom>
          <a:solidFill>
            <a:srgbClr val="FFFFFF"/>
          </a:solidFill>
          <a:ln w="38100">
            <a:solidFill>
              <a:srgbClr val="F97316"/>
            </a:solidFill>
            <a:prstDash val="solid"/>
          </a:ln>
        </p:spPr>
        <p:txBody>
          <a:bodyPr/>
          <a:p/>
        </p:txBody>
      </p:sp>
      <p:sp>
        <p:nvSpPr>
          <p:cNvPr id="11" name="Text 8"/>
          <p:cNvSpPr txBox="1"/>
          <p:nvPr/>
        </p:nvSpPr>
        <p:spPr>
          <a:xfrm>
            <a:off x="1737360" y="3355848"/>
            <a:ext cx="5212080" cy="41148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Intelligent Auto-Fill</a:t>
            </a:r>
            <a:endParaRPr lang="en-US" sz="2200" dirty="0"/>
          </a:p>
        </p:txBody>
      </p:sp>
      <p:sp>
        <p:nvSpPr>
          <p:cNvPr id="12" name="Text 9"/>
          <p:cNvSpPr txBox="1"/>
          <p:nvPr/>
        </p:nvSpPr>
        <p:spPr>
          <a:xfrm>
            <a:off x="1737360" y="3776472"/>
            <a:ext cx="521208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Fills in blank cells using realistic averages and smart category matching</a:t>
            </a:r>
            <a:endParaRPr lang="en-US" sz="1700" dirty="0"/>
          </a:p>
        </p:txBody>
      </p:sp>
      <p:sp>
        <p:nvSpPr>
          <p:cNvPr id="13" name="Shape 10"/>
          <p:cNvSpPr/>
          <p:nvPr/>
        </p:nvSpPr>
        <p:spPr>
          <a:xfrm>
            <a:off x="1216152" y="4343400"/>
            <a:ext cx="219456" cy="219456"/>
          </a:xfrm>
          <a:prstGeom prst="ellipse">
            <a:avLst/>
          </a:prstGeom>
          <a:solidFill>
            <a:srgbClr val="FFFFFF"/>
          </a:solidFill>
          <a:ln w="38100">
            <a:solidFill>
              <a:srgbClr val="F97316"/>
            </a:solidFill>
            <a:prstDash val="solid"/>
          </a:ln>
        </p:spPr>
        <p:txBody>
          <a:bodyPr/>
          <a:p/>
        </p:txBody>
      </p:sp>
      <p:sp>
        <p:nvSpPr>
          <p:cNvPr id="14" name="Text 11"/>
          <p:cNvSpPr txBox="1"/>
          <p:nvPr/>
        </p:nvSpPr>
        <p:spPr>
          <a:xfrm>
            <a:off x="1737360" y="4270248"/>
            <a:ext cx="5212080" cy="41148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Outlier Protection</a:t>
            </a:r>
            <a:endParaRPr lang="en-US" sz="2200" dirty="0"/>
          </a:p>
        </p:txBody>
      </p:sp>
      <p:sp>
        <p:nvSpPr>
          <p:cNvPr id="15" name="Text 12"/>
          <p:cNvSpPr txBox="1"/>
          <p:nvPr/>
        </p:nvSpPr>
        <p:spPr>
          <a:xfrm>
            <a:off x="1737360" y="4690872"/>
            <a:ext cx="521208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Caps extreme typo spikes so they don't corrupt your charts or averages</a:t>
            </a:r>
            <a:endParaRPr lang="en-US" sz="1700" dirty="0"/>
          </a:p>
        </p:txBody>
      </p:sp>
      <p:sp>
        <p:nvSpPr>
          <p:cNvPr id="16" name="Shape 13"/>
          <p:cNvSpPr/>
          <p:nvPr/>
        </p:nvSpPr>
        <p:spPr>
          <a:xfrm>
            <a:off x="1216152" y="5257800"/>
            <a:ext cx="219456" cy="219456"/>
          </a:xfrm>
          <a:prstGeom prst="ellipse">
            <a:avLst/>
          </a:prstGeom>
          <a:solidFill>
            <a:srgbClr val="F97316"/>
          </a:solidFill>
          <a:ln w="38100">
            <a:solidFill>
              <a:srgbClr val="F97316"/>
            </a:solidFill>
            <a:prstDash val="solid"/>
          </a:ln>
        </p:spPr>
        <p:txBody>
          <a:bodyPr/>
          <a:p/>
        </p:txBody>
      </p:sp>
      <p:sp>
        <p:nvSpPr>
          <p:cNvPr id="17" name="Text 14"/>
          <p:cNvSpPr txBox="1"/>
          <p:nvPr/>
        </p:nvSpPr>
        <p:spPr>
          <a:xfrm>
            <a:off x="1737360" y="5184648"/>
            <a:ext cx="5212080" cy="41148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Fearless 1-Click Undo</a:t>
            </a:r>
            <a:endParaRPr lang="en-US" sz="2200" dirty="0"/>
          </a:p>
        </p:txBody>
      </p:sp>
      <p:sp>
        <p:nvSpPr>
          <p:cNvPr id="18" name="Text 15"/>
          <p:cNvSpPr txBox="1"/>
          <p:nvPr/>
        </p:nvSpPr>
        <p:spPr>
          <a:xfrm>
            <a:off x="1737360" y="5605272"/>
            <a:ext cx="521208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Every change is remembered; revert any action with a single click</a:t>
            </a:r>
            <a:endParaRPr lang="en-US" sz="1700" dirty="0"/>
          </a:p>
        </p:txBody>
      </p:sp>
      <p:sp>
        <p:nvSpPr>
          <p:cNvPr id="19" name="Shape 16"/>
          <p:cNvSpPr/>
          <p:nvPr/>
        </p:nvSpPr>
        <p:spPr>
          <a:xfrm>
            <a:off x="7132320" y="1691640"/>
            <a:ext cx="4507992" cy="4389120"/>
          </a:xfrm>
          <a:prstGeom prst="roundRect">
            <a:avLst>
              <a:gd name="adj" fmla="val 3125"/>
            </a:avLst>
          </a:prstGeom>
          <a:solidFill>
            <a:srgbClr val="F0F5FF"/>
          </a:solidFill>
          <a:ln w="15875">
            <a:solidFill>
              <a:srgbClr val="1D4ED8"/>
            </a:solidFill>
            <a:prstDash val="dash"/>
          </a:ln>
        </p:spPr>
        <p:txBody>
          <a:bodyPr/>
          <a:p/>
        </p:txBody>
      </p:sp>
      <p:sp>
        <p:nvSpPr>
          <p:cNvPr id="20" name="Text 17"/>
          <p:cNvSpPr txBox="1"/>
          <p:nvPr/>
        </p:nvSpPr>
        <p:spPr>
          <a:xfrm>
            <a:off x="7132320" y="3200400"/>
            <a:ext cx="4507992" cy="640080"/>
          </a:xfrm>
          <a:prstGeom prst="rect">
            <a:avLst/>
          </a:prstGeom>
          <a:noFill/>
          <a:ln/>
        </p:spPr>
        <p:txBody>
          <a:bodyPr wrap="square" lIns="0" tIns="0" rIns="0" bIns="0" rtlCol="0" anchor="t"/>
          <a:lstStyle/>
          <a:p>
            <a:pPr algn="ctr" indent="0" marL="0">
              <a:buNone/>
            </a:pPr>
            <a:r>
              <a:rPr lang="en-US" sz="3400" dirty="0">
                <a:solidFill>
                  <a:srgbClr val="93B4F5"/>
                </a:solidFill>
                <a:latin typeface="Arial" pitchFamily="34" charset="0"/>
                <a:ea typeface="Arial" pitchFamily="34" charset="-122"/>
                <a:cs typeface="Arial" pitchFamily="34" charset="-120"/>
              </a:rPr>
              <a:t>▣</a:t>
            </a:r>
            <a:endParaRPr lang="en-US" sz="3400" dirty="0"/>
          </a:p>
        </p:txBody>
      </p:sp>
      <p:sp>
        <p:nvSpPr>
          <p:cNvPr id="21" name="Text 18"/>
          <p:cNvSpPr txBox="1"/>
          <p:nvPr/>
        </p:nvSpPr>
        <p:spPr>
          <a:xfrm>
            <a:off x="7132320" y="3886200"/>
            <a:ext cx="4507992" cy="27432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SCREENSHOT</a:t>
            </a:r>
            <a:endParaRPr lang="en-US" sz="1200" dirty="0"/>
          </a:p>
        </p:txBody>
      </p:sp>
      <p:sp>
        <p:nvSpPr>
          <p:cNvPr id="22" name="Text 19"/>
          <p:cNvSpPr txBox="1"/>
          <p:nvPr/>
        </p:nvSpPr>
        <p:spPr>
          <a:xfrm>
            <a:off x="7406640" y="4251960"/>
            <a:ext cx="3959352" cy="82296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Before &amp; after preview: see exactly what was fixed before you accept it</a:t>
            </a:r>
            <a:endParaRPr lang="en-US" sz="14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METHODOLOGY</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Your Personal Team of Digital Data Specialists</a:t>
            </a:r>
            <a:endParaRPr lang="en-US" sz="3200" dirty="0"/>
          </a:p>
        </p:txBody>
      </p:sp>
      <p:sp>
        <p:nvSpPr>
          <p:cNvPr id="5" name="Shape 2"/>
          <p:cNvSpPr/>
          <p:nvPr/>
        </p:nvSpPr>
        <p:spPr>
          <a:xfrm>
            <a:off x="1097280" y="1691640"/>
            <a:ext cx="2194560" cy="914400"/>
          </a:xfrm>
          <a:prstGeom prst="roundRect">
            <a:avLst>
              <a:gd name="adj" fmla="val 15000"/>
            </a:avLst>
          </a:prstGeom>
          <a:solidFill>
            <a:srgbClr val="F0F5FF"/>
          </a:solidFill>
          <a:ln w="3175">
            <a:solidFill>
              <a:srgbClr val="F0F5FF"/>
            </a:solidFill>
            <a:prstDash val="solid"/>
          </a:ln>
        </p:spPr>
        <p:txBody>
          <a:bodyPr/>
          <a:p/>
        </p:txBody>
      </p:sp>
      <p:sp>
        <p:nvSpPr>
          <p:cNvPr id="6" name="Text 3"/>
          <p:cNvSpPr txBox="1"/>
          <p:nvPr/>
        </p:nvSpPr>
        <p:spPr>
          <a:xfrm>
            <a:off x="1188720" y="1764792"/>
            <a:ext cx="2011680" cy="457200"/>
          </a:xfrm>
          <a:prstGeom prst="rect">
            <a:avLst/>
          </a:prstGeom>
          <a:noFill/>
          <a:ln/>
        </p:spPr>
        <p:txBody>
          <a:bodyPr wrap="square" lIns="0" tIns="0" rIns="0" bIns="0" rtlCol="0" anchor="b"/>
          <a:lstStyle/>
          <a:p>
            <a:pPr algn="ctr" indent="0" marL="0">
              <a:buNone/>
            </a:pPr>
            <a:r>
              <a:rPr lang="en-US" sz="1800" b="1" dirty="0">
                <a:solidFill>
                  <a:srgbClr val="1E3A8A"/>
                </a:solidFill>
                <a:latin typeface="Arial" pitchFamily="34" charset="0"/>
                <a:ea typeface="Arial" pitchFamily="34" charset="-122"/>
                <a:cs typeface="Arial" pitchFamily="34" charset="-120"/>
              </a:rPr>
              <a:t>User question</a:t>
            </a:r>
            <a:endParaRPr lang="en-US" sz="1800" dirty="0"/>
          </a:p>
        </p:txBody>
      </p:sp>
      <p:sp>
        <p:nvSpPr>
          <p:cNvPr id="7" name="Text 4"/>
          <p:cNvSpPr txBox="1"/>
          <p:nvPr/>
        </p:nvSpPr>
        <p:spPr>
          <a:xfrm>
            <a:off x="1188720" y="2240280"/>
            <a:ext cx="2011680" cy="384048"/>
          </a:xfrm>
          <a:prstGeom prst="rect">
            <a:avLst/>
          </a:prstGeom>
          <a:noFill/>
          <a:ln/>
        </p:spPr>
        <p:txBody>
          <a:bodyPr wrap="square" lIns="0" tIns="0" rIns="0" bIns="0" rtlCol="0" anchor="t"/>
          <a:lstStyle/>
          <a:p>
            <a:pPr algn="ctr" indent="0" marL="0">
              <a:buNone/>
            </a:pPr>
            <a:r>
              <a:rPr lang="en-US" sz="1400" dirty="0">
                <a:solidFill>
                  <a:srgbClr val="475569"/>
                </a:solidFill>
                <a:latin typeface="Arial" pitchFamily="34" charset="0"/>
                <a:ea typeface="Arial" pitchFamily="34" charset="-122"/>
                <a:cs typeface="Arial" pitchFamily="34" charset="-120"/>
              </a:rPr>
              <a:t>Asked in everyday English</a:t>
            </a:r>
            <a:endParaRPr lang="en-US" sz="1400" dirty="0"/>
          </a:p>
        </p:txBody>
      </p:sp>
      <p:sp>
        <p:nvSpPr>
          <p:cNvPr id="8" name="Shape 5"/>
          <p:cNvSpPr/>
          <p:nvPr/>
        </p:nvSpPr>
        <p:spPr>
          <a:xfrm>
            <a:off x="3291840" y="2148840"/>
            <a:ext cx="365760" cy="0"/>
          </a:xfrm>
          <a:prstGeom prst="line">
            <a:avLst/>
          </a:prstGeom>
          <a:noFill/>
          <a:ln w="12700">
            <a:solidFill>
              <a:srgbClr val="1D4ED8"/>
            </a:solidFill>
            <a:prstDash val="solid"/>
          </a:ln>
        </p:spPr>
        <p:txBody>
          <a:bodyPr/>
          <a:p/>
        </p:txBody>
      </p:sp>
      <p:sp>
        <p:nvSpPr>
          <p:cNvPr id="9" name="Shape 6"/>
          <p:cNvSpPr/>
          <p:nvPr/>
        </p:nvSpPr>
        <p:spPr>
          <a:xfrm>
            <a:off x="3657600" y="1691640"/>
            <a:ext cx="4846320" cy="914400"/>
          </a:xfrm>
          <a:prstGeom prst="roundRect">
            <a:avLst>
              <a:gd name="adj" fmla="val 15000"/>
            </a:avLst>
          </a:prstGeom>
          <a:solidFill>
            <a:srgbClr val="1D4ED8"/>
          </a:solidFill>
          <a:ln w="3175">
            <a:solidFill>
              <a:srgbClr val="1D4ED8"/>
            </a:solidFill>
            <a:prstDash val="solid"/>
          </a:ln>
        </p:spPr>
        <p:txBody>
          <a:bodyPr/>
          <a:p/>
        </p:txBody>
      </p:sp>
      <p:sp>
        <p:nvSpPr>
          <p:cNvPr id="10" name="Text 7"/>
          <p:cNvSpPr txBox="1"/>
          <p:nvPr/>
        </p:nvSpPr>
        <p:spPr>
          <a:xfrm>
            <a:off x="3749040" y="1764792"/>
            <a:ext cx="4663440" cy="457200"/>
          </a:xfrm>
          <a:prstGeom prst="rect">
            <a:avLst/>
          </a:prstGeom>
          <a:noFill/>
          <a:ln/>
        </p:spPr>
        <p:txBody>
          <a:bodyPr wrap="square" lIns="0" tIns="0" rIns="0" bIns="0" rtlCol="0" anchor="b"/>
          <a:lstStyle/>
          <a:p>
            <a:pPr algn="ctr" indent="0" marL="0">
              <a:buNone/>
            </a:pPr>
            <a:r>
              <a:rPr lang="en-US" sz="2100" b="1" dirty="0">
                <a:solidFill>
                  <a:srgbClr val="FFFFFF"/>
                </a:solidFill>
                <a:latin typeface="Arial" pitchFamily="34" charset="0"/>
                <a:ea typeface="Arial" pitchFamily="34" charset="-122"/>
                <a:cs typeface="Arial" pitchFamily="34" charset="-120"/>
              </a:rPr>
              <a:t>Chief Coordinator</a:t>
            </a:r>
            <a:endParaRPr lang="en-US" sz="2100" dirty="0"/>
          </a:p>
        </p:txBody>
      </p:sp>
      <p:sp>
        <p:nvSpPr>
          <p:cNvPr id="11" name="Text 8"/>
          <p:cNvSpPr txBox="1"/>
          <p:nvPr/>
        </p:nvSpPr>
        <p:spPr>
          <a:xfrm>
            <a:off x="3749040" y="2240280"/>
            <a:ext cx="4663440" cy="384048"/>
          </a:xfrm>
          <a:prstGeom prst="rect">
            <a:avLst/>
          </a:prstGeom>
          <a:noFill/>
          <a:ln/>
        </p:spPr>
        <p:txBody>
          <a:bodyPr wrap="square" lIns="0" tIns="0" rIns="0" bIns="0" rtlCol="0" anchor="t"/>
          <a:lstStyle/>
          <a:p>
            <a:pPr algn="ctr" indent="0" marL="0">
              <a:buNone/>
            </a:pPr>
            <a:r>
              <a:rPr lang="en-US" sz="1500" dirty="0">
                <a:solidFill>
                  <a:srgbClr val="D6E4FF"/>
                </a:solidFill>
                <a:latin typeface="Arial" pitchFamily="34" charset="0"/>
                <a:ea typeface="Arial" pitchFamily="34" charset="-122"/>
                <a:cs typeface="Arial" pitchFamily="34" charset="-120"/>
              </a:rPr>
              <a:t>Understands what you need &amp; delegates to experts</a:t>
            </a:r>
            <a:endParaRPr lang="en-US" sz="1500" dirty="0"/>
          </a:p>
        </p:txBody>
      </p:sp>
      <p:sp>
        <p:nvSpPr>
          <p:cNvPr id="12" name="Shape 9"/>
          <p:cNvSpPr/>
          <p:nvPr/>
        </p:nvSpPr>
        <p:spPr>
          <a:xfrm>
            <a:off x="8503920" y="2148840"/>
            <a:ext cx="365760" cy="0"/>
          </a:xfrm>
          <a:prstGeom prst="line">
            <a:avLst/>
          </a:prstGeom>
          <a:noFill/>
          <a:ln w="12700">
            <a:solidFill>
              <a:srgbClr val="1D4ED8"/>
            </a:solidFill>
            <a:prstDash val="solid"/>
          </a:ln>
        </p:spPr>
        <p:txBody>
          <a:bodyPr/>
          <a:p/>
        </p:txBody>
      </p:sp>
      <p:sp>
        <p:nvSpPr>
          <p:cNvPr id="13" name="Shape 10"/>
          <p:cNvSpPr/>
          <p:nvPr/>
        </p:nvSpPr>
        <p:spPr>
          <a:xfrm>
            <a:off x="8869680" y="1691640"/>
            <a:ext cx="2770632" cy="914400"/>
          </a:xfrm>
          <a:prstGeom prst="roundRect">
            <a:avLst>
              <a:gd name="adj" fmla="val 15000"/>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14" name="Text 11"/>
          <p:cNvSpPr txBox="1"/>
          <p:nvPr/>
        </p:nvSpPr>
        <p:spPr>
          <a:xfrm>
            <a:off x="8961120" y="1764792"/>
            <a:ext cx="2587752" cy="457200"/>
          </a:xfrm>
          <a:prstGeom prst="rect">
            <a:avLst/>
          </a:prstGeom>
          <a:noFill/>
          <a:ln/>
        </p:spPr>
        <p:txBody>
          <a:bodyPr wrap="square" lIns="0" tIns="0" rIns="0" bIns="0" rtlCol="0" anchor="b"/>
          <a:lstStyle/>
          <a:p>
            <a:pPr algn="ctr" indent="0" marL="0">
              <a:buNone/>
            </a:pPr>
            <a:r>
              <a:rPr lang="en-US" sz="1800" b="1" dirty="0">
                <a:solidFill>
                  <a:srgbClr val="1E3A8A"/>
                </a:solidFill>
                <a:latin typeface="Arial" pitchFamily="34" charset="0"/>
                <a:ea typeface="Arial" pitchFamily="34" charset="-122"/>
                <a:cs typeface="Arial" pitchFamily="34" charset="-120"/>
              </a:rPr>
              <a:t>Instant Fast-Path</a:t>
            </a:r>
            <a:endParaRPr lang="en-US" sz="1800" dirty="0"/>
          </a:p>
        </p:txBody>
      </p:sp>
      <p:sp>
        <p:nvSpPr>
          <p:cNvPr id="15" name="Text 12"/>
          <p:cNvSpPr txBox="1"/>
          <p:nvPr/>
        </p:nvSpPr>
        <p:spPr>
          <a:xfrm>
            <a:off x="8961120" y="2240280"/>
            <a:ext cx="2587752" cy="384048"/>
          </a:xfrm>
          <a:prstGeom prst="rect">
            <a:avLst/>
          </a:prstGeom>
          <a:noFill/>
          <a:ln/>
        </p:spPr>
        <p:txBody>
          <a:bodyPr wrap="square" lIns="0" tIns="0" rIns="0" bIns="0" rtlCol="0" anchor="t"/>
          <a:lstStyle/>
          <a:p>
            <a:pPr algn="ctr" indent="0" marL="0">
              <a:buNone/>
            </a:pPr>
            <a:r>
              <a:rPr lang="en-US" sz="1400" dirty="0">
                <a:solidFill>
                  <a:srgbClr val="475569"/>
                </a:solidFill>
                <a:latin typeface="Arial" pitchFamily="34" charset="0"/>
                <a:ea typeface="Arial" pitchFamily="34" charset="-122"/>
                <a:cs typeface="Arial" pitchFamily="34" charset="-120"/>
              </a:rPr>
              <a:t>Instant answers for common basic questions</a:t>
            </a:r>
            <a:endParaRPr lang="en-US" sz="1400" dirty="0"/>
          </a:p>
        </p:txBody>
      </p:sp>
      <p:sp>
        <p:nvSpPr>
          <p:cNvPr id="16" name="Shape 13"/>
          <p:cNvSpPr/>
          <p:nvPr/>
        </p:nvSpPr>
        <p:spPr>
          <a:xfrm>
            <a:off x="6080760" y="2606040"/>
            <a:ext cx="0" cy="274320"/>
          </a:xfrm>
          <a:prstGeom prst="line">
            <a:avLst/>
          </a:prstGeom>
          <a:noFill/>
          <a:ln w="12700">
            <a:solidFill>
              <a:srgbClr val="1D4ED8"/>
            </a:solidFill>
            <a:prstDash val="solid"/>
          </a:ln>
        </p:spPr>
        <p:txBody>
          <a:bodyPr/>
          <a:p/>
        </p:txBody>
      </p:sp>
      <p:sp>
        <p:nvSpPr>
          <p:cNvPr id="17" name="Shape 14"/>
          <p:cNvSpPr/>
          <p:nvPr/>
        </p:nvSpPr>
        <p:spPr>
          <a:xfrm>
            <a:off x="2078431" y="2880360"/>
            <a:ext cx="8580730" cy="0"/>
          </a:xfrm>
          <a:prstGeom prst="line">
            <a:avLst/>
          </a:prstGeom>
          <a:noFill/>
          <a:ln w="12700">
            <a:solidFill>
              <a:srgbClr val="1D4ED8"/>
            </a:solidFill>
            <a:prstDash val="solid"/>
          </a:ln>
        </p:spPr>
        <p:txBody>
          <a:bodyPr/>
          <a:p/>
        </p:txBody>
      </p:sp>
      <p:sp>
        <p:nvSpPr>
          <p:cNvPr id="18" name="Shape 15"/>
          <p:cNvSpPr/>
          <p:nvPr/>
        </p:nvSpPr>
        <p:spPr>
          <a:xfrm>
            <a:off x="2078431" y="2880360"/>
            <a:ext cx="0" cy="182880"/>
          </a:xfrm>
          <a:prstGeom prst="line">
            <a:avLst/>
          </a:prstGeom>
          <a:noFill/>
          <a:ln w="12700">
            <a:solidFill>
              <a:srgbClr val="1D4ED8"/>
            </a:solidFill>
            <a:prstDash val="solid"/>
          </a:ln>
        </p:spPr>
        <p:txBody>
          <a:bodyPr/>
          <a:p/>
        </p:txBody>
      </p:sp>
      <p:sp>
        <p:nvSpPr>
          <p:cNvPr id="19" name="Shape 16"/>
          <p:cNvSpPr/>
          <p:nvPr/>
        </p:nvSpPr>
        <p:spPr>
          <a:xfrm>
            <a:off x="1097280" y="3063240"/>
            <a:ext cx="1962302" cy="1188720"/>
          </a:xfrm>
          <a:prstGeom prst="roundRect">
            <a:avLst>
              <a:gd name="adj" fmla="val 11538"/>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20" name="Text 17"/>
          <p:cNvSpPr txBox="1"/>
          <p:nvPr/>
        </p:nvSpPr>
        <p:spPr>
          <a:xfrm>
            <a:off x="1188720" y="3136392"/>
            <a:ext cx="1779422" cy="594360"/>
          </a:xfrm>
          <a:prstGeom prst="rect">
            <a:avLst/>
          </a:prstGeom>
          <a:noFill/>
          <a:ln/>
        </p:spPr>
        <p:txBody>
          <a:bodyPr wrap="square" lIns="0" tIns="0" rIns="0" bIns="0" rtlCol="0" anchor="b"/>
          <a:lstStyle/>
          <a:p>
            <a:pPr algn="ctr" indent="0" marL="0">
              <a:buNone/>
            </a:pPr>
            <a:r>
              <a:rPr lang="en-US" sz="2000" b="1" dirty="0">
                <a:solidFill>
                  <a:srgbClr val="1E3A8A"/>
                </a:solidFill>
                <a:latin typeface="Arial" pitchFamily="34" charset="0"/>
                <a:ea typeface="Arial" pitchFamily="34" charset="-122"/>
                <a:cs typeface="Arial" pitchFamily="34" charset="-120"/>
              </a:rPr>
              <a:t>Cleaner</a:t>
            </a:r>
            <a:endParaRPr lang="en-US" sz="2000" dirty="0"/>
          </a:p>
        </p:txBody>
      </p:sp>
      <p:sp>
        <p:nvSpPr>
          <p:cNvPr id="21" name="Text 18"/>
          <p:cNvSpPr txBox="1"/>
          <p:nvPr/>
        </p:nvSpPr>
        <p:spPr>
          <a:xfrm>
            <a:off x="1188720" y="3749040"/>
            <a:ext cx="1779422" cy="499262"/>
          </a:xfrm>
          <a:prstGeom prst="rect">
            <a:avLst/>
          </a:prstGeom>
          <a:noFill/>
          <a:ln/>
        </p:spPr>
        <p:txBody>
          <a:bodyPr wrap="square" lIns="0" tIns="0" rIns="0" bIns="0" rtlCol="0" anchor="t"/>
          <a:lstStyle/>
          <a:p>
            <a:pPr algn="ctr" indent="0" marL="0">
              <a:buNone/>
            </a:pPr>
            <a:r>
              <a:rPr lang="en-US" sz="1400" dirty="0">
                <a:solidFill>
                  <a:srgbClr val="475569"/>
                </a:solidFill>
                <a:latin typeface="Arial" pitchFamily="34" charset="0"/>
                <a:ea typeface="Arial" pitchFamily="34" charset="-122"/>
                <a:cs typeface="Arial" pitchFamily="34" charset="-120"/>
              </a:rPr>
              <a:t>Audits &amp; fixes messy data</a:t>
            </a:r>
            <a:endParaRPr lang="en-US" sz="1400" dirty="0"/>
          </a:p>
        </p:txBody>
      </p:sp>
      <p:sp>
        <p:nvSpPr>
          <p:cNvPr id="22" name="Shape 19"/>
          <p:cNvSpPr/>
          <p:nvPr/>
        </p:nvSpPr>
        <p:spPr>
          <a:xfrm>
            <a:off x="4223614" y="2880360"/>
            <a:ext cx="0" cy="182880"/>
          </a:xfrm>
          <a:prstGeom prst="line">
            <a:avLst/>
          </a:prstGeom>
          <a:noFill/>
          <a:ln w="12700">
            <a:solidFill>
              <a:srgbClr val="1D4ED8"/>
            </a:solidFill>
            <a:prstDash val="solid"/>
          </a:ln>
        </p:spPr>
        <p:txBody>
          <a:bodyPr/>
          <a:p/>
        </p:txBody>
      </p:sp>
      <p:sp>
        <p:nvSpPr>
          <p:cNvPr id="23" name="Shape 20"/>
          <p:cNvSpPr/>
          <p:nvPr/>
        </p:nvSpPr>
        <p:spPr>
          <a:xfrm>
            <a:off x="3242462" y="3063240"/>
            <a:ext cx="1962302" cy="1188720"/>
          </a:xfrm>
          <a:prstGeom prst="roundRect">
            <a:avLst>
              <a:gd name="adj" fmla="val 11538"/>
            </a:avLst>
          </a:prstGeom>
          <a:solidFill>
            <a:srgbClr val="1D4ED8"/>
          </a:solidFill>
          <a:ln w="3175">
            <a:solidFill>
              <a:srgbClr val="1D4ED8"/>
            </a:solidFill>
            <a:prstDash val="solid"/>
          </a:ln>
        </p:spPr>
        <p:txBody>
          <a:bodyPr/>
          <a:p/>
        </p:txBody>
      </p:sp>
      <p:sp>
        <p:nvSpPr>
          <p:cNvPr id="24" name="Text 21"/>
          <p:cNvSpPr txBox="1"/>
          <p:nvPr/>
        </p:nvSpPr>
        <p:spPr>
          <a:xfrm>
            <a:off x="3333902" y="3136392"/>
            <a:ext cx="1779422" cy="594360"/>
          </a:xfrm>
          <a:prstGeom prst="rect">
            <a:avLst/>
          </a:prstGeom>
          <a:noFill/>
          <a:ln/>
        </p:spPr>
        <p:txBody>
          <a:bodyPr wrap="square" lIns="0" tIns="0" rIns="0" bIns="0" rtlCol="0" anchor="b"/>
          <a:lstStyle/>
          <a:p>
            <a:pPr algn="ctr" indent="0" marL="0">
              <a:buNone/>
            </a:pPr>
            <a:r>
              <a:rPr lang="en-US" sz="2000" b="1" dirty="0">
                <a:solidFill>
                  <a:srgbClr val="FFFFFF"/>
                </a:solidFill>
                <a:latin typeface="Arial" pitchFamily="34" charset="0"/>
                <a:ea typeface="Arial" pitchFamily="34" charset="-122"/>
                <a:cs typeface="Arial" pitchFamily="34" charset="-120"/>
              </a:rPr>
              <a:t>Analytics</a:t>
            </a:r>
            <a:endParaRPr lang="en-US" sz="2000" dirty="0"/>
          </a:p>
        </p:txBody>
      </p:sp>
      <p:sp>
        <p:nvSpPr>
          <p:cNvPr id="25" name="Text 22"/>
          <p:cNvSpPr txBox="1"/>
          <p:nvPr/>
        </p:nvSpPr>
        <p:spPr>
          <a:xfrm>
            <a:off x="3333902" y="3749040"/>
            <a:ext cx="1779422" cy="499262"/>
          </a:xfrm>
          <a:prstGeom prst="rect">
            <a:avLst/>
          </a:prstGeom>
          <a:noFill/>
          <a:ln/>
        </p:spPr>
        <p:txBody>
          <a:bodyPr wrap="square" lIns="0" tIns="0" rIns="0" bIns="0" rtlCol="0" anchor="t"/>
          <a:lstStyle/>
          <a:p>
            <a:pPr algn="ctr" indent="0" marL="0">
              <a:buNone/>
            </a:pPr>
            <a:r>
              <a:rPr lang="en-US" sz="1400" dirty="0">
                <a:solidFill>
                  <a:srgbClr val="D6E4FF"/>
                </a:solidFill>
                <a:latin typeface="Arial" pitchFamily="34" charset="0"/>
                <a:ea typeface="Arial" pitchFamily="34" charset="-122"/>
                <a:cs typeface="Arial" pitchFamily="34" charset="-120"/>
              </a:rPr>
              <a:t>Calculates verified math</a:t>
            </a:r>
            <a:endParaRPr lang="en-US" sz="1400" dirty="0"/>
          </a:p>
        </p:txBody>
      </p:sp>
      <p:sp>
        <p:nvSpPr>
          <p:cNvPr id="26" name="Shape 23"/>
          <p:cNvSpPr/>
          <p:nvPr/>
        </p:nvSpPr>
        <p:spPr>
          <a:xfrm>
            <a:off x="6368796" y="2880360"/>
            <a:ext cx="0" cy="182880"/>
          </a:xfrm>
          <a:prstGeom prst="line">
            <a:avLst/>
          </a:prstGeom>
          <a:noFill/>
          <a:ln w="12700">
            <a:solidFill>
              <a:srgbClr val="1D4ED8"/>
            </a:solidFill>
            <a:prstDash val="solid"/>
          </a:ln>
        </p:spPr>
        <p:txBody>
          <a:bodyPr/>
          <a:p/>
        </p:txBody>
      </p:sp>
      <p:sp>
        <p:nvSpPr>
          <p:cNvPr id="27" name="Shape 24"/>
          <p:cNvSpPr/>
          <p:nvPr/>
        </p:nvSpPr>
        <p:spPr>
          <a:xfrm>
            <a:off x="5387645" y="3063240"/>
            <a:ext cx="1962302" cy="1188720"/>
          </a:xfrm>
          <a:prstGeom prst="roundRect">
            <a:avLst>
              <a:gd name="adj" fmla="val 11538"/>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28" name="Text 25"/>
          <p:cNvSpPr txBox="1"/>
          <p:nvPr/>
        </p:nvSpPr>
        <p:spPr>
          <a:xfrm>
            <a:off x="5479085" y="3136392"/>
            <a:ext cx="1779422" cy="594360"/>
          </a:xfrm>
          <a:prstGeom prst="rect">
            <a:avLst/>
          </a:prstGeom>
          <a:noFill/>
          <a:ln/>
        </p:spPr>
        <p:txBody>
          <a:bodyPr wrap="square" lIns="0" tIns="0" rIns="0" bIns="0" rtlCol="0" anchor="b"/>
          <a:lstStyle/>
          <a:p>
            <a:pPr algn="ctr" indent="0" marL="0">
              <a:buNone/>
            </a:pPr>
            <a:r>
              <a:rPr lang="en-US" sz="2000" b="1" dirty="0">
                <a:solidFill>
                  <a:srgbClr val="1E3A8A"/>
                </a:solidFill>
                <a:latin typeface="Arial" pitchFamily="34" charset="0"/>
                <a:ea typeface="Arial" pitchFamily="34" charset="-122"/>
                <a:cs typeface="Arial" pitchFamily="34" charset="-120"/>
              </a:rPr>
              <a:t>Visualizer</a:t>
            </a:r>
            <a:endParaRPr lang="en-US" sz="2000" dirty="0"/>
          </a:p>
        </p:txBody>
      </p:sp>
      <p:sp>
        <p:nvSpPr>
          <p:cNvPr id="29" name="Text 26"/>
          <p:cNvSpPr txBox="1"/>
          <p:nvPr/>
        </p:nvSpPr>
        <p:spPr>
          <a:xfrm>
            <a:off x="5479085" y="3749040"/>
            <a:ext cx="1779422" cy="499262"/>
          </a:xfrm>
          <a:prstGeom prst="rect">
            <a:avLst/>
          </a:prstGeom>
          <a:noFill/>
          <a:ln/>
        </p:spPr>
        <p:txBody>
          <a:bodyPr wrap="square" lIns="0" tIns="0" rIns="0" bIns="0" rtlCol="0" anchor="t"/>
          <a:lstStyle/>
          <a:p>
            <a:pPr algn="ctr" indent="0" marL="0">
              <a:buNone/>
            </a:pPr>
            <a:r>
              <a:rPr lang="en-US" sz="1400" dirty="0">
                <a:solidFill>
                  <a:srgbClr val="475569"/>
                </a:solidFill>
                <a:latin typeface="Arial" pitchFamily="34" charset="0"/>
                <a:ea typeface="Arial" pitchFamily="34" charset="-122"/>
                <a:cs typeface="Arial" pitchFamily="34" charset="-120"/>
              </a:rPr>
              <a:t>Builds beautiful charts</a:t>
            </a:r>
            <a:endParaRPr lang="en-US" sz="1400" dirty="0"/>
          </a:p>
        </p:txBody>
      </p:sp>
      <p:sp>
        <p:nvSpPr>
          <p:cNvPr id="30" name="Shape 27"/>
          <p:cNvSpPr/>
          <p:nvPr/>
        </p:nvSpPr>
        <p:spPr>
          <a:xfrm>
            <a:off x="8513978" y="2880360"/>
            <a:ext cx="0" cy="182880"/>
          </a:xfrm>
          <a:prstGeom prst="line">
            <a:avLst/>
          </a:prstGeom>
          <a:noFill/>
          <a:ln w="12700">
            <a:solidFill>
              <a:srgbClr val="1D4ED8"/>
            </a:solidFill>
            <a:prstDash val="solid"/>
          </a:ln>
        </p:spPr>
        <p:txBody>
          <a:bodyPr/>
          <a:p/>
        </p:txBody>
      </p:sp>
      <p:sp>
        <p:nvSpPr>
          <p:cNvPr id="31" name="Shape 28"/>
          <p:cNvSpPr/>
          <p:nvPr/>
        </p:nvSpPr>
        <p:spPr>
          <a:xfrm>
            <a:off x="7532827" y="3063240"/>
            <a:ext cx="1962302" cy="1188720"/>
          </a:xfrm>
          <a:prstGeom prst="roundRect">
            <a:avLst>
              <a:gd name="adj" fmla="val 11538"/>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32" name="Text 29"/>
          <p:cNvSpPr txBox="1"/>
          <p:nvPr/>
        </p:nvSpPr>
        <p:spPr>
          <a:xfrm>
            <a:off x="7624267" y="3136392"/>
            <a:ext cx="1779422" cy="594360"/>
          </a:xfrm>
          <a:prstGeom prst="rect">
            <a:avLst/>
          </a:prstGeom>
          <a:noFill/>
          <a:ln/>
        </p:spPr>
        <p:txBody>
          <a:bodyPr wrap="square" lIns="0" tIns="0" rIns="0" bIns="0" rtlCol="0" anchor="b"/>
          <a:lstStyle/>
          <a:p>
            <a:pPr algn="ctr" indent="0" marL="0">
              <a:buNone/>
            </a:pPr>
            <a:r>
              <a:rPr lang="en-US" sz="2000" b="1" dirty="0">
                <a:solidFill>
                  <a:srgbClr val="1E3A8A"/>
                </a:solidFill>
                <a:latin typeface="Arial" pitchFamily="34" charset="0"/>
                <a:ea typeface="Arial" pitchFamily="34" charset="-122"/>
                <a:cs typeface="Arial" pitchFamily="34" charset="-120"/>
              </a:rPr>
              <a:t>AutoML</a:t>
            </a:r>
            <a:endParaRPr lang="en-US" sz="2000" dirty="0"/>
          </a:p>
        </p:txBody>
      </p:sp>
      <p:sp>
        <p:nvSpPr>
          <p:cNvPr id="33" name="Text 30"/>
          <p:cNvSpPr txBox="1"/>
          <p:nvPr/>
        </p:nvSpPr>
        <p:spPr>
          <a:xfrm>
            <a:off x="7624267" y="3749040"/>
            <a:ext cx="1779422" cy="499262"/>
          </a:xfrm>
          <a:prstGeom prst="rect">
            <a:avLst/>
          </a:prstGeom>
          <a:noFill/>
          <a:ln/>
        </p:spPr>
        <p:txBody>
          <a:bodyPr wrap="square" lIns="0" tIns="0" rIns="0" bIns="0" rtlCol="0" anchor="t"/>
          <a:lstStyle/>
          <a:p>
            <a:pPr algn="ctr" indent="0" marL="0">
              <a:buNone/>
            </a:pPr>
            <a:r>
              <a:rPr lang="en-US" sz="1400" dirty="0">
                <a:solidFill>
                  <a:srgbClr val="475569"/>
                </a:solidFill>
                <a:latin typeface="Arial" pitchFamily="34" charset="0"/>
                <a:ea typeface="Arial" pitchFamily="34" charset="-122"/>
                <a:cs typeface="Arial" pitchFamily="34" charset="-120"/>
              </a:rPr>
              <a:t>Builds AI forecast models</a:t>
            </a:r>
            <a:endParaRPr lang="en-US" sz="1400" dirty="0"/>
          </a:p>
        </p:txBody>
      </p:sp>
      <p:sp>
        <p:nvSpPr>
          <p:cNvPr id="34" name="Shape 31"/>
          <p:cNvSpPr/>
          <p:nvPr/>
        </p:nvSpPr>
        <p:spPr>
          <a:xfrm>
            <a:off x="10659161" y="2880360"/>
            <a:ext cx="0" cy="182880"/>
          </a:xfrm>
          <a:prstGeom prst="line">
            <a:avLst/>
          </a:prstGeom>
          <a:noFill/>
          <a:ln w="12700">
            <a:solidFill>
              <a:srgbClr val="1D4ED8"/>
            </a:solidFill>
            <a:prstDash val="solid"/>
          </a:ln>
        </p:spPr>
        <p:txBody>
          <a:bodyPr/>
          <a:p/>
        </p:txBody>
      </p:sp>
      <p:sp>
        <p:nvSpPr>
          <p:cNvPr id="35" name="Shape 32"/>
          <p:cNvSpPr/>
          <p:nvPr/>
        </p:nvSpPr>
        <p:spPr>
          <a:xfrm>
            <a:off x="9678010" y="3063240"/>
            <a:ext cx="1962302" cy="1188720"/>
          </a:xfrm>
          <a:prstGeom prst="roundRect">
            <a:avLst>
              <a:gd name="adj" fmla="val 11538"/>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36" name="Text 33"/>
          <p:cNvSpPr txBox="1"/>
          <p:nvPr/>
        </p:nvSpPr>
        <p:spPr>
          <a:xfrm>
            <a:off x="9769450" y="3136392"/>
            <a:ext cx="1779422" cy="594360"/>
          </a:xfrm>
          <a:prstGeom prst="rect">
            <a:avLst/>
          </a:prstGeom>
          <a:noFill/>
          <a:ln/>
        </p:spPr>
        <p:txBody>
          <a:bodyPr wrap="square" lIns="0" tIns="0" rIns="0" bIns="0" rtlCol="0" anchor="b"/>
          <a:lstStyle/>
          <a:p>
            <a:pPr algn="ctr" indent="0" marL="0">
              <a:buNone/>
            </a:pPr>
            <a:r>
              <a:rPr lang="en-US" sz="2000" b="1" dirty="0">
                <a:solidFill>
                  <a:srgbClr val="1E3A8A"/>
                </a:solidFill>
                <a:latin typeface="Arial" pitchFamily="34" charset="0"/>
                <a:ea typeface="Arial" pitchFamily="34" charset="-122"/>
                <a:cs typeface="Arial" pitchFamily="34" charset="-120"/>
              </a:rPr>
              <a:t>Pipeline</a:t>
            </a:r>
            <a:endParaRPr lang="en-US" sz="2000" dirty="0"/>
          </a:p>
        </p:txBody>
      </p:sp>
      <p:sp>
        <p:nvSpPr>
          <p:cNvPr id="37" name="Text 34"/>
          <p:cNvSpPr txBox="1"/>
          <p:nvPr/>
        </p:nvSpPr>
        <p:spPr>
          <a:xfrm>
            <a:off x="9769450" y="3749040"/>
            <a:ext cx="1779422" cy="499262"/>
          </a:xfrm>
          <a:prstGeom prst="rect">
            <a:avLst/>
          </a:prstGeom>
          <a:noFill/>
          <a:ln/>
        </p:spPr>
        <p:txBody>
          <a:bodyPr wrap="square" lIns="0" tIns="0" rIns="0" bIns="0" rtlCol="0" anchor="t"/>
          <a:lstStyle/>
          <a:p>
            <a:pPr algn="ctr" indent="0" marL="0">
              <a:buNone/>
            </a:pPr>
            <a:r>
              <a:rPr lang="en-US" sz="1400" dirty="0">
                <a:solidFill>
                  <a:srgbClr val="475569"/>
                </a:solidFill>
                <a:latin typeface="Arial" pitchFamily="34" charset="0"/>
                <a:ea typeface="Arial" pitchFamily="34" charset="-122"/>
                <a:cs typeface="Arial" pitchFamily="34" charset="-120"/>
              </a:rPr>
              <a:t>Creates production pipelines</a:t>
            </a:r>
            <a:endParaRPr lang="en-US" sz="1400" dirty="0"/>
          </a:p>
        </p:txBody>
      </p:sp>
      <p:sp>
        <p:nvSpPr>
          <p:cNvPr id="38" name="Shape 35"/>
          <p:cNvSpPr/>
          <p:nvPr/>
        </p:nvSpPr>
        <p:spPr>
          <a:xfrm>
            <a:off x="1097280" y="4526280"/>
            <a:ext cx="2971800" cy="777240"/>
          </a:xfrm>
          <a:prstGeom prst="chevron">
            <a:avLst/>
          </a:prstGeom>
          <a:solidFill>
            <a:srgbClr val="1E3A8A"/>
          </a:solidFill>
          <a:ln w="38100">
            <a:solidFill>
              <a:srgbClr val="FFFFFF"/>
            </a:solidFill>
            <a:prstDash val="solid"/>
          </a:ln>
        </p:spPr>
        <p:txBody>
          <a:bodyPr/>
          <a:p/>
        </p:txBody>
      </p:sp>
      <p:sp>
        <p:nvSpPr>
          <p:cNvPr id="39" name="Text 36"/>
          <p:cNvSpPr txBox="1"/>
          <p:nvPr/>
        </p:nvSpPr>
        <p:spPr>
          <a:xfrm>
            <a:off x="1508760" y="4526280"/>
            <a:ext cx="214884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Understand intent</a:t>
            </a:r>
            <a:endParaRPr lang="en-US" sz="1500" dirty="0"/>
          </a:p>
        </p:txBody>
      </p:sp>
      <p:sp>
        <p:nvSpPr>
          <p:cNvPr id="40" name="Shape 37"/>
          <p:cNvSpPr/>
          <p:nvPr/>
        </p:nvSpPr>
        <p:spPr>
          <a:xfrm>
            <a:off x="3712464" y="4526280"/>
            <a:ext cx="2971800" cy="777240"/>
          </a:xfrm>
          <a:prstGeom prst="chevron">
            <a:avLst/>
          </a:prstGeom>
          <a:solidFill>
            <a:srgbClr val="2543B8"/>
          </a:solidFill>
          <a:ln w="38100">
            <a:solidFill>
              <a:srgbClr val="FFFFFF"/>
            </a:solidFill>
            <a:prstDash val="solid"/>
          </a:ln>
        </p:spPr>
        <p:txBody>
          <a:bodyPr/>
          <a:p/>
        </p:txBody>
      </p:sp>
      <p:sp>
        <p:nvSpPr>
          <p:cNvPr id="41" name="Text 38"/>
          <p:cNvSpPr txBox="1"/>
          <p:nvPr/>
        </p:nvSpPr>
        <p:spPr>
          <a:xfrm>
            <a:off x="4123944" y="4526280"/>
            <a:ext cx="214884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Hand to specialist</a:t>
            </a:r>
            <a:endParaRPr lang="en-US" sz="1500" dirty="0"/>
          </a:p>
        </p:txBody>
      </p:sp>
      <p:sp>
        <p:nvSpPr>
          <p:cNvPr id="42" name="Shape 39"/>
          <p:cNvSpPr/>
          <p:nvPr/>
        </p:nvSpPr>
        <p:spPr>
          <a:xfrm>
            <a:off x="6327648" y="4526280"/>
            <a:ext cx="2971800" cy="777240"/>
          </a:xfrm>
          <a:prstGeom prst="chevron">
            <a:avLst/>
          </a:prstGeom>
          <a:solidFill>
            <a:srgbClr val="1D4ED8"/>
          </a:solidFill>
          <a:ln w="38100">
            <a:solidFill>
              <a:srgbClr val="FFFFFF"/>
            </a:solidFill>
            <a:prstDash val="solid"/>
          </a:ln>
        </p:spPr>
        <p:txBody>
          <a:bodyPr/>
          <a:p/>
        </p:txBody>
      </p:sp>
      <p:sp>
        <p:nvSpPr>
          <p:cNvPr id="43" name="Text 40"/>
          <p:cNvSpPr txBox="1"/>
          <p:nvPr/>
        </p:nvSpPr>
        <p:spPr>
          <a:xfrm>
            <a:off x="6739128" y="4526280"/>
            <a:ext cx="214884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Calculate exact math</a:t>
            </a:r>
            <a:endParaRPr lang="en-US" sz="1500" dirty="0"/>
          </a:p>
        </p:txBody>
      </p:sp>
      <p:sp>
        <p:nvSpPr>
          <p:cNvPr id="44" name="Shape 41"/>
          <p:cNvSpPr/>
          <p:nvPr/>
        </p:nvSpPr>
        <p:spPr>
          <a:xfrm>
            <a:off x="8942832" y="4526280"/>
            <a:ext cx="2971800" cy="777240"/>
          </a:xfrm>
          <a:prstGeom prst="chevron">
            <a:avLst/>
          </a:prstGeom>
          <a:solidFill>
            <a:srgbClr val="F97316"/>
          </a:solidFill>
          <a:ln w="38100">
            <a:solidFill>
              <a:srgbClr val="FFFFFF"/>
            </a:solidFill>
            <a:prstDash val="solid"/>
          </a:ln>
        </p:spPr>
        <p:txBody>
          <a:bodyPr/>
          <a:p/>
        </p:txBody>
      </p:sp>
      <p:sp>
        <p:nvSpPr>
          <p:cNvPr id="45" name="Text 42"/>
          <p:cNvSpPr txBox="1"/>
          <p:nvPr/>
        </p:nvSpPr>
        <p:spPr>
          <a:xfrm>
            <a:off x="9354312" y="4526280"/>
            <a:ext cx="214884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Verify before showing</a:t>
            </a:r>
            <a:endParaRPr lang="en-US" sz="1500" dirty="0"/>
          </a:p>
        </p:txBody>
      </p:sp>
      <p:sp>
        <p:nvSpPr>
          <p:cNvPr id="46" name="Text 43"/>
          <p:cNvSpPr txBox="1"/>
          <p:nvPr/>
        </p:nvSpPr>
        <p:spPr>
          <a:xfrm>
            <a:off x="1097280" y="5577840"/>
            <a:ext cx="10515600" cy="457200"/>
          </a:xfrm>
          <a:prstGeom prst="rect">
            <a:avLst/>
          </a:prstGeom>
          <a:noFill/>
          <a:ln/>
        </p:spPr>
        <p:txBody>
          <a:bodyPr wrap="square" lIns="0" tIns="0" rIns="0" bIns="0" rtlCol="0" anchor="t"/>
          <a:lstStyle/>
          <a:p>
            <a:pPr indent="0" marL="0">
              <a:buNone/>
            </a:pPr>
            <a:r>
              <a:rPr lang="en-US" sz="1700" dirty="0">
                <a:solidFill>
                  <a:srgbClr val="64748B"/>
                </a:solidFill>
                <a:latin typeface="Arial" pitchFamily="34" charset="0"/>
                <a:ea typeface="Arial" pitchFamily="34" charset="-122"/>
                <a:cs typeface="Arial" pitchFamily="34" charset="-120"/>
              </a:rPr>
              <a:t>Automatic discoveries: rankings · anomalies · key trends · customer drivers</a:t>
            </a:r>
            <a:endParaRPr lang="en-US" sz="17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METHODOLOGY</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From Raw Numbers to Boardroom Reports</a:t>
            </a:r>
            <a:endParaRPr lang="en-US" sz="3200" dirty="0"/>
          </a:p>
        </p:txBody>
      </p:sp>
      <p:sp>
        <p:nvSpPr>
          <p:cNvPr id="5" name="Shape 2"/>
          <p:cNvSpPr/>
          <p:nvPr/>
        </p:nvSpPr>
        <p:spPr>
          <a:xfrm>
            <a:off x="1097280" y="1737360"/>
            <a:ext cx="2971800" cy="1005840"/>
          </a:xfrm>
          <a:prstGeom prst="chevron">
            <a:avLst/>
          </a:prstGeom>
          <a:solidFill>
            <a:srgbClr val="1E3A8A"/>
          </a:solidFill>
          <a:ln w="38100">
            <a:solidFill>
              <a:srgbClr val="FFFFFF"/>
            </a:solidFill>
            <a:prstDash val="solid"/>
          </a:ln>
        </p:spPr>
        <p:txBody>
          <a:bodyPr/>
          <a:p/>
        </p:txBody>
      </p:sp>
      <p:sp>
        <p:nvSpPr>
          <p:cNvPr id="6" name="Text 3"/>
          <p:cNvSpPr txBox="1"/>
          <p:nvPr/>
        </p:nvSpPr>
        <p:spPr>
          <a:xfrm>
            <a:off x="1600200" y="1737360"/>
            <a:ext cx="201168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 Crunch Data</a:t>
            </a:r>
            <a:endParaRPr lang="en-US" sz="1700" dirty="0"/>
          </a:p>
        </p:txBody>
      </p:sp>
      <p:sp>
        <p:nvSpPr>
          <p:cNvPr id="7" name="Shape 4"/>
          <p:cNvSpPr/>
          <p:nvPr/>
        </p:nvSpPr>
        <p:spPr>
          <a:xfrm>
            <a:off x="3712464" y="1737360"/>
            <a:ext cx="2971800" cy="1005840"/>
          </a:xfrm>
          <a:prstGeom prst="chevron">
            <a:avLst/>
          </a:prstGeom>
          <a:solidFill>
            <a:srgbClr val="2543B8"/>
          </a:solidFill>
          <a:ln w="38100">
            <a:solidFill>
              <a:srgbClr val="FFFFFF"/>
            </a:solidFill>
            <a:prstDash val="solid"/>
          </a:ln>
        </p:spPr>
        <p:txBody>
          <a:bodyPr/>
          <a:p/>
        </p:txBody>
      </p:sp>
      <p:sp>
        <p:nvSpPr>
          <p:cNvPr id="8" name="Text 5"/>
          <p:cNvSpPr txBox="1"/>
          <p:nvPr/>
        </p:nvSpPr>
        <p:spPr>
          <a:xfrm>
            <a:off x="4215384" y="1737360"/>
            <a:ext cx="201168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 Verify Facts</a:t>
            </a:r>
            <a:endParaRPr lang="en-US" sz="1700" dirty="0"/>
          </a:p>
        </p:txBody>
      </p:sp>
      <p:sp>
        <p:nvSpPr>
          <p:cNvPr id="9" name="Shape 6"/>
          <p:cNvSpPr/>
          <p:nvPr/>
        </p:nvSpPr>
        <p:spPr>
          <a:xfrm>
            <a:off x="6327648" y="1737360"/>
            <a:ext cx="2971800" cy="1005840"/>
          </a:xfrm>
          <a:prstGeom prst="chevron">
            <a:avLst/>
          </a:prstGeom>
          <a:solidFill>
            <a:srgbClr val="1D4ED8"/>
          </a:solidFill>
          <a:ln w="38100">
            <a:solidFill>
              <a:srgbClr val="FFFFFF"/>
            </a:solidFill>
            <a:prstDash val="solid"/>
          </a:ln>
        </p:spPr>
        <p:txBody>
          <a:bodyPr/>
          <a:p/>
        </p:txBody>
      </p:sp>
      <p:sp>
        <p:nvSpPr>
          <p:cNvPr id="10" name="Text 7"/>
          <p:cNvSpPr txBox="1"/>
          <p:nvPr/>
        </p:nvSpPr>
        <p:spPr>
          <a:xfrm>
            <a:off x="6830568" y="1737360"/>
            <a:ext cx="201168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 Assemble Layout</a:t>
            </a:r>
            <a:endParaRPr lang="en-US" sz="1700" dirty="0"/>
          </a:p>
        </p:txBody>
      </p:sp>
      <p:sp>
        <p:nvSpPr>
          <p:cNvPr id="11" name="Shape 8"/>
          <p:cNvSpPr/>
          <p:nvPr/>
        </p:nvSpPr>
        <p:spPr>
          <a:xfrm>
            <a:off x="8942832" y="1737360"/>
            <a:ext cx="2971800" cy="1005840"/>
          </a:xfrm>
          <a:prstGeom prst="chevron">
            <a:avLst/>
          </a:prstGeom>
          <a:solidFill>
            <a:srgbClr val="F97316"/>
          </a:solidFill>
          <a:ln w="38100">
            <a:solidFill>
              <a:srgbClr val="FFFFFF"/>
            </a:solidFill>
            <a:prstDash val="solid"/>
          </a:ln>
        </p:spPr>
        <p:txBody>
          <a:bodyPr/>
          <a:p/>
        </p:txBody>
      </p:sp>
      <p:sp>
        <p:nvSpPr>
          <p:cNvPr id="12" name="Text 9"/>
          <p:cNvSpPr txBox="1"/>
          <p:nvPr/>
        </p:nvSpPr>
        <p:spPr>
          <a:xfrm>
            <a:off x="9445752" y="1737360"/>
            <a:ext cx="201168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 Export Report</a:t>
            </a:r>
            <a:endParaRPr lang="en-US" sz="1700" dirty="0"/>
          </a:p>
        </p:txBody>
      </p:sp>
      <p:sp>
        <p:nvSpPr>
          <p:cNvPr id="13" name="Shape 10"/>
          <p:cNvSpPr/>
          <p:nvPr/>
        </p:nvSpPr>
        <p:spPr>
          <a:xfrm>
            <a:off x="1097280" y="3063240"/>
            <a:ext cx="3380232" cy="2103120"/>
          </a:xfrm>
          <a:prstGeom prst="roundRect">
            <a:avLst>
              <a:gd name="adj" fmla="val 8696"/>
            </a:avLst>
          </a:prstGeom>
          <a:solidFill>
            <a:srgbClr val="1D4ED8"/>
          </a:solidFill>
          <a:ln w="3175">
            <a:solidFill>
              <a:srgbClr val="1D4ED8"/>
            </a:solidFill>
            <a:prstDash val="solid"/>
          </a:ln>
        </p:spPr>
        <p:txBody>
          <a:bodyPr/>
          <a:p/>
        </p:txBody>
      </p:sp>
      <p:sp>
        <p:nvSpPr>
          <p:cNvPr id="14" name="Text 11"/>
          <p:cNvSpPr txBox="1"/>
          <p:nvPr/>
        </p:nvSpPr>
        <p:spPr>
          <a:xfrm>
            <a:off x="1353312" y="3200400"/>
            <a:ext cx="2868168" cy="50292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Executive PDF Briefing</a:t>
            </a:r>
            <a:endParaRPr lang="en-US" sz="2400" dirty="0"/>
          </a:p>
        </p:txBody>
      </p:sp>
      <p:sp>
        <p:nvSpPr>
          <p:cNvPr id="15" name="Text 12"/>
          <p:cNvSpPr txBox="1"/>
          <p:nvPr/>
        </p:nvSpPr>
        <p:spPr>
          <a:xfrm>
            <a:off x="1353312" y="3749040"/>
            <a:ext cx="2868168" cy="1280160"/>
          </a:xfrm>
          <a:prstGeom prst="rect">
            <a:avLst/>
          </a:prstGeom>
          <a:noFill/>
          <a:ln/>
        </p:spPr>
        <p:txBody>
          <a:bodyPr wrap="square" lIns="0" tIns="0" rIns="0" bIns="0" rtlCol="0" anchor="t"/>
          <a:lstStyle/>
          <a:p>
            <a:pPr indent="0" marL="0">
              <a:buNone/>
            </a:pPr>
            <a:r>
              <a:rPr lang="en-US" sz="1800" dirty="0">
                <a:solidFill>
                  <a:srgbClr val="D6E4FF"/>
                </a:solidFill>
                <a:latin typeface="Arial" pitchFamily="34" charset="0"/>
                <a:ea typeface="Arial" pitchFamily="34" charset="-122"/>
                <a:cs typeface="Arial" pitchFamily="34" charset="-120"/>
              </a:rPr>
              <a:t>Crystal-clear summaries ready for leadership and meetings</a:t>
            </a:r>
            <a:endParaRPr lang="en-US" sz="1800" dirty="0"/>
          </a:p>
        </p:txBody>
      </p:sp>
      <p:sp>
        <p:nvSpPr>
          <p:cNvPr id="16" name="Shape 13"/>
          <p:cNvSpPr/>
          <p:nvPr/>
        </p:nvSpPr>
        <p:spPr>
          <a:xfrm>
            <a:off x="4678680" y="3063240"/>
            <a:ext cx="3380232" cy="2103120"/>
          </a:xfrm>
          <a:prstGeom prst="roundRect">
            <a:avLst>
              <a:gd name="adj" fmla="val 8696"/>
            </a:avLst>
          </a:prstGeom>
          <a:solidFill>
            <a:srgbClr val="F0F5FF"/>
          </a:solidFill>
          <a:ln w="3175">
            <a:solidFill>
              <a:srgbClr val="F0F5FF"/>
            </a:solidFill>
            <a:prstDash val="solid"/>
          </a:ln>
        </p:spPr>
        <p:txBody>
          <a:bodyPr/>
          <a:p/>
        </p:txBody>
      </p:sp>
      <p:sp>
        <p:nvSpPr>
          <p:cNvPr id="17" name="Text 14"/>
          <p:cNvSpPr txBox="1"/>
          <p:nvPr/>
        </p:nvSpPr>
        <p:spPr>
          <a:xfrm>
            <a:off x="4934712" y="3200400"/>
            <a:ext cx="2868168" cy="502920"/>
          </a:xfrm>
          <a:prstGeom prst="rect">
            <a:avLst/>
          </a:prstGeom>
          <a:noFill/>
          <a:ln/>
        </p:spPr>
        <p:txBody>
          <a:bodyPr wrap="square" lIns="0" tIns="0" rIns="0" bIns="0" rtlCol="0" anchor="t"/>
          <a:lstStyle/>
          <a:p>
            <a:pPr indent="0" marL="0">
              <a:buNone/>
            </a:pPr>
            <a:r>
              <a:rPr lang="en-US" sz="2400" b="1" dirty="0">
                <a:solidFill>
                  <a:srgbClr val="1E3A8A"/>
                </a:solidFill>
                <a:latin typeface="Arial" pitchFamily="34" charset="0"/>
                <a:ea typeface="Arial" pitchFamily="34" charset="-122"/>
                <a:cs typeface="Arial" pitchFamily="34" charset="-120"/>
              </a:rPr>
              <a:t>Automated Pipelines</a:t>
            </a:r>
            <a:endParaRPr lang="en-US" sz="2400" dirty="0"/>
          </a:p>
        </p:txBody>
      </p:sp>
      <p:sp>
        <p:nvSpPr>
          <p:cNvPr id="18" name="Text 15"/>
          <p:cNvSpPr txBox="1"/>
          <p:nvPr/>
        </p:nvSpPr>
        <p:spPr>
          <a:xfrm>
            <a:off x="4934712" y="3749040"/>
            <a:ext cx="2868168" cy="1280160"/>
          </a:xfrm>
          <a:prstGeom prst="rect">
            <a:avLst/>
          </a:prstGeom>
          <a:noFill/>
          <a:ln/>
        </p:spPr>
        <p:txBody>
          <a:bodyPr wrap="square" lIns="0" tIns="0" rIns="0" bIns="0" rtlCol="0" anchor="t"/>
          <a:lstStyle/>
          <a:p>
            <a:pPr indent="0" marL="0">
              <a:buNone/>
            </a:pPr>
            <a:r>
              <a:rPr lang="en-US" sz="1800" dirty="0">
                <a:solidFill>
                  <a:srgbClr val="475569"/>
                </a:solidFill>
                <a:latin typeface="Arial" pitchFamily="34" charset="0"/>
                <a:ea typeface="Arial" pitchFamily="34" charset="-122"/>
                <a:cs typeface="Arial" pitchFamily="34" charset="-120"/>
              </a:rPr>
              <a:t>Scheduled workflows for engineering teams (Apache Airflow)</a:t>
            </a:r>
            <a:endParaRPr lang="en-US" sz="1800" dirty="0"/>
          </a:p>
        </p:txBody>
      </p:sp>
      <p:sp>
        <p:nvSpPr>
          <p:cNvPr id="19" name="Shape 16"/>
          <p:cNvSpPr/>
          <p:nvPr/>
        </p:nvSpPr>
        <p:spPr>
          <a:xfrm>
            <a:off x="8260080" y="3063240"/>
            <a:ext cx="3380232" cy="2103120"/>
          </a:xfrm>
          <a:prstGeom prst="roundRect">
            <a:avLst>
              <a:gd name="adj" fmla="val 8696"/>
            </a:avLst>
          </a:prstGeom>
          <a:solidFill>
            <a:srgbClr val="F0F5FF"/>
          </a:solidFill>
          <a:ln w="3175">
            <a:solidFill>
              <a:srgbClr val="F0F5FF"/>
            </a:solidFill>
            <a:prstDash val="solid"/>
          </a:ln>
        </p:spPr>
        <p:txBody>
          <a:bodyPr/>
          <a:p/>
        </p:txBody>
      </p:sp>
      <p:sp>
        <p:nvSpPr>
          <p:cNvPr id="20" name="Text 17"/>
          <p:cNvSpPr txBox="1"/>
          <p:nvPr/>
        </p:nvSpPr>
        <p:spPr>
          <a:xfrm>
            <a:off x="8516112" y="3200400"/>
            <a:ext cx="2868168" cy="502920"/>
          </a:xfrm>
          <a:prstGeom prst="rect">
            <a:avLst/>
          </a:prstGeom>
          <a:noFill/>
          <a:ln/>
        </p:spPr>
        <p:txBody>
          <a:bodyPr wrap="square" lIns="0" tIns="0" rIns="0" bIns="0" rtlCol="0" anchor="t"/>
          <a:lstStyle/>
          <a:p>
            <a:pPr indent="0" marL="0">
              <a:buNone/>
            </a:pPr>
            <a:r>
              <a:rPr lang="en-US" sz="2400" b="1" dirty="0">
                <a:solidFill>
                  <a:srgbClr val="1E3A8A"/>
                </a:solidFill>
                <a:latin typeface="Arial" pitchFamily="34" charset="0"/>
                <a:ea typeface="Arial" pitchFamily="34" charset="-122"/>
                <a:cs typeface="Arial" pitchFamily="34" charset="-120"/>
              </a:rPr>
              <a:t>Clean Database Models</a:t>
            </a:r>
            <a:endParaRPr lang="en-US" sz="2400" dirty="0"/>
          </a:p>
        </p:txBody>
      </p:sp>
      <p:sp>
        <p:nvSpPr>
          <p:cNvPr id="21" name="Text 18"/>
          <p:cNvSpPr txBox="1"/>
          <p:nvPr/>
        </p:nvSpPr>
        <p:spPr>
          <a:xfrm>
            <a:off x="8516112" y="3749040"/>
            <a:ext cx="2868168" cy="1280160"/>
          </a:xfrm>
          <a:prstGeom prst="rect">
            <a:avLst/>
          </a:prstGeom>
          <a:noFill/>
          <a:ln/>
        </p:spPr>
        <p:txBody>
          <a:bodyPr wrap="square" lIns="0" tIns="0" rIns="0" bIns="0" rtlCol="0" anchor="t"/>
          <a:lstStyle/>
          <a:p>
            <a:pPr indent="0" marL="0">
              <a:buNone/>
            </a:pPr>
            <a:r>
              <a:rPr lang="en-US" sz="1800" dirty="0">
                <a:solidFill>
                  <a:srgbClr val="475569"/>
                </a:solidFill>
                <a:latin typeface="Arial" pitchFamily="34" charset="0"/>
                <a:ea typeface="Arial" pitchFamily="34" charset="-122"/>
                <a:cs typeface="Arial" pitchFamily="34" charset="-120"/>
              </a:rPr>
              <a:t>Reliable SQL transformations with built-in tests (dbt)</a:t>
            </a:r>
            <a:endParaRPr lang="en-US" sz="1800" dirty="0"/>
          </a:p>
        </p:txBody>
      </p:sp>
      <p:sp>
        <p:nvSpPr>
          <p:cNvPr id="22" name="Shape 19"/>
          <p:cNvSpPr/>
          <p:nvPr/>
        </p:nvSpPr>
        <p:spPr>
          <a:xfrm>
            <a:off x="1097280" y="5394960"/>
            <a:ext cx="10543032" cy="685800"/>
          </a:xfrm>
          <a:prstGeom prst="roundRect">
            <a:avLst>
              <a:gd name="adj" fmla="val 26667"/>
            </a:avLst>
          </a:prstGeom>
          <a:solidFill>
            <a:srgbClr val="FFF3E8"/>
          </a:solidFill>
          <a:ln w="3175">
            <a:solidFill>
              <a:srgbClr val="FFF3E8"/>
            </a:solidFill>
            <a:prstDash val="solid"/>
          </a:ln>
        </p:spPr>
        <p:txBody>
          <a:bodyPr/>
          <a:p/>
        </p:txBody>
      </p:sp>
      <p:sp>
        <p:nvSpPr>
          <p:cNvPr id="23" name="Text 20"/>
          <p:cNvSpPr txBox="1"/>
          <p:nvPr/>
        </p:nvSpPr>
        <p:spPr>
          <a:xfrm>
            <a:off x="1353312" y="5532120"/>
            <a:ext cx="10030968" cy="411480"/>
          </a:xfrm>
          <a:prstGeom prst="rect">
            <a:avLst/>
          </a:prstGeom>
          <a:noFill/>
          <a:ln/>
        </p:spPr>
        <p:txBody>
          <a:bodyPr wrap="square" lIns="0" tIns="0" rIns="0" bIns="0" rtlCol="0" anchor="ctr"/>
          <a:lstStyle/>
          <a:p>
            <a:pPr indent="0" marL="0">
              <a:buNone/>
            </a:pPr>
            <a:r>
              <a:rPr lang="en-US" sz="2000" b="1" dirty="0">
                <a:solidFill>
                  <a:srgbClr val="1E3A8A"/>
                </a:solidFill>
                <a:latin typeface="Arial" pitchFamily="34" charset="0"/>
                <a:ea typeface="Arial" pitchFamily="34" charset="-122"/>
                <a:cs typeface="Arial" pitchFamily="34" charset="-120"/>
              </a:rPr>
              <a:t>1-Click Download: Professional reports in seconds, not days of manual writing</a:t>
            </a:r>
            <a:endParaRPr lang="en-US" sz="20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RESULTS</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Proven Speed: Fast Ingestion on Big Files</a:t>
            </a:r>
            <a:endParaRPr lang="en-US" sz="3200" dirty="0"/>
          </a:p>
        </p:txBody>
      </p:sp>
      <p:sp>
        <p:nvSpPr>
          <p:cNvPr id="5" name="Shape 2"/>
          <p:cNvSpPr/>
          <p:nvPr/>
        </p:nvSpPr>
        <p:spPr>
          <a:xfrm>
            <a:off x="1097280" y="1691640"/>
            <a:ext cx="5760720" cy="0"/>
          </a:xfrm>
          <a:prstGeom prst="line">
            <a:avLst/>
          </a:prstGeom>
          <a:noFill/>
          <a:ln w="9525">
            <a:solidFill>
              <a:srgbClr val="D5DEEC"/>
            </a:solidFill>
            <a:prstDash val="solid"/>
          </a:ln>
        </p:spPr>
        <p:txBody>
          <a:bodyPr/>
          <a:p/>
        </p:txBody>
      </p:sp>
      <p:sp>
        <p:nvSpPr>
          <p:cNvPr id="6" name="Text 3"/>
          <p:cNvSpPr txBox="1"/>
          <p:nvPr/>
        </p:nvSpPr>
        <p:spPr>
          <a:xfrm>
            <a:off x="1097280" y="18196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7" name="Text 4"/>
          <p:cNvSpPr txBox="1"/>
          <p:nvPr/>
        </p:nvSpPr>
        <p:spPr>
          <a:xfrm>
            <a:off x="1828800" y="17830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Tested On</a:t>
            </a:r>
            <a:endParaRPr lang="en-US" sz="2200" dirty="0"/>
          </a:p>
        </p:txBody>
      </p:sp>
      <p:sp>
        <p:nvSpPr>
          <p:cNvPr id="8" name="Text 5"/>
          <p:cNvSpPr txBox="1"/>
          <p:nvPr/>
        </p:nvSpPr>
        <p:spPr>
          <a:xfrm>
            <a:off x="1828800" y="2148840"/>
            <a:ext cx="5029200" cy="54864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Large, messy enterprise sales dataset with 50,000 records</a:t>
            </a:r>
            <a:endParaRPr lang="en-US" sz="1700" dirty="0"/>
          </a:p>
        </p:txBody>
      </p:sp>
      <p:sp>
        <p:nvSpPr>
          <p:cNvPr id="9" name="Shape 6"/>
          <p:cNvSpPr/>
          <p:nvPr/>
        </p:nvSpPr>
        <p:spPr>
          <a:xfrm>
            <a:off x="1097280" y="2743200"/>
            <a:ext cx="5760720" cy="0"/>
          </a:xfrm>
          <a:prstGeom prst="line">
            <a:avLst/>
          </a:prstGeom>
          <a:noFill/>
          <a:ln w="9525">
            <a:solidFill>
              <a:srgbClr val="D5DEEC"/>
            </a:solidFill>
            <a:prstDash val="solid"/>
          </a:ln>
        </p:spPr>
        <p:txBody>
          <a:bodyPr/>
          <a:p/>
        </p:txBody>
      </p:sp>
      <p:sp>
        <p:nvSpPr>
          <p:cNvPr id="10" name="Text 7"/>
          <p:cNvSpPr txBox="1"/>
          <p:nvPr/>
        </p:nvSpPr>
        <p:spPr>
          <a:xfrm>
            <a:off x="1097280" y="287121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11" name="Text 8"/>
          <p:cNvSpPr txBox="1"/>
          <p:nvPr/>
        </p:nvSpPr>
        <p:spPr>
          <a:xfrm>
            <a:off x="1828800" y="283464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Automatic Detection</a:t>
            </a:r>
            <a:endParaRPr lang="en-US" sz="2200" dirty="0"/>
          </a:p>
        </p:txBody>
      </p:sp>
      <p:sp>
        <p:nvSpPr>
          <p:cNvPr id="12" name="Text 9"/>
          <p:cNvSpPr txBox="1"/>
          <p:nvPr/>
        </p:nvSpPr>
        <p:spPr>
          <a:xfrm>
            <a:off x="1828800" y="3200400"/>
            <a:ext cx="5029200" cy="54864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Identified mixed numbers, dates, and categories without any human help</a:t>
            </a:r>
            <a:endParaRPr lang="en-US" sz="1700" dirty="0"/>
          </a:p>
        </p:txBody>
      </p:sp>
      <p:sp>
        <p:nvSpPr>
          <p:cNvPr id="13" name="Shape 10"/>
          <p:cNvSpPr/>
          <p:nvPr/>
        </p:nvSpPr>
        <p:spPr>
          <a:xfrm>
            <a:off x="1097280" y="3794760"/>
            <a:ext cx="5760720" cy="0"/>
          </a:xfrm>
          <a:prstGeom prst="line">
            <a:avLst/>
          </a:prstGeom>
          <a:noFill/>
          <a:ln w="9525">
            <a:solidFill>
              <a:srgbClr val="D5DEEC"/>
            </a:solidFill>
            <a:prstDash val="solid"/>
          </a:ln>
        </p:spPr>
        <p:txBody>
          <a:bodyPr/>
          <a:p/>
        </p:txBody>
      </p:sp>
      <p:sp>
        <p:nvSpPr>
          <p:cNvPr id="14" name="Text 11"/>
          <p:cNvSpPr txBox="1"/>
          <p:nvPr/>
        </p:nvSpPr>
        <p:spPr>
          <a:xfrm>
            <a:off x="1097280" y="392277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03</a:t>
            </a:r>
            <a:endParaRPr lang="en-US" sz="1800" dirty="0"/>
          </a:p>
        </p:txBody>
      </p:sp>
      <p:sp>
        <p:nvSpPr>
          <p:cNvPr id="15" name="Text 12"/>
          <p:cNvSpPr txBox="1"/>
          <p:nvPr/>
        </p:nvSpPr>
        <p:spPr>
          <a:xfrm>
            <a:off x="1828800" y="388620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Observed Speed</a:t>
            </a:r>
            <a:endParaRPr lang="en-US" sz="2200" dirty="0"/>
          </a:p>
        </p:txBody>
      </p:sp>
      <p:sp>
        <p:nvSpPr>
          <p:cNvPr id="16" name="Text 13"/>
          <p:cNvSpPr txBox="1"/>
          <p:nvPr/>
        </p:nvSpPr>
        <p:spPr>
          <a:xfrm>
            <a:off x="1828800" y="4251960"/>
            <a:ext cx="5029200" cy="54864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Read, structured, and compressed in under 1 second</a:t>
            </a:r>
            <a:endParaRPr lang="en-US" sz="1700" dirty="0"/>
          </a:p>
        </p:txBody>
      </p:sp>
      <p:sp>
        <p:nvSpPr>
          <p:cNvPr id="17" name="Shape 14"/>
          <p:cNvSpPr/>
          <p:nvPr/>
        </p:nvSpPr>
        <p:spPr>
          <a:xfrm>
            <a:off x="1097280" y="4846320"/>
            <a:ext cx="5760720" cy="0"/>
          </a:xfrm>
          <a:prstGeom prst="line">
            <a:avLst/>
          </a:prstGeom>
          <a:noFill/>
          <a:ln w="9525">
            <a:solidFill>
              <a:srgbClr val="D5DEEC"/>
            </a:solidFill>
            <a:prstDash val="solid"/>
          </a:ln>
        </p:spPr>
        <p:txBody>
          <a:bodyPr/>
          <a:p/>
        </p:txBody>
      </p:sp>
      <p:sp>
        <p:nvSpPr>
          <p:cNvPr id="18" name="Shape 15"/>
          <p:cNvSpPr/>
          <p:nvPr/>
        </p:nvSpPr>
        <p:spPr>
          <a:xfrm>
            <a:off x="1097280" y="5029200"/>
            <a:ext cx="5760720" cy="1051560"/>
          </a:xfrm>
          <a:prstGeom prst="roundRect">
            <a:avLst>
              <a:gd name="adj" fmla="val 17391"/>
            </a:avLst>
          </a:prstGeom>
          <a:solidFill>
            <a:srgbClr val="F97316"/>
          </a:solidFill>
          <a:ln w="3175">
            <a:solidFill>
              <a:srgbClr val="F97316"/>
            </a:solidFill>
            <a:prstDash val="solid"/>
          </a:ln>
        </p:spPr>
        <p:txBody>
          <a:bodyPr/>
          <a:p/>
        </p:txBody>
      </p:sp>
      <p:sp>
        <p:nvSpPr>
          <p:cNvPr id="19" name="Text 16"/>
          <p:cNvSpPr txBox="1"/>
          <p:nvPr/>
        </p:nvSpPr>
        <p:spPr>
          <a:xfrm>
            <a:off x="1353312" y="5120640"/>
            <a:ext cx="5248656" cy="578358"/>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Arial" pitchFamily="34" charset="0"/>
                <a:ea typeface="Arial" pitchFamily="34" charset="-122"/>
                <a:cs typeface="Arial" pitchFamily="34" charset="-120"/>
              </a:rPr>
              <a:t>Under 0.62 s</a:t>
            </a:r>
            <a:endParaRPr lang="en-US" sz="3400" dirty="0"/>
          </a:p>
        </p:txBody>
      </p:sp>
      <p:sp>
        <p:nvSpPr>
          <p:cNvPr id="20" name="Text 17"/>
          <p:cNvSpPr txBox="1"/>
          <p:nvPr/>
        </p:nvSpPr>
        <p:spPr>
          <a:xfrm>
            <a:off x="1353312" y="5702198"/>
            <a:ext cx="5248656" cy="336499"/>
          </a:xfrm>
          <a:prstGeom prst="rect">
            <a:avLst/>
          </a:prstGeom>
          <a:noFill/>
          <a:ln/>
        </p:spPr>
        <p:txBody>
          <a:bodyPr wrap="square" lIns="0" tIns="0" rIns="0" bIns="0" rtlCol="0" anchor="t"/>
          <a:lstStyle/>
          <a:p>
            <a:pPr indent="0" marL="0">
              <a:buNone/>
            </a:pPr>
            <a:r>
              <a:rPr lang="en-US" sz="1500" dirty="0">
                <a:solidFill>
                  <a:srgbClr val="FFF1E6"/>
                </a:solidFill>
                <a:latin typeface="Arial" pitchFamily="34" charset="0"/>
                <a:ea typeface="Arial" pitchFamily="34" charset="-122"/>
                <a:cs typeface="Arial" pitchFamily="34" charset="-120"/>
              </a:rPr>
              <a:t>Instant load time on a standard laptop</a:t>
            </a:r>
            <a:endParaRPr lang="en-US" sz="1500" dirty="0"/>
          </a:p>
        </p:txBody>
      </p:sp>
      <p:sp>
        <p:nvSpPr>
          <p:cNvPr id="21" name="Shape 18"/>
          <p:cNvSpPr/>
          <p:nvPr/>
        </p:nvSpPr>
        <p:spPr>
          <a:xfrm>
            <a:off x="7132320" y="1691640"/>
            <a:ext cx="4507992" cy="4389120"/>
          </a:xfrm>
          <a:prstGeom prst="roundRect">
            <a:avLst>
              <a:gd name="adj" fmla="val 3125"/>
            </a:avLst>
          </a:prstGeom>
          <a:solidFill>
            <a:srgbClr val="F0F5FF"/>
          </a:solidFill>
          <a:ln w="15875">
            <a:solidFill>
              <a:srgbClr val="1D4ED8"/>
            </a:solidFill>
            <a:prstDash val="dash"/>
          </a:ln>
        </p:spPr>
        <p:txBody>
          <a:bodyPr/>
          <a:p/>
        </p:txBody>
      </p:sp>
      <p:sp>
        <p:nvSpPr>
          <p:cNvPr id="22" name="Text 19"/>
          <p:cNvSpPr txBox="1"/>
          <p:nvPr/>
        </p:nvSpPr>
        <p:spPr>
          <a:xfrm>
            <a:off x="7132320" y="3200400"/>
            <a:ext cx="4507992" cy="640080"/>
          </a:xfrm>
          <a:prstGeom prst="rect">
            <a:avLst/>
          </a:prstGeom>
          <a:noFill/>
          <a:ln/>
        </p:spPr>
        <p:txBody>
          <a:bodyPr wrap="square" lIns="0" tIns="0" rIns="0" bIns="0" rtlCol="0" anchor="t"/>
          <a:lstStyle/>
          <a:p>
            <a:pPr algn="ctr" indent="0" marL="0">
              <a:buNone/>
            </a:pPr>
            <a:r>
              <a:rPr lang="en-US" sz="3400" dirty="0">
                <a:solidFill>
                  <a:srgbClr val="93B4F5"/>
                </a:solidFill>
                <a:latin typeface="Arial" pitchFamily="34" charset="0"/>
                <a:ea typeface="Arial" pitchFamily="34" charset="-122"/>
                <a:cs typeface="Arial" pitchFamily="34" charset="-120"/>
              </a:rPr>
              <a:t>▣</a:t>
            </a:r>
            <a:endParaRPr lang="en-US" sz="3400" dirty="0"/>
          </a:p>
        </p:txBody>
      </p:sp>
      <p:sp>
        <p:nvSpPr>
          <p:cNvPr id="23" name="Text 20"/>
          <p:cNvSpPr txBox="1"/>
          <p:nvPr/>
        </p:nvSpPr>
        <p:spPr>
          <a:xfrm>
            <a:off x="7132320" y="3886200"/>
            <a:ext cx="4507992" cy="27432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SCREENSHOT</a:t>
            </a:r>
            <a:endParaRPr lang="en-US" sz="1200" dirty="0"/>
          </a:p>
        </p:txBody>
      </p:sp>
      <p:sp>
        <p:nvSpPr>
          <p:cNvPr id="24" name="Text 21"/>
          <p:cNvSpPr txBox="1"/>
          <p:nvPr/>
        </p:nvSpPr>
        <p:spPr>
          <a:xfrm>
            <a:off x="7406640" y="4251960"/>
            <a:ext cx="3959352" cy="82296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Summary screen: shows rows loaded, types detected, and 64% memory saved</a:t>
            </a:r>
            <a:endParaRPr lang="en-US" sz="14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RESULTS</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Instant Health Check for Your Data</a:t>
            </a:r>
            <a:endParaRPr lang="en-US" sz="3200" dirty="0"/>
          </a:p>
        </p:txBody>
      </p:sp>
      <p:sp>
        <p:nvSpPr>
          <p:cNvPr id="5" name="Shape 2"/>
          <p:cNvSpPr/>
          <p:nvPr/>
        </p:nvSpPr>
        <p:spPr>
          <a:xfrm>
            <a:off x="1097280" y="1691640"/>
            <a:ext cx="5760720" cy="0"/>
          </a:xfrm>
          <a:prstGeom prst="line">
            <a:avLst/>
          </a:prstGeom>
          <a:noFill/>
          <a:ln w="9525">
            <a:solidFill>
              <a:srgbClr val="D5DEEC"/>
            </a:solidFill>
            <a:prstDash val="solid"/>
          </a:ln>
        </p:spPr>
        <p:txBody>
          <a:bodyPr/>
          <a:p/>
        </p:txBody>
      </p:sp>
      <p:sp>
        <p:nvSpPr>
          <p:cNvPr id="6" name="Text 3"/>
          <p:cNvSpPr txBox="1"/>
          <p:nvPr/>
        </p:nvSpPr>
        <p:spPr>
          <a:xfrm>
            <a:off x="1097280" y="18196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7" name="Text 4"/>
          <p:cNvSpPr txBox="1"/>
          <p:nvPr/>
        </p:nvSpPr>
        <p:spPr>
          <a:xfrm>
            <a:off x="1828800" y="17830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What You See</a:t>
            </a:r>
            <a:endParaRPr lang="en-US" sz="2200" dirty="0"/>
          </a:p>
        </p:txBody>
      </p:sp>
      <p:sp>
        <p:nvSpPr>
          <p:cNvPr id="8" name="Text 5"/>
          <p:cNvSpPr txBox="1"/>
          <p:nvPr/>
        </p:nvSpPr>
        <p:spPr>
          <a:xfrm>
            <a:off x="1828800" y="214884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Instant summaries, missing data heatmaps, and column overviews</a:t>
            </a:r>
            <a:endParaRPr lang="en-US" sz="1700" dirty="0"/>
          </a:p>
        </p:txBody>
      </p:sp>
      <p:sp>
        <p:nvSpPr>
          <p:cNvPr id="9" name="Shape 6"/>
          <p:cNvSpPr/>
          <p:nvPr/>
        </p:nvSpPr>
        <p:spPr>
          <a:xfrm>
            <a:off x="1097280" y="2788920"/>
            <a:ext cx="5760720" cy="0"/>
          </a:xfrm>
          <a:prstGeom prst="line">
            <a:avLst/>
          </a:prstGeom>
          <a:noFill/>
          <a:ln w="9525">
            <a:solidFill>
              <a:srgbClr val="D5DEEC"/>
            </a:solidFill>
            <a:prstDash val="solid"/>
          </a:ln>
        </p:spPr>
        <p:txBody>
          <a:bodyPr/>
          <a:p/>
        </p:txBody>
      </p:sp>
      <p:sp>
        <p:nvSpPr>
          <p:cNvPr id="10" name="Text 7"/>
          <p:cNvSpPr txBox="1"/>
          <p:nvPr/>
        </p:nvSpPr>
        <p:spPr>
          <a:xfrm>
            <a:off x="1097280" y="291693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11" name="Text 8"/>
          <p:cNvSpPr txBox="1"/>
          <p:nvPr/>
        </p:nvSpPr>
        <p:spPr>
          <a:xfrm>
            <a:off x="1828800" y="288036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Key Metrics</a:t>
            </a:r>
            <a:endParaRPr lang="en-US" sz="2200" dirty="0"/>
          </a:p>
        </p:txBody>
      </p:sp>
      <p:sp>
        <p:nvSpPr>
          <p:cNvPr id="12" name="Text 9"/>
          <p:cNvSpPr txBox="1"/>
          <p:nvPr/>
        </p:nvSpPr>
        <p:spPr>
          <a:xfrm>
            <a:off x="1828800" y="324612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Averages, ranges, spread, uniqueness, and completeness scores</a:t>
            </a:r>
            <a:endParaRPr lang="en-US" sz="1700" dirty="0"/>
          </a:p>
        </p:txBody>
      </p:sp>
      <p:sp>
        <p:nvSpPr>
          <p:cNvPr id="13" name="Shape 10"/>
          <p:cNvSpPr/>
          <p:nvPr/>
        </p:nvSpPr>
        <p:spPr>
          <a:xfrm>
            <a:off x="1097280" y="3886200"/>
            <a:ext cx="5760720" cy="0"/>
          </a:xfrm>
          <a:prstGeom prst="line">
            <a:avLst/>
          </a:prstGeom>
          <a:noFill/>
          <a:ln w="9525">
            <a:solidFill>
              <a:srgbClr val="D5DEEC"/>
            </a:solidFill>
            <a:prstDash val="solid"/>
          </a:ln>
        </p:spPr>
        <p:txBody>
          <a:bodyPr/>
          <a:p/>
        </p:txBody>
      </p:sp>
      <p:sp>
        <p:nvSpPr>
          <p:cNvPr id="14" name="Text 11"/>
          <p:cNvSpPr txBox="1"/>
          <p:nvPr/>
        </p:nvSpPr>
        <p:spPr>
          <a:xfrm>
            <a:off x="1097280" y="401421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03</a:t>
            </a:r>
            <a:endParaRPr lang="en-US" sz="1800" dirty="0"/>
          </a:p>
        </p:txBody>
      </p:sp>
      <p:sp>
        <p:nvSpPr>
          <p:cNvPr id="15" name="Text 12"/>
          <p:cNvSpPr txBox="1"/>
          <p:nvPr/>
        </p:nvSpPr>
        <p:spPr>
          <a:xfrm>
            <a:off x="1828800" y="397764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Benchmark Dataset</a:t>
            </a:r>
            <a:endParaRPr lang="en-US" sz="2200" dirty="0"/>
          </a:p>
        </p:txBody>
      </p:sp>
      <p:sp>
        <p:nvSpPr>
          <p:cNvPr id="16" name="Text 13"/>
          <p:cNvSpPr txBox="1"/>
          <p:nvPr/>
        </p:nvSpPr>
        <p:spPr>
          <a:xfrm>
            <a:off x="1828800" y="434340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Tested on a 45,211-row banking customer dataset</a:t>
            </a:r>
            <a:endParaRPr lang="en-US" sz="1700" dirty="0"/>
          </a:p>
        </p:txBody>
      </p:sp>
      <p:sp>
        <p:nvSpPr>
          <p:cNvPr id="17" name="Shape 14"/>
          <p:cNvSpPr/>
          <p:nvPr/>
        </p:nvSpPr>
        <p:spPr>
          <a:xfrm>
            <a:off x="1097280" y="4983480"/>
            <a:ext cx="5760720" cy="0"/>
          </a:xfrm>
          <a:prstGeom prst="line">
            <a:avLst/>
          </a:prstGeom>
          <a:noFill/>
          <a:ln w="9525">
            <a:solidFill>
              <a:srgbClr val="D5DEEC"/>
            </a:solidFill>
            <a:prstDash val="solid"/>
          </a:ln>
        </p:spPr>
        <p:txBody>
          <a:bodyPr/>
          <a:p/>
        </p:txBody>
      </p:sp>
      <p:sp>
        <p:nvSpPr>
          <p:cNvPr id="18" name="Text 15"/>
          <p:cNvSpPr txBox="1"/>
          <p:nvPr/>
        </p:nvSpPr>
        <p:spPr>
          <a:xfrm>
            <a:off x="1097280" y="511149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04</a:t>
            </a:r>
            <a:endParaRPr lang="en-US" sz="1800" dirty="0"/>
          </a:p>
        </p:txBody>
      </p:sp>
      <p:sp>
        <p:nvSpPr>
          <p:cNvPr id="19" name="Text 16"/>
          <p:cNvSpPr txBox="1"/>
          <p:nvPr/>
        </p:nvSpPr>
        <p:spPr>
          <a:xfrm>
            <a:off x="1828800" y="507492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Key Benefit</a:t>
            </a:r>
            <a:endParaRPr lang="en-US" sz="2200" dirty="0"/>
          </a:p>
        </p:txBody>
      </p:sp>
      <p:sp>
        <p:nvSpPr>
          <p:cNvPr id="20" name="Text 17"/>
          <p:cNvSpPr txBox="1"/>
          <p:nvPr/>
        </p:nvSpPr>
        <p:spPr>
          <a:xfrm>
            <a:off x="1828800" y="544068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Catches data quality risks and biased columns immediately</a:t>
            </a:r>
            <a:endParaRPr lang="en-US" sz="1700" dirty="0"/>
          </a:p>
        </p:txBody>
      </p:sp>
      <p:sp>
        <p:nvSpPr>
          <p:cNvPr id="21" name="Shape 18"/>
          <p:cNvSpPr/>
          <p:nvPr/>
        </p:nvSpPr>
        <p:spPr>
          <a:xfrm>
            <a:off x="1097280" y="6080760"/>
            <a:ext cx="5760720" cy="0"/>
          </a:xfrm>
          <a:prstGeom prst="line">
            <a:avLst/>
          </a:prstGeom>
          <a:noFill/>
          <a:ln w="9525">
            <a:solidFill>
              <a:srgbClr val="D5DEEC"/>
            </a:solidFill>
            <a:prstDash val="solid"/>
          </a:ln>
        </p:spPr>
        <p:txBody>
          <a:bodyPr/>
          <a:p/>
        </p:txBody>
      </p:sp>
      <p:sp>
        <p:nvSpPr>
          <p:cNvPr id="22" name="Shape 19"/>
          <p:cNvSpPr/>
          <p:nvPr/>
        </p:nvSpPr>
        <p:spPr>
          <a:xfrm>
            <a:off x="7132320" y="1691640"/>
            <a:ext cx="4507992" cy="4389120"/>
          </a:xfrm>
          <a:prstGeom prst="roundRect">
            <a:avLst>
              <a:gd name="adj" fmla="val 3125"/>
            </a:avLst>
          </a:prstGeom>
          <a:solidFill>
            <a:srgbClr val="F0F5FF"/>
          </a:solidFill>
          <a:ln w="15875">
            <a:solidFill>
              <a:srgbClr val="1D4ED8"/>
            </a:solidFill>
            <a:prstDash val="dash"/>
          </a:ln>
        </p:spPr>
        <p:txBody>
          <a:bodyPr/>
          <a:p/>
        </p:txBody>
      </p:sp>
      <p:sp>
        <p:nvSpPr>
          <p:cNvPr id="23" name="Text 20"/>
          <p:cNvSpPr txBox="1"/>
          <p:nvPr/>
        </p:nvSpPr>
        <p:spPr>
          <a:xfrm>
            <a:off x="7132320" y="3200400"/>
            <a:ext cx="4507992" cy="640080"/>
          </a:xfrm>
          <a:prstGeom prst="rect">
            <a:avLst/>
          </a:prstGeom>
          <a:noFill/>
          <a:ln/>
        </p:spPr>
        <p:txBody>
          <a:bodyPr wrap="square" lIns="0" tIns="0" rIns="0" bIns="0" rtlCol="0" anchor="t"/>
          <a:lstStyle/>
          <a:p>
            <a:pPr algn="ctr" indent="0" marL="0">
              <a:buNone/>
            </a:pPr>
            <a:r>
              <a:rPr lang="en-US" sz="3400" dirty="0">
                <a:solidFill>
                  <a:srgbClr val="93B4F5"/>
                </a:solidFill>
                <a:latin typeface="Arial" pitchFamily="34" charset="0"/>
                <a:ea typeface="Arial" pitchFamily="34" charset="-122"/>
                <a:cs typeface="Arial" pitchFamily="34" charset="-120"/>
              </a:rPr>
              <a:t>▣</a:t>
            </a:r>
            <a:endParaRPr lang="en-US" sz="3400" dirty="0"/>
          </a:p>
        </p:txBody>
      </p:sp>
      <p:sp>
        <p:nvSpPr>
          <p:cNvPr id="24" name="Text 21"/>
          <p:cNvSpPr txBox="1"/>
          <p:nvPr/>
        </p:nvSpPr>
        <p:spPr>
          <a:xfrm>
            <a:off x="7132320" y="3886200"/>
            <a:ext cx="4507992" cy="27432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SCREENSHOT</a:t>
            </a:r>
            <a:endParaRPr lang="en-US" sz="1200" dirty="0"/>
          </a:p>
        </p:txBody>
      </p:sp>
      <p:sp>
        <p:nvSpPr>
          <p:cNvPr id="25" name="Text 22"/>
          <p:cNvSpPr txBox="1"/>
          <p:nvPr/>
        </p:nvSpPr>
        <p:spPr>
          <a:xfrm>
            <a:off x="7406640" y="4251960"/>
            <a:ext cx="3959352" cy="82296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Data health dashboard: visual indicators show exactly where attention is needed</a:t>
            </a:r>
            <a:endParaRPr lang="en-US" sz="14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The Result</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Hands-Free Cleanup of Damaged Records</a:t>
            </a:r>
            <a:endParaRPr lang="en-US" sz="3200" dirty="0"/>
          </a:p>
        </p:txBody>
      </p:sp>
      <p:sp>
        <p:nvSpPr>
          <p:cNvPr id="5" name="Shape 2"/>
          <p:cNvSpPr/>
          <p:nvPr/>
        </p:nvSpPr>
        <p:spPr>
          <a:xfrm>
            <a:off x="1097280" y="1691640"/>
            <a:ext cx="5760720" cy="0"/>
          </a:xfrm>
          <a:prstGeom prst="line">
            <a:avLst/>
          </a:prstGeom>
          <a:noFill/>
          <a:ln w="9525">
            <a:solidFill>
              <a:srgbClr val="D5DEEC"/>
            </a:solidFill>
            <a:prstDash val="solid"/>
          </a:ln>
        </p:spPr>
        <p:txBody>
          <a:bodyPr/>
          <a:p/>
        </p:txBody>
      </p:sp>
      <p:sp>
        <p:nvSpPr>
          <p:cNvPr id="6" name="Text 3"/>
          <p:cNvSpPr txBox="1"/>
          <p:nvPr/>
        </p:nvSpPr>
        <p:spPr>
          <a:xfrm>
            <a:off x="1097280" y="18196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7" name="Text 4"/>
          <p:cNvSpPr txBox="1"/>
          <p:nvPr/>
        </p:nvSpPr>
        <p:spPr>
          <a:xfrm>
            <a:off x="1828800" y="17830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The Messy Input</a:t>
            </a:r>
            <a:endParaRPr lang="en-US" sz="2200" dirty="0"/>
          </a:p>
        </p:txBody>
      </p:sp>
      <p:sp>
        <p:nvSpPr>
          <p:cNvPr id="8" name="Text 5"/>
          <p:cNvSpPr txBox="1"/>
          <p:nvPr/>
        </p:nvSpPr>
        <p:spPr>
          <a:xfrm>
            <a:off x="1828800" y="214884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12% of revenue numbers were blank, plus extreme outlier typo spikes</a:t>
            </a:r>
            <a:endParaRPr lang="en-US" sz="1700" dirty="0"/>
          </a:p>
        </p:txBody>
      </p:sp>
      <p:sp>
        <p:nvSpPr>
          <p:cNvPr id="9" name="Shape 6"/>
          <p:cNvSpPr/>
          <p:nvPr/>
        </p:nvSpPr>
        <p:spPr>
          <a:xfrm>
            <a:off x="1097280" y="2788920"/>
            <a:ext cx="5760720" cy="0"/>
          </a:xfrm>
          <a:prstGeom prst="line">
            <a:avLst/>
          </a:prstGeom>
          <a:noFill/>
          <a:ln w="9525">
            <a:solidFill>
              <a:srgbClr val="D5DEEC"/>
            </a:solidFill>
            <a:prstDash val="solid"/>
          </a:ln>
        </p:spPr>
        <p:txBody>
          <a:bodyPr/>
          <a:p/>
        </p:txBody>
      </p:sp>
      <p:sp>
        <p:nvSpPr>
          <p:cNvPr id="10" name="Text 7"/>
          <p:cNvSpPr txBox="1"/>
          <p:nvPr/>
        </p:nvSpPr>
        <p:spPr>
          <a:xfrm>
            <a:off x="1097280" y="291693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11" name="Text 8"/>
          <p:cNvSpPr txBox="1"/>
          <p:nvPr/>
        </p:nvSpPr>
        <p:spPr>
          <a:xfrm>
            <a:off x="1828800" y="288036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Automated Fix</a:t>
            </a:r>
            <a:endParaRPr lang="en-US" sz="2200" dirty="0"/>
          </a:p>
        </p:txBody>
      </p:sp>
      <p:sp>
        <p:nvSpPr>
          <p:cNvPr id="12" name="Text 9"/>
          <p:cNvSpPr txBox="1"/>
          <p:nvPr/>
        </p:nvSpPr>
        <p:spPr>
          <a:xfrm>
            <a:off x="1828800" y="324612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Smart statistical filling + automatic capping of extreme values</a:t>
            </a:r>
            <a:endParaRPr lang="en-US" sz="1700" dirty="0"/>
          </a:p>
        </p:txBody>
      </p:sp>
      <p:sp>
        <p:nvSpPr>
          <p:cNvPr id="13" name="Shape 10"/>
          <p:cNvSpPr/>
          <p:nvPr/>
        </p:nvSpPr>
        <p:spPr>
          <a:xfrm>
            <a:off x="1097280" y="3886200"/>
            <a:ext cx="5760720" cy="0"/>
          </a:xfrm>
          <a:prstGeom prst="line">
            <a:avLst/>
          </a:prstGeom>
          <a:noFill/>
          <a:ln w="9525">
            <a:solidFill>
              <a:srgbClr val="D5DEEC"/>
            </a:solidFill>
            <a:prstDash val="solid"/>
          </a:ln>
        </p:spPr>
        <p:txBody>
          <a:bodyPr/>
          <a:p/>
        </p:txBody>
      </p:sp>
      <p:sp>
        <p:nvSpPr>
          <p:cNvPr id="14" name="Text 11"/>
          <p:cNvSpPr txBox="1"/>
          <p:nvPr/>
        </p:nvSpPr>
        <p:spPr>
          <a:xfrm>
            <a:off x="1097280" y="401421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03</a:t>
            </a:r>
            <a:endParaRPr lang="en-US" sz="1800" dirty="0"/>
          </a:p>
        </p:txBody>
      </p:sp>
      <p:sp>
        <p:nvSpPr>
          <p:cNvPr id="15" name="Text 12"/>
          <p:cNvSpPr txBox="1"/>
          <p:nvPr/>
        </p:nvSpPr>
        <p:spPr>
          <a:xfrm>
            <a:off x="1828800" y="397764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Result</a:t>
            </a:r>
            <a:endParaRPr lang="en-US" sz="2200" dirty="0"/>
          </a:p>
        </p:txBody>
      </p:sp>
      <p:sp>
        <p:nvSpPr>
          <p:cNvPr id="16" name="Text 13"/>
          <p:cNvSpPr txBox="1"/>
          <p:nvPr/>
        </p:nvSpPr>
        <p:spPr>
          <a:xfrm>
            <a:off x="1828800" y="434340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Zero empty cells, clean stable trends, and 100% of rows preserved</a:t>
            </a:r>
            <a:endParaRPr lang="en-US" sz="1700" dirty="0"/>
          </a:p>
        </p:txBody>
      </p:sp>
      <p:sp>
        <p:nvSpPr>
          <p:cNvPr id="17" name="Shape 14"/>
          <p:cNvSpPr/>
          <p:nvPr/>
        </p:nvSpPr>
        <p:spPr>
          <a:xfrm>
            <a:off x="1097280" y="4983480"/>
            <a:ext cx="5760720" cy="0"/>
          </a:xfrm>
          <a:prstGeom prst="line">
            <a:avLst/>
          </a:prstGeom>
          <a:noFill/>
          <a:ln w="9525">
            <a:solidFill>
              <a:srgbClr val="D5DEEC"/>
            </a:solidFill>
            <a:prstDash val="solid"/>
          </a:ln>
        </p:spPr>
        <p:txBody>
          <a:bodyPr/>
          <a:p/>
        </p:txBody>
      </p:sp>
      <p:sp>
        <p:nvSpPr>
          <p:cNvPr id="18" name="Text 15"/>
          <p:cNvSpPr txBox="1"/>
          <p:nvPr/>
        </p:nvSpPr>
        <p:spPr>
          <a:xfrm>
            <a:off x="1097280" y="511149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04</a:t>
            </a:r>
            <a:endParaRPr lang="en-US" sz="1800" dirty="0"/>
          </a:p>
        </p:txBody>
      </p:sp>
      <p:sp>
        <p:nvSpPr>
          <p:cNvPr id="19" name="Text 16"/>
          <p:cNvSpPr txBox="1"/>
          <p:nvPr/>
        </p:nvSpPr>
        <p:spPr>
          <a:xfrm>
            <a:off x="1828800" y="507492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Verified Safe</a:t>
            </a:r>
            <a:endParaRPr lang="en-US" sz="2200" dirty="0"/>
          </a:p>
        </p:txBody>
      </p:sp>
      <p:sp>
        <p:nvSpPr>
          <p:cNvPr id="20" name="Text 17"/>
          <p:cNvSpPr txBox="1"/>
          <p:nvPr/>
        </p:nvSpPr>
        <p:spPr>
          <a:xfrm>
            <a:off x="1828800" y="544068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Guaranteed: no negative numbers, intact row counts, full audit trail</a:t>
            </a:r>
            <a:endParaRPr lang="en-US" sz="1700" dirty="0"/>
          </a:p>
        </p:txBody>
      </p:sp>
      <p:sp>
        <p:nvSpPr>
          <p:cNvPr id="21" name="Shape 18"/>
          <p:cNvSpPr/>
          <p:nvPr/>
        </p:nvSpPr>
        <p:spPr>
          <a:xfrm>
            <a:off x="1097280" y="6080760"/>
            <a:ext cx="5760720" cy="0"/>
          </a:xfrm>
          <a:prstGeom prst="line">
            <a:avLst/>
          </a:prstGeom>
          <a:noFill/>
          <a:ln w="9525">
            <a:solidFill>
              <a:srgbClr val="D5DEEC"/>
            </a:solidFill>
            <a:prstDash val="solid"/>
          </a:ln>
        </p:spPr>
        <p:txBody>
          <a:bodyPr/>
          <a:p/>
        </p:txBody>
      </p:sp>
      <p:sp>
        <p:nvSpPr>
          <p:cNvPr id="22" name="Shape 19"/>
          <p:cNvSpPr/>
          <p:nvPr/>
        </p:nvSpPr>
        <p:spPr>
          <a:xfrm>
            <a:off x="7132320" y="1691640"/>
            <a:ext cx="4507992" cy="4389120"/>
          </a:xfrm>
          <a:prstGeom prst="roundRect">
            <a:avLst>
              <a:gd name="adj" fmla="val 3125"/>
            </a:avLst>
          </a:prstGeom>
          <a:solidFill>
            <a:srgbClr val="F0F5FF"/>
          </a:solidFill>
          <a:ln w="15875">
            <a:solidFill>
              <a:srgbClr val="1D4ED8"/>
            </a:solidFill>
            <a:prstDash val="dash"/>
          </a:ln>
        </p:spPr>
        <p:txBody>
          <a:bodyPr/>
          <a:p/>
        </p:txBody>
      </p:sp>
      <p:sp>
        <p:nvSpPr>
          <p:cNvPr id="23" name="Text 20"/>
          <p:cNvSpPr txBox="1"/>
          <p:nvPr/>
        </p:nvSpPr>
        <p:spPr>
          <a:xfrm>
            <a:off x="7132320" y="3200400"/>
            <a:ext cx="4507992" cy="640080"/>
          </a:xfrm>
          <a:prstGeom prst="rect">
            <a:avLst/>
          </a:prstGeom>
          <a:noFill/>
          <a:ln/>
        </p:spPr>
        <p:txBody>
          <a:bodyPr wrap="square" lIns="0" tIns="0" rIns="0" bIns="0" rtlCol="0" anchor="t"/>
          <a:lstStyle/>
          <a:p>
            <a:pPr algn="ctr" indent="0" marL="0">
              <a:buNone/>
            </a:pPr>
            <a:r>
              <a:rPr lang="en-US" sz="3400" dirty="0">
                <a:solidFill>
                  <a:srgbClr val="93B4F5"/>
                </a:solidFill>
                <a:latin typeface="Arial" pitchFamily="34" charset="0"/>
                <a:ea typeface="Arial" pitchFamily="34" charset="-122"/>
                <a:cs typeface="Arial" pitchFamily="34" charset="-120"/>
              </a:rPr>
              <a:t>▣</a:t>
            </a:r>
            <a:endParaRPr lang="en-US" sz="3400" dirty="0"/>
          </a:p>
        </p:txBody>
      </p:sp>
      <p:sp>
        <p:nvSpPr>
          <p:cNvPr id="24" name="Text 21"/>
          <p:cNvSpPr txBox="1"/>
          <p:nvPr/>
        </p:nvSpPr>
        <p:spPr>
          <a:xfrm>
            <a:off x="7132320" y="3886200"/>
            <a:ext cx="4507992" cy="27432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SCREENSHOT</a:t>
            </a:r>
            <a:endParaRPr lang="en-US" sz="1200" dirty="0"/>
          </a:p>
        </p:txBody>
      </p:sp>
      <p:sp>
        <p:nvSpPr>
          <p:cNvPr id="25" name="Text 22"/>
          <p:cNvSpPr txBox="1"/>
          <p:nvPr/>
        </p:nvSpPr>
        <p:spPr>
          <a:xfrm>
            <a:off x="7406640" y="4251960"/>
            <a:ext cx="3959352" cy="82296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Side-by-side view: messy spike before vs smooth clean distribution after</a:t>
            </a:r>
            <a:endParaRPr lang="en-US" sz="14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RESULTS</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Explore Data by Pointing and Clicking</a:t>
            </a:r>
            <a:endParaRPr lang="en-US" sz="3200" dirty="0"/>
          </a:p>
        </p:txBody>
      </p:sp>
      <p:sp>
        <p:nvSpPr>
          <p:cNvPr id="5" name="Shape 2"/>
          <p:cNvSpPr/>
          <p:nvPr/>
        </p:nvSpPr>
        <p:spPr>
          <a:xfrm>
            <a:off x="1097280" y="1691640"/>
            <a:ext cx="5760720" cy="0"/>
          </a:xfrm>
          <a:prstGeom prst="line">
            <a:avLst/>
          </a:prstGeom>
          <a:noFill/>
          <a:ln w="9525">
            <a:solidFill>
              <a:srgbClr val="D5DEEC"/>
            </a:solidFill>
            <a:prstDash val="solid"/>
          </a:ln>
        </p:spPr>
        <p:txBody>
          <a:bodyPr/>
          <a:p/>
        </p:txBody>
      </p:sp>
      <p:sp>
        <p:nvSpPr>
          <p:cNvPr id="6" name="Text 3"/>
          <p:cNvSpPr txBox="1"/>
          <p:nvPr/>
        </p:nvSpPr>
        <p:spPr>
          <a:xfrm>
            <a:off x="1097280" y="18196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7" name="Text 4"/>
          <p:cNvSpPr txBox="1"/>
          <p:nvPr/>
        </p:nvSpPr>
        <p:spPr>
          <a:xfrm>
            <a:off x="1828800" y="17830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Built for Everyone</a:t>
            </a:r>
            <a:endParaRPr lang="en-US" sz="2200" dirty="0"/>
          </a:p>
        </p:txBody>
      </p:sp>
      <p:sp>
        <p:nvSpPr>
          <p:cNvPr id="8" name="Text 5"/>
          <p:cNvSpPr txBox="1"/>
          <p:nvPr/>
        </p:nvSpPr>
        <p:spPr>
          <a:xfrm>
            <a:off x="1828800" y="214884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Anyone can explore complex data without knowing SQL or Python</a:t>
            </a:r>
            <a:endParaRPr lang="en-US" sz="1700" dirty="0"/>
          </a:p>
        </p:txBody>
      </p:sp>
      <p:sp>
        <p:nvSpPr>
          <p:cNvPr id="9" name="Shape 6"/>
          <p:cNvSpPr/>
          <p:nvPr/>
        </p:nvSpPr>
        <p:spPr>
          <a:xfrm>
            <a:off x="1097280" y="2788920"/>
            <a:ext cx="5760720" cy="0"/>
          </a:xfrm>
          <a:prstGeom prst="line">
            <a:avLst/>
          </a:prstGeom>
          <a:noFill/>
          <a:ln w="9525">
            <a:solidFill>
              <a:srgbClr val="D5DEEC"/>
            </a:solidFill>
            <a:prstDash val="solid"/>
          </a:ln>
        </p:spPr>
        <p:txBody>
          <a:bodyPr/>
          <a:p/>
        </p:txBody>
      </p:sp>
      <p:sp>
        <p:nvSpPr>
          <p:cNvPr id="10" name="Text 7"/>
          <p:cNvSpPr txBox="1"/>
          <p:nvPr/>
        </p:nvSpPr>
        <p:spPr>
          <a:xfrm>
            <a:off x="1097280" y="291693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11" name="Text 8"/>
          <p:cNvSpPr txBox="1"/>
          <p:nvPr/>
        </p:nvSpPr>
        <p:spPr>
          <a:xfrm>
            <a:off x="1828800" y="288036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Rich Visual Options</a:t>
            </a:r>
            <a:endParaRPr lang="en-US" sz="2200" dirty="0"/>
          </a:p>
        </p:txBody>
      </p:sp>
      <p:sp>
        <p:nvSpPr>
          <p:cNvPr id="12" name="Text 9"/>
          <p:cNvSpPr txBox="1"/>
          <p:nvPr/>
        </p:nvSpPr>
        <p:spPr>
          <a:xfrm>
            <a:off x="1828800" y="324612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Bar charts, timeline trends, category donuts, and correlation maps</a:t>
            </a:r>
            <a:endParaRPr lang="en-US" sz="1700" dirty="0"/>
          </a:p>
        </p:txBody>
      </p:sp>
      <p:sp>
        <p:nvSpPr>
          <p:cNvPr id="13" name="Shape 10"/>
          <p:cNvSpPr/>
          <p:nvPr/>
        </p:nvSpPr>
        <p:spPr>
          <a:xfrm>
            <a:off x="1097280" y="3886200"/>
            <a:ext cx="5760720" cy="0"/>
          </a:xfrm>
          <a:prstGeom prst="line">
            <a:avLst/>
          </a:prstGeom>
          <a:noFill/>
          <a:ln w="9525">
            <a:solidFill>
              <a:srgbClr val="D5DEEC"/>
            </a:solidFill>
            <a:prstDash val="solid"/>
          </a:ln>
        </p:spPr>
        <p:txBody>
          <a:bodyPr/>
          <a:p/>
        </p:txBody>
      </p:sp>
      <p:sp>
        <p:nvSpPr>
          <p:cNvPr id="14" name="Text 11"/>
          <p:cNvSpPr txBox="1"/>
          <p:nvPr/>
        </p:nvSpPr>
        <p:spPr>
          <a:xfrm>
            <a:off x="1097280" y="401421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03</a:t>
            </a:r>
            <a:endParaRPr lang="en-US" sz="1800" dirty="0"/>
          </a:p>
        </p:txBody>
      </p:sp>
      <p:sp>
        <p:nvSpPr>
          <p:cNvPr id="15" name="Text 12"/>
          <p:cNvSpPr txBox="1"/>
          <p:nvPr/>
        </p:nvSpPr>
        <p:spPr>
          <a:xfrm>
            <a:off x="1828800" y="397764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Interactive Filtering</a:t>
            </a:r>
            <a:endParaRPr lang="en-US" sz="2200" dirty="0"/>
          </a:p>
        </p:txBody>
      </p:sp>
      <p:sp>
        <p:nvSpPr>
          <p:cNvPr id="16" name="Text 13"/>
          <p:cNvSpPr txBox="1"/>
          <p:nvPr/>
        </p:nvSpPr>
        <p:spPr>
          <a:xfrm>
            <a:off x="1828800" y="434340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Click any bar or date range to instantly update the whole screen</a:t>
            </a:r>
            <a:endParaRPr lang="en-US" sz="1700" dirty="0"/>
          </a:p>
        </p:txBody>
      </p:sp>
      <p:sp>
        <p:nvSpPr>
          <p:cNvPr id="17" name="Shape 14"/>
          <p:cNvSpPr/>
          <p:nvPr/>
        </p:nvSpPr>
        <p:spPr>
          <a:xfrm>
            <a:off x="1097280" y="4983480"/>
            <a:ext cx="5760720" cy="0"/>
          </a:xfrm>
          <a:prstGeom prst="line">
            <a:avLst/>
          </a:prstGeom>
          <a:noFill/>
          <a:ln w="9525">
            <a:solidFill>
              <a:srgbClr val="D5DEEC"/>
            </a:solidFill>
            <a:prstDash val="solid"/>
          </a:ln>
        </p:spPr>
        <p:txBody>
          <a:bodyPr/>
          <a:p/>
        </p:txBody>
      </p:sp>
      <p:sp>
        <p:nvSpPr>
          <p:cNvPr id="18" name="Text 15"/>
          <p:cNvSpPr txBox="1"/>
          <p:nvPr/>
        </p:nvSpPr>
        <p:spPr>
          <a:xfrm>
            <a:off x="1097280" y="511149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04</a:t>
            </a:r>
            <a:endParaRPr lang="en-US" sz="1800" dirty="0"/>
          </a:p>
        </p:txBody>
      </p:sp>
      <p:sp>
        <p:nvSpPr>
          <p:cNvPr id="19" name="Text 16"/>
          <p:cNvSpPr txBox="1"/>
          <p:nvPr/>
        </p:nvSpPr>
        <p:spPr>
          <a:xfrm>
            <a:off x="1828800" y="507492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Design Polish</a:t>
            </a:r>
            <a:endParaRPr lang="en-US" sz="2200" dirty="0"/>
          </a:p>
        </p:txBody>
      </p:sp>
      <p:sp>
        <p:nvSpPr>
          <p:cNvPr id="20" name="Text 17"/>
          <p:cNvSpPr txBox="1"/>
          <p:nvPr/>
        </p:nvSpPr>
        <p:spPr>
          <a:xfrm>
            <a:off x="1828800" y="544068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Beautiful, high-contrast graphics generated automatically</a:t>
            </a:r>
            <a:endParaRPr lang="en-US" sz="1700" dirty="0"/>
          </a:p>
        </p:txBody>
      </p:sp>
      <p:sp>
        <p:nvSpPr>
          <p:cNvPr id="21" name="Shape 18"/>
          <p:cNvSpPr/>
          <p:nvPr/>
        </p:nvSpPr>
        <p:spPr>
          <a:xfrm>
            <a:off x="1097280" y="6080760"/>
            <a:ext cx="5760720" cy="0"/>
          </a:xfrm>
          <a:prstGeom prst="line">
            <a:avLst/>
          </a:prstGeom>
          <a:noFill/>
          <a:ln w="9525">
            <a:solidFill>
              <a:srgbClr val="D5DEEC"/>
            </a:solidFill>
            <a:prstDash val="solid"/>
          </a:ln>
        </p:spPr>
        <p:txBody>
          <a:bodyPr/>
          <a:p/>
        </p:txBody>
      </p:sp>
      <p:sp>
        <p:nvSpPr>
          <p:cNvPr id="22" name="Shape 19"/>
          <p:cNvSpPr/>
          <p:nvPr/>
        </p:nvSpPr>
        <p:spPr>
          <a:xfrm>
            <a:off x="7132320" y="1691640"/>
            <a:ext cx="4507992" cy="4389120"/>
          </a:xfrm>
          <a:prstGeom prst="roundRect">
            <a:avLst>
              <a:gd name="adj" fmla="val 3125"/>
            </a:avLst>
          </a:prstGeom>
          <a:solidFill>
            <a:srgbClr val="F0F5FF"/>
          </a:solidFill>
          <a:ln w="15875">
            <a:solidFill>
              <a:srgbClr val="1D4ED8"/>
            </a:solidFill>
            <a:prstDash val="dash"/>
          </a:ln>
        </p:spPr>
        <p:txBody>
          <a:bodyPr/>
          <a:p/>
        </p:txBody>
      </p:sp>
      <p:sp>
        <p:nvSpPr>
          <p:cNvPr id="23" name="Text 20"/>
          <p:cNvSpPr txBox="1"/>
          <p:nvPr/>
        </p:nvSpPr>
        <p:spPr>
          <a:xfrm>
            <a:off x="7132320" y="3200400"/>
            <a:ext cx="4507992" cy="640080"/>
          </a:xfrm>
          <a:prstGeom prst="rect">
            <a:avLst/>
          </a:prstGeom>
          <a:noFill/>
          <a:ln/>
        </p:spPr>
        <p:txBody>
          <a:bodyPr wrap="square" lIns="0" tIns="0" rIns="0" bIns="0" rtlCol="0" anchor="t"/>
          <a:lstStyle/>
          <a:p>
            <a:pPr algn="ctr" indent="0" marL="0">
              <a:buNone/>
            </a:pPr>
            <a:r>
              <a:rPr lang="en-US" sz="3400" dirty="0">
                <a:solidFill>
                  <a:srgbClr val="93B4F5"/>
                </a:solidFill>
                <a:latin typeface="Arial" pitchFamily="34" charset="0"/>
                <a:ea typeface="Arial" pitchFamily="34" charset="-122"/>
                <a:cs typeface="Arial" pitchFamily="34" charset="-120"/>
              </a:rPr>
              <a:t>▣</a:t>
            </a:r>
            <a:endParaRPr lang="en-US" sz="3400" dirty="0"/>
          </a:p>
        </p:txBody>
      </p:sp>
      <p:sp>
        <p:nvSpPr>
          <p:cNvPr id="24" name="Text 21"/>
          <p:cNvSpPr txBox="1"/>
          <p:nvPr/>
        </p:nvSpPr>
        <p:spPr>
          <a:xfrm>
            <a:off x="7132320" y="3886200"/>
            <a:ext cx="4507992" cy="27432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SCREENSHOT</a:t>
            </a:r>
            <a:endParaRPr lang="en-US" sz="1200" dirty="0"/>
          </a:p>
        </p:txBody>
      </p:sp>
      <p:sp>
        <p:nvSpPr>
          <p:cNvPr id="25" name="Text 22"/>
          <p:cNvSpPr txBox="1"/>
          <p:nvPr/>
        </p:nvSpPr>
        <p:spPr>
          <a:xfrm>
            <a:off x="7406640" y="4251960"/>
            <a:ext cx="3959352" cy="82296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Live dashboard: synchronized charts that update simultaneously as you click</a:t>
            </a:r>
            <a:endParaRPr lang="en-US" sz="14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RESULTS</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Finding Real Patterns, Not Coincidences</a:t>
            </a:r>
            <a:endParaRPr lang="en-US" sz="3200" dirty="0"/>
          </a:p>
        </p:txBody>
      </p:sp>
      <p:sp>
        <p:nvSpPr>
          <p:cNvPr id="5" name="Shape 2"/>
          <p:cNvSpPr/>
          <p:nvPr/>
        </p:nvSpPr>
        <p:spPr>
          <a:xfrm>
            <a:off x="1097280" y="1691640"/>
            <a:ext cx="5760720" cy="0"/>
          </a:xfrm>
          <a:prstGeom prst="line">
            <a:avLst/>
          </a:prstGeom>
          <a:noFill/>
          <a:ln w="9525">
            <a:solidFill>
              <a:srgbClr val="D5DEEC"/>
            </a:solidFill>
            <a:prstDash val="solid"/>
          </a:ln>
        </p:spPr>
        <p:txBody>
          <a:bodyPr/>
          <a:p/>
        </p:txBody>
      </p:sp>
      <p:sp>
        <p:nvSpPr>
          <p:cNvPr id="6" name="Text 3"/>
          <p:cNvSpPr txBox="1"/>
          <p:nvPr/>
        </p:nvSpPr>
        <p:spPr>
          <a:xfrm>
            <a:off x="1097280" y="18196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7" name="Text 4"/>
          <p:cNvSpPr txBox="1"/>
          <p:nvPr/>
        </p:nvSpPr>
        <p:spPr>
          <a:xfrm>
            <a:off x="1828800" y="17830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14 Built-In Scanners</a:t>
            </a:r>
            <a:endParaRPr lang="en-US" sz="2200" dirty="0"/>
          </a:p>
        </p:txBody>
      </p:sp>
      <p:sp>
        <p:nvSpPr>
          <p:cNvPr id="8" name="Text 5"/>
          <p:cNvSpPr txBox="1"/>
          <p:nvPr/>
        </p:nvSpPr>
        <p:spPr>
          <a:xfrm>
            <a:off x="1828800" y="2148840"/>
            <a:ext cx="5029200" cy="68580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Automatically scans for sudden drops, seasonal shifts, and correlations</a:t>
            </a:r>
            <a:endParaRPr lang="en-US" sz="1700" dirty="0"/>
          </a:p>
        </p:txBody>
      </p:sp>
      <p:sp>
        <p:nvSpPr>
          <p:cNvPr id="9" name="Shape 6"/>
          <p:cNvSpPr/>
          <p:nvPr/>
        </p:nvSpPr>
        <p:spPr>
          <a:xfrm>
            <a:off x="1097280" y="2880360"/>
            <a:ext cx="5760720" cy="0"/>
          </a:xfrm>
          <a:prstGeom prst="line">
            <a:avLst/>
          </a:prstGeom>
          <a:noFill/>
          <a:ln w="9525">
            <a:solidFill>
              <a:srgbClr val="D5DEEC"/>
            </a:solidFill>
            <a:prstDash val="solid"/>
          </a:ln>
        </p:spPr>
        <p:txBody>
          <a:bodyPr/>
          <a:p/>
        </p:txBody>
      </p:sp>
      <p:sp>
        <p:nvSpPr>
          <p:cNvPr id="10" name="Text 7"/>
          <p:cNvSpPr txBox="1"/>
          <p:nvPr/>
        </p:nvSpPr>
        <p:spPr>
          <a:xfrm>
            <a:off x="1097280" y="300837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11" name="Text 8"/>
          <p:cNvSpPr txBox="1"/>
          <p:nvPr/>
        </p:nvSpPr>
        <p:spPr>
          <a:xfrm>
            <a:off x="1828800" y="297180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Real Finding</a:t>
            </a:r>
            <a:endParaRPr lang="en-US" sz="2200" dirty="0"/>
          </a:p>
        </p:txBody>
      </p:sp>
      <p:sp>
        <p:nvSpPr>
          <p:cNvPr id="12" name="Text 9"/>
          <p:cNvSpPr txBox="1"/>
          <p:nvPr/>
        </p:nvSpPr>
        <p:spPr>
          <a:xfrm>
            <a:off x="1828800" y="3337560"/>
            <a:ext cx="5029200" cy="68580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Proven: customer tenure directly reduces customer churn</a:t>
            </a:r>
            <a:endParaRPr lang="en-US" sz="1700" dirty="0"/>
          </a:p>
        </p:txBody>
      </p:sp>
      <p:sp>
        <p:nvSpPr>
          <p:cNvPr id="13" name="Shape 10"/>
          <p:cNvSpPr/>
          <p:nvPr/>
        </p:nvSpPr>
        <p:spPr>
          <a:xfrm>
            <a:off x="1097280" y="4069080"/>
            <a:ext cx="5760720" cy="0"/>
          </a:xfrm>
          <a:prstGeom prst="line">
            <a:avLst/>
          </a:prstGeom>
          <a:noFill/>
          <a:ln w="9525">
            <a:solidFill>
              <a:srgbClr val="D5DEEC"/>
            </a:solidFill>
            <a:prstDash val="solid"/>
          </a:ln>
        </p:spPr>
        <p:txBody>
          <a:bodyPr/>
          <a:p/>
        </p:txBody>
      </p:sp>
      <p:sp>
        <p:nvSpPr>
          <p:cNvPr id="14" name="Text 11"/>
          <p:cNvSpPr txBox="1"/>
          <p:nvPr/>
        </p:nvSpPr>
        <p:spPr>
          <a:xfrm>
            <a:off x="1097280" y="419709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03</a:t>
            </a:r>
            <a:endParaRPr lang="en-US" sz="1800" dirty="0"/>
          </a:p>
        </p:txBody>
      </p:sp>
      <p:sp>
        <p:nvSpPr>
          <p:cNvPr id="15" name="Text 12"/>
          <p:cNvSpPr txBox="1"/>
          <p:nvPr/>
        </p:nvSpPr>
        <p:spPr>
          <a:xfrm>
            <a:off x="1828800" y="416052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Rigorous Testing</a:t>
            </a:r>
            <a:endParaRPr lang="en-US" sz="2200" dirty="0"/>
          </a:p>
        </p:txBody>
      </p:sp>
      <p:sp>
        <p:nvSpPr>
          <p:cNvPr id="16" name="Text 13"/>
          <p:cNvSpPr txBox="1"/>
          <p:nvPr/>
        </p:nvSpPr>
        <p:spPr>
          <a:xfrm>
            <a:off x="1828800" y="4526280"/>
            <a:ext cx="5029200" cy="68580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Tested across 780 simultaneous comparisons to prevent false alarms</a:t>
            </a:r>
            <a:endParaRPr lang="en-US" sz="1700" dirty="0"/>
          </a:p>
        </p:txBody>
      </p:sp>
      <p:sp>
        <p:nvSpPr>
          <p:cNvPr id="17" name="Shape 14"/>
          <p:cNvSpPr/>
          <p:nvPr/>
        </p:nvSpPr>
        <p:spPr>
          <a:xfrm>
            <a:off x="1097280" y="5257800"/>
            <a:ext cx="5760720" cy="0"/>
          </a:xfrm>
          <a:prstGeom prst="line">
            <a:avLst/>
          </a:prstGeom>
          <a:noFill/>
          <a:ln w="9525">
            <a:solidFill>
              <a:srgbClr val="D5DEEC"/>
            </a:solidFill>
            <a:prstDash val="solid"/>
          </a:ln>
        </p:spPr>
        <p:txBody>
          <a:bodyPr/>
          <a:p/>
        </p:txBody>
      </p:sp>
      <p:sp>
        <p:nvSpPr>
          <p:cNvPr id="18" name="Text 15"/>
          <p:cNvSpPr txBox="1"/>
          <p:nvPr/>
        </p:nvSpPr>
        <p:spPr>
          <a:xfrm>
            <a:off x="1097280" y="5394960"/>
            <a:ext cx="5760720" cy="365760"/>
          </a:xfrm>
          <a:prstGeom prst="rect">
            <a:avLst/>
          </a:prstGeom>
          <a:noFill/>
          <a:ln/>
        </p:spPr>
        <p:txBody>
          <a:bodyPr wrap="square" lIns="0" tIns="0" rIns="0" bIns="0" rtlCol="0" anchor="t"/>
          <a:lstStyle/>
          <a:p>
            <a:pPr indent="0" marL="0">
              <a:buNone/>
            </a:pPr>
            <a:r>
              <a:rPr lang="en-US" sz="1700" b="1" dirty="0">
                <a:solidFill>
                  <a:srgbClr val="1D4ED8"/>
                </a:solidFill>
                <a:latin typeface="Arial" pitchFamily="34" charset="0"/>
                <a:ea typeface="Arial" pitchFamily="34" charset="-122"/>
                <a:cs typeface="Arial" pitchFamily="34" charset="-120"/>
              </a:rPr>
              <a:t>Protected by False Discovery Rate (FDR) Guardrails</a:t>
            </a:r>
            <a:endParaRPr lang="en-US" sz="1700" dirty="0"/>
          </a:p>
        </p:txBody>
      </p:sp>
      <p:sp>
        <p:nvSpPr>
          <p:cNvPr id="19" name="Text 16"/>
          <p:cNvSpPr txBox="1"/>
          <p:nvPr/>
        </p:nvSpPr>
        <p:spPr>
          <a:xfrm>
            <a:off x="1097280" y="5760720"/>
            <a:ext cx="5760720" cy="274320"/>
          </a:xfrm>
          <a:prstGeom prst="rect">
            <a:avLst/>
          </a:prstGeom>
          <a:noFill/>
          <a:ln/>
        </p:spPr>
        <p:txBody>
          <a:bodyPr wrap="square" lIns="0" tIns="0" rIns="0" bIns="0" rtlCol="0" anchor="t"/>
          <a:lstStyle/>
          <a:p>
            <a:pPr indent="0" marL="0">
              <a:buNone/>
            </a:pPr>
            <a:r>
              <a:rPr lang="en-US" sz="1200" dirty="0">
                <a:solidFill>
                  <a:srgbClr val="64748B"/>
                </a:solidFill>
                <a:latin typeface="Arial" pitchFamily="34" charset="0"/>
                <a:ea typeface="Arial" pitchFamily="34" charset="-122"/>
                <a:cs typeface="Arial" pitchFamily="34" charset="-120"/>
              </a:rPr>
              <a:t>Scientifically eliminates misleading coincidences</a:t>
            </a:r>
            <a:endParaRPr lang="en-US" sz="1200" dirty="0"/>
          </a:p>
        </p:txBody>
      </p:sp>
      <p:sp>
        <p:nvSpPr>
          <p:cNvPr id="20" name="Shape 17"/>
          <p:cNvSpPr/>
          <p:nvPr/>
        </p:nvSpPr>
        <p:spPr>
          <a:xfrm>
            <a:off x="7132320" y="1691640"/>
            <a:ext cx="4507992" cy="2103120"/>
          </a:xfrm>
          <a:prstGeom prst="roundRect">
            <a:avLst>
              <a:gd name="adj" fmla="val 8696"/>
            </a:avLst>
          </a:prstGeom>
          <a:solidFill>
            <a:srgbClr val="1E3A8A"/>
          </a:solidFill>
          <a:ln w="3175">
            <a:solidFill>
              <a:srgbClr val="1E3A8A"/>
            </a:solidFill>
            <a:prstDash val="solid"/>
          </a:ln>
        </p:spPr>
        <p:txBody>
          <a:bodyPr/>
          <a:p/>
        </p:txBody>
      </p:sp>
      <p:sp>
        <p:nvSpPr>
          <p:cNvPr id="21" name="Text 18"/>
          <p:cNvSpPr txBox="1"/>
          <p:nvPr/>
        </p:nvSpPr>
        <p:spPr>
          <a:xfrm>
            <a:off x="7388352" y="1783080"/>
            <a:ext cx="3995928" cy="1156716"/>
          </a:xfrm>
          <a:prstGeom prst="rect">
            <a:avLst/>
          </a:prstGeom>
          <a:noFill/>
          <a:ln/>
        </p:spPr>
        <p:txBody>
          <a:bodyPr wrap="square" lIns="0" tIns="0" rIns="0" bIns="0" rtlCol="0" anchor="ctr">
            <a:normAutofit/>
          </a:bodyPr>
          <a:lstStyle/>
          <a:p>
            <a:pPr indent="0" marL="0">
              <a:buNone/>
            </a:pPr>
            <a:r>
              <a:rPr lang="en-US" sz="5400" b="1" dirty="0">
                <a:solidFill>
                  <a:srgbClr val="FFFFFF"/>
                </a:solidFill>
                <a:latin typeface="Arial" pitchFamily="34" charset="0"/>
                <a:ea typeface="Arial" pitchFamily="34" charset="-122"/>
                <a:cs typeface="Arial" pitchFamily="34" charset="-120"/>
              </a:rPr>
              <a:t>39.4</a:t>
            </a:r>
            <a:endParaRPr lang="en-US" sz="5400" dirty="0"/>
          </a:p>
        </p:txBody>
      </p:sp>
      <p:sp>
        <p:nvSpPr>
          <p:cNvPr id="22" name="Text 19"/>
          <p:cNvSpPr txBox="1"/>
          <p:nvPr/>
        </p:nvSpPr>
        <p:spPr>
          <a:xfrm>
            <a:off x="7388352" y="3037637"/>
            <a:ext cx="3995928" cy="672998"/>
          </a:xfrm>
          <a:prstGeom prst="rect">
            <a:avLst/>
          </a:prstGeom>
          <a:noFill/>
          <a:ln/>
        </p:spPr>
        <p:txBody>
          <a:bodyPr wrap="square" lIns="0" tIns="0" rIns="0" bIns="0" rtlCol="0" anchor="t"/>
          <a:lstStyle/>
          <a:p>
            <a:pPr indent="0" marL="0">
              <a:buNone/>
            </a:pPr>
            <a:r>
              <a:rPr lang="en-US" sz="1700" dirty="0">
                <a:solidFill>
                  <a:srgbClr val="C7D7FA"/>
                </a:solidFill>
                <a:latin typeface="Arial" pitchFamily="34" charset="0"/>
                <a:ea typeface="Arial" pitchFamily="34" charset="-122"/>
                <a:cs typeface="Arial" pitchFamily="34" charset="-120"/>
              </a:rPr>
              <a:t>false alarms per run in ordinary tools</a:t>
            </a:r>
            <a:endParaRPr lang="en-US" sz="1700" dirty="0"/>
          </a:p>
        </p:txBody>
      </p:sp>
      <p:sp>
        <p:nvSpPr>
          <p:cNvPr id="23" name="Shape 20"/>
          <p:cNvSpPr/>
          <p:nvPr/>
        </p:nvSpPr>
        <p:spPr>
          <a:xfrm>
            <a:off x="7132320" y="3977640"/>
            <a:ext cx="4507992" cy="2103120"/>
          </a:xfrm>
          <a:prstGeom prst="roundRect">
            <a:avLst>
              <a:gd name="adj" fmla="val 8696"/>
            </a:avLst>
          </a:prstGeom>
          <a:solidFill>
            <a:srgbClr val="F97316"/>
          </a:solidFill>
          <a:ln w="3175">
            <a:solidFill>
              <a:srgbClr val="F97316"/>
            </a:solidFill>
            <a:prstDash val="solid"/>
          </a:ln>
        </p:spPr>
        <p:txBody>
          <a:bodyPr/>
          <a:p/>
        </p:txBody>
      </p:sp>
      <p:sp>
        <p:nvSpPr>
          <p:cNvPr id="24" name="Text 21"/>
          <p:cNvSpPr txBox="1"/>
          <p:nvPr/>
        </p:nvSpPr>
        <p:spPr>
          <a:xfrm>
            <a:off x="7388352" y="4069080"/>
            <a:ext cx="3995928" cy="1156716"/>
          </a:xfrm>
          <a:prstGeom prst="rect">
            <a:avLst/>
          </a:prstGeom>
          <a:noFill/>
          <a:ln/>
        </p:spPr>
        <p:txBody>
          <a:bodyPr wrap="square" lIns="0" tIns="0" rIns="0" bIns="0" rtlCol="0" anchor="ctr">
            <a:normAutofit/>
          </a:bodyPr>
          <a:lstStyle/>
          <a:p>
            <a:pPr indent="0" marL="0">
              <a:buNone/>
            </a:pPr>
            <a:r>
              <a:rPr lang="en-US" sz="5400" b="1" dirty="0">
                <a:solidFill>
                  <a:srgbClr val="FFFFFF"/>
                </a:solidFill>
                <a:latin typeface="Arial" pitchFamily="34" charset="0"/>
                <a:ea typeface="Arial" pitchFamily="34" charset="-122"/>
                <a:cs typeface="Arial" pitchFamily="34" charset="-120"/>
              </a:rPr>
              <a:t>0.20</a:t>
            </a:r>
            <a:endParaRPr lang="en-US" sz="5400" dirty="0"/>
          </a:p>
        </p:txBody>
      </p:sp>
      <p:sp>
        <p:nvSpPr>
          <p:cNvPr id="25" name="Text 22"/>
          <p:cNvSpPr txBox="1"/>
          <p:nvPr/>
        </p:nvSpPr>
        <p:spPr>
          <a:xfrm>
            <a:off x="7388352" y="5323637"/>
            <a:ext cx="3995928" cy="672998"/>
          </a:xfrm>
          <a:prstGeom prst="rect">
            <a:avLst/>
          </a:prstGeom>
          <a:noFill/>
          <a:ln/>
        </p:spPr>
        <p:txBody>
          <a:bodyPr wrap="square" lIns="0" tIns="0" rIns="0" bIns="0" rtlCol="0" anchor="t"/>
          <a:lstStyle/>
          <a:p>
            <a:pPr indent="0" marL="0">
              <a:buNone/>
            </a:pPr>
            <a:r>
              <a:rPr lang="en-US" sz="1700" dirty="0">
                <a:solidFill>
                  <a:srgbClr val="FFF1E6"/>
                </a:solidFill>
                <a:latin typeface="Arial" pitchFamily="34" charset="0"/>
                <a:ea typeface="Arial" pitchFamily="34" charset="-122"/>
                <a:cs typeface="Arial" pitchFamily="34" charset="-120"/>
              </a:rPr>
              <a:t>false alarms in DataForge (99.5% reduction)</a:t>
            </a:r>
            <a:endParaRPr lang="en-US" sz="17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RESULTS</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Ask in Plain English, Get Verified Answers</a:t>
            </a:r>
            <a:endParaRPr lang="en-US" sz="3200" dirty="0"/>
          </a:p>
        </p:txBody>
      </p:sp>
      <p:sp>
        <p:nvSpPr>
          <p:cNvPr id="5" name="Shape 2"/>
          <p:cNvSpPr/>
          <p:nvPr/>
        </p:nvSpPr>
        <p:spPr>
          <a:xfrm>
            <a:off x="1097280" y="1691640"/>
            <a:ext cx="5760720" cy="1097280"/>
          </a:xfrm>
          <a:prstGeom prst="roundRect">
            <a:avLst>
              <a:gd name="adj" fmla="val 16667"/>
            </a:avLst>
          </a:prstGeom>
          <a:solidFill>
            <a:srgbClr val="F0F5FF"/>
          </a:solidFill>
          <a:ln w="3175">
            <a:solidFill>
              <a:srgbClr val="F0F5FF"/>
            </a:solidFill>
            <a:prstDash val="solid"/>
          </a:ln>
        </p:spPr>
        <p:txBody>
          <a:bodyPr/>
          <a:p/>
        </p:txBody>
      </p:sp>
      <p:sp>
        <p:nvSpPr>
          <p:cNvPr id="6" name="Text 3"/>
          <p:cNvSpPr txBox="1"/>
          <p:nvPr/>
        </p:nvSpPr>
        <p:spPr>
          <a:xfrm>
            <a:off x="1353312" y="1828800"/>
            <a:ext cx="5248656" cy="822960"/>
          </a:xfrm>
          <a:prstGeom prst="rect">
            <a:avLst/>
          </a:prstGeom>
          <a:noFill/>
          <a:ln/>
        </p:spPr>
        <p:txBody>
          <a:bodyPr wrap="square" lIns="0" tIns="0" rIns="0" bIns="0" rtlCol="0" anchor="ctr"/>
          <a:lstStyle/>
          <a:p>
            <a:pPr indent="0" marL="0">
              <a:buNone/>
            </a:pPr>
            <a:r>
              <a:rPr lang="en-US" sz="1900" b="1" dirty="0">
                <a:solidFill>
                  <a:srgbClr val="1E3A8A"/>
                </a:solidFill>
                <a:latin typeface="Arial" pitchFamily="34" charset="0"/>
                <a:ea typeface="Arial" pitchFamily="34" charset="-122"/>
                <a:cs typeface="Arial" pitchFamily="34" charset="-120"/>
              </a:rPr>
              <a:t>“Which product category drove our highest profit margin last quarter?”</a:t>
            </a:r>
            <a:endParaRPr lang="en-US" sz="1900" dirty="0"/>
          </a:p>
        </p:txBody>
      </p:sp>
      <p:sp>
        <p:nvSpPr>
          <p:cNvPr id="7" name="Shape 4"/>
          <p:cNvSpPr/>
          <p:nvPr/>
        </p:nvSpPr>
        <p:spPr>
          <a:xfrm>
            <a:off x="1737360" y="2926080"/>
            <a:ext cx="5120640" cy="914400"/>
          </a:xfrm>
          <a:prstGeom prst="roundRect">
            <a:avLst>
              <a:gd name="adj" fmla="val 20000"/>
            </a:avLst>
          </a:prstGeom>
          <a:solidFill>
            <a:srgbClr val="1D4ED8"/>
          </a:solidFill>
          <a:ln w="3175">
            <a:solidFill>
              <a:srgbClr val="1D4ED8"/>
            </a:solidFill>
            <a:prstDash val="solid"/>
          </a:ln>
        </p:spPr>
        <p:txBody>
          <a:bodyPr/>
          <a:p/>
        </p:txBody>
      </p:sp>
      <p:sp>
        <p:nvSpPr>
          <p:cNvPr id="8" name="Text 5"/>
          <p:cNvSpPr txBox="1"/>
          <p:nvPr/>
        </p:nvSpPr>
        <p:spPr>
          <a:xfrm>
            <a:off x="1993392" y="3063240"/>
            <a:ext cx="4608576" cy="6400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Exact, verified breakdown with real math—no guesses, no hallucinations</a:t>
            </a:r>
            <a:endParaRPr lang="en-US" sz="1800" dirty="0"/>
          </a:p>
        </p:txBody>
      </p:sp>
      <p:sp>
        <p:nvSpPr>
          <p:cNvPr id="9" name="Shape 6"/>
          <p:cNvSpPr/>
          <p:nvPr/>
        </p:nvSpPr>
        <p:spPr>
          <a:xfrm>
            <a:off x="1325880" y="4251960"/>
            <a:ext cx="0" cy="1426464"/>
          </a:xfrm>
          <a:prstGeom prst="line">
            <a:avLst/>
          </a:prstGeom>
          <a:noFill/>
          <a:ln w="38100">
            <a:solidFill>
              <a:srgbClr val="1D4ED8"/>
            </a:solidFill>
            <a:prstDash val="solid"/>
          </a:ln>
        </p:spPr>
        <p:txBody>
          <a:bodyPr/>
          <a:p/>
        </p:txBody>
      </p:sp>
      <p:sp>
        <p:nvSpPr>
          <p:cNvPr id="10" name="Shape 7"/>
          <p:cNvSpPr/>
          <p:nvPr/>
        </p:nvSpPr>
        <p:spPr>
          <a:xfrm>
            <a:off x="1216152" y="4160520"/>
            <a:ext cx="219456" cy="219456"/>
          </a:xfrm>
          <a:prstGeom prst="ellipse">
            <a:avLst/>
          </a:prstGeom>
          <a:solidFill>
            <a:srgbClr val="FFFFFF"/>
          </a:solidFill>
          <a:ln w="38100">
            <a:solidFill>
              <a:srgbClr val="F97316"/>
            </a:solidFill>
            <a:prstDash val="solid"/>
          </a:ln>
        </p:spPr>
        <p:txBody>
          <a:bodyPr/>
          <a:p/>
        </p:txBody>
      </p:sp>
      <p:sp>
        <p:nvSpPr>
          <p:cNvPr id="11" name="Text 8"/>
          <p:cNvSpPr txBox="1"/>
          <p:nvPr/>
        </p:nvSpPr>
        <p:spPr>
          <a:xfrm>
            <a:off x="1737360" y="4087368"/>
            <a:ext cx="5486400" cy="41148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The Math Specialist</a:t>
            </a:r>
            <a:endParaRPr lang="en-US" sz="2200" dirty="0"/>
          </a:p>
        </p:txBody>
      </p:sp>
      <p:sp>
        <p:nvSpPr>
          <p:cNvPr id="12" name="Text 9"/>
          <p:cNvSpPr txBox="1"/>
          <p:nvPr/>
        </p:nvSpPr>
        <p:spPr>
          <a:xfrm>
            <a:off x="1737360" y="4507992"/>
            <a:ext cx="548640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Calculates exact totals in a secure database engine</a:t>
            </a:r>
            <a:endParaRPr lang="en-US" sz="1700" dirty="0"/>
          </a:p>
        </p:txBody>
      </p:sp>
      <p:sp>
        <p:nvSpPr>
          <p:cNvPr id="13" name="Shape 10"/>
          <p:cNvSpPr/>
          <p:nvPr/>
        </p:nvSpPr>
        <p:spPr>
          <a:xfrm>
            <a:off x="1216152" y="4873752"/>
            <a:ext cx="219456" cy="219456"/>
          </a:xfrm>
          <a:prstGeom prst="ellipse">
            <a:avLst/>
          </a:prstGeom>
          <a:solidFill>
            <a:srgbClr val="FFFFFF"/>
          </a:solidFill>
          <a:ln w="38100">
            <a:solidFill>
              <a:srgbClr val="F97316"/>
            </a:solidFill>
            <a:prstDash val="solid"/>
          </a:ln>
        </p:spPr>
        <p:txBody>
          <a:bodyPr/>
          <a:p/>
        </p:txBody>
      </p:sp>
      <p:sp>
        <p:nvSpPr>
          <p:cNvPr id="14" name="Text 11"/>
          <p:cNvSpPr txBox="1"/>
          <p:nvPr/>
        </p:nvSpPr>
        <p:spPr>
          <a:xfrm>
            <a:off x="1737360" y="4800600"/>
            <a:ext cx="5486400" cy="41148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The Chart Specialist</a:t>
            </a:r>
            <a:endParaRPr lang="en-US" sz="2200" dirty="0"/>
          </a:p>
        </p:txBody>
      </p:sp>
      <p:sp>
        <p:nvSpPr>
          <p:cNvPr id="15" name="Text 12"/>
          <p:cNvSpPr txBox="1"/>
          <p:nvPr/>
        </p:nvSpPr>
        <p:spPr>
          <a:xfrm>
            <a:off x="1737360" y="5221224"/>
            <a:ext cx="548640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Draws an interactive visual chart using verified numbers</a:t>
            </a:r>
            <a:endParaRPr lang="en-US" sz="1700" dirty="0"/>
          </a:p>
        </p:txBody>
      </p:sp>
      <p:sp>
        <p:nvSpPr>
          <p:cNvPr id="16" name="Shape 13"/>
          <p:cNvSpPr/>
          <p:nvPr/>
        </p:nvSpPr>
        <p:spPr>
          <a:xfrm>
            <a:off x="1216152" y="5586984"/>
            <a:ext cx="219456" cy="219456"/>
          </a:xfrm>
          <a:prstGeom prst="ellipse">
            <a:avLst/>
          </a:prstGeom>
          <a:solidFill>
            <a:srgbClr val="F97316"/>
          </a:solidFill>
          <a:ln w="38100">
            <a:solidFill>
              <a:srgbClr val="F97316"/>
            </a:solidFill>
            <a:prstDash val="solid"/>
          </a:ln>
        </p:spPr>
        <p:txBody>
          <a:bodyPr/>
          <a:p/>
        </p:txBody>
      </p:sp>
      <p:sp>
        <p:nvSpPr>
          <p:cNvPr id="17" name="Text 14"/>
          <p:cNvSpPr txBox="1"/>
          <p:nvPr/>
        </p:nvSpPr>
        <p:spPr>
          <a:xfrm>
            <a:off x="1737360" y="5513832"/>
            <a:ext cx="5486400" cy="41148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The Truth Guarantee</a:t>
            </a:r>
            <a:endParaRPr lang="en-US" sz="2200" dirty="0"/>
          </a:p>
        </p:txBody>
      </p:sp>
      <p:sp>
        <p:nvSpPr>
          <p:cNvPr id="18" name="Text 15"/>
          <p:cNvSpPr txBox="1"/>
          <p:nvPr/>
        </p:nvSpPr>
        <p:spPr>
          <a:xfrm>
            <a:off x="1737360" y="5934456"/>
            <a:ext cx="548640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Text explanation = visual chart = real database numbers</a:t>
            </a:r>
            <a:endParaRPr lang="en-US" sz="1700" dirty="0"/>
          </a:p>
        </p:txBody>
      </p:sp>
      <p:sp>
        <p:nvSpPr>
          <p:cNvPr id="19" name="Shape 16"/>
          <p:cNvSpPr/>
          <p:nvPr/>
        </p:nvSpPr>
        <p:spPr>
          <a:xfrm>
            <a:off x="7132320" y="1691640"/>
            <a:ext cx="4507992" cy="4389120"/>
          </a:xfrm>
          <a:prstGeom prst="roundRect">
            <a:avLst>
              <a:gd name="adj" fmla="val 3125"/>
            </a:avLst>
          </a:prstGeom>
          <a:solidFill>
            <a:srgbClr val="F0F5FF"/>
          </a:solidFill>
          <a:ln w="15875">
            <a:solidFill>
              <a:srgbClr val="1D4ED8"/>
            </a:solidFill>
            <a:prstDash val="dash"/>
          </a:ln>
        </p:spPr>
        <p:txBody>
          <a:bodyPr/>
          <a:p/>
        </p:txBody>
      </p:sp>
      <p:sp>
        <p:nvSpPr>
          <p:cNvPr id="20" name="Text 17"/>
          <p:cNvSpPr txBox="1"/>
          <p:nvPr/>
        </p:nvSpPr>
        <p:spPr>
          <a:xfrm>
            <a:off x="7132320" y="3200400"/>
            <a:ext cx="4507992" cy="640080"/>
          </a:xfrm>
          <a:prstGeom prst="rect">
            <a:avLst/>
          </a:prstGeom>
          <a:noFill/>
          <a:ln/>
        </p:spPr>
        <p:txBody>
          <a:bodyPr wrap="square" lIns="0" tIns="0" rIns="0" bIns="0" rtlCol="0" anchor="t"/>
          <a:lstStyle/>
          <a:p>
            <a:pPr algn="ctr" indent="0" marL="0">
              <a:buNone/>
            </a:pPr>
            <a:r>
              <a:rPr lang="en-US" sz="3400" dirty="0">
                <a:solidFill>
                  <a:srgbClr val="93B4F5"/>
                </a:solidFill>
                <a:latin typeface="Arial" pitchFamily="34" charset="0"/>
                <a:ea typeface="Arial" pitchFamily="34" charset="-122"/>
                <a:cs typeface="Arial" pitchFamily="34" charset="-120"/>
              </a:rPr>
              <a:t>▣</a:t>
            </a:r>
            <a:endParaRPr lang="en-US" sz="3400" dirty="0"/>
          </a:p>
        </p:txBody>
      </p:sp>
      <p:sp>
        <p:nvSpPr>
          <p:cNvPr id="21" name="Text 18"/>
          <p:cNvSpPr txBox="1"/>
          <p:nvPr/>
        </p:nvSpPr>
        <p:spPr>
          <a:xfrm>
            <a:off x="7132320" y="3886200"/>
            <a:ext cx="4507992" cy="27432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SCREENSHOT</a:t>
            </a:r>
            <a:endParaRPr lang="en-US" sz="1200" dirty="0"/>
          </a:p>
        </p:txBody>
      </p:sp>
      <p:sp>
        <p:nvSpPr>
          <p:cNvPr id="22" name="Text 19"/>
          <p:cNvSpPr txBox="1"/>
          <p:nvPr/>
        </p:nvSpPr>
        <p:spPr>
          <a:xfrm>
            <a:off x="7406640" y="4251960"/>
            <a:ext cx="3959352" cy="82296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Chat assistant in action: question · verified explanation · embedded live chart</a:t>
            </a:r>
            <a:endParaRPr lang="en-US" sz="14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The Result</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Predicting the Future Without Writing Code</a:t>
            </a:r>
            <a:endParaRPr lang="en-US" sz="3200" dirty="0"/>
          </a:p>
        </p:txBody>
      </p:sp>
      <p:sp>
        <p:nvSpPr>
          <p:cNvPr id="5" name="Shape 2"/>
          <p:cNvSpPr/>
          <p:nvPr/>
        </p:nvSpPr>
        <p:spPr>
          <a:xfrm>
            <a:off x="1097280" y="1691640"/>
            <a:ext cx="5760720" cy="0"/>
          </a:xfrm>
          <a:prstGeom prst="line">
            <a:avLst/>
          </a:prstGeom>
          <a:noFill/>
          <a:ln w="9525">
            <a:solidFill>
              <a:srgbClr val="D5DEEC"/>
            </a:solidFill>
            <a:prstDash val="solid"/>
          </a:ln>
        </p:spPr>
        <p:txBody>
          <a:bodyPr/>
          <a:p/>
        </p:txBody>
      </p:sp>
      <p:sp>
        <p:nvSpPr>
          <p:cNvPr id="6" name="Text 3"/>
          <p:cNvSpPr txBox="1"/>
          <p:nvPr/>
        </p:nvSpPr>
        <p:spPr>
          <a:xfrm>
            <a:off x="1097280" y="18196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7" name="Text 4"/>
          <p:cNvSpPr txBox="1"/>
          <p:nvPr/>
        </p:nvSpPr>
        <p:spPr>
          <a:xfrm>
            <a:off x="1828800" y="17830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The Goal</a:t>
            </a:r>
            <a:endParaRPr lang="en-US" sz="2200" dirty="0"/>
          </a:p>
        </p:txBody>
      </p:sp>
      <p:sp>
        <p:nvSpPr>
          <p:cNvPr id="8" name="Text 5"/>
          <p:cNvSpPr txBox="1"/>
          <p:nvPr/>
        </p:nvSpPr>
        <p:spPr>
          <a:xfrm>
            <a:off x="1828800" y="214884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Predict customer churn: identify who might leave before they do</a:t>
            </a:r>
            <a:endParaRPr lang="en-US" sz="1700" dirty="0"/>
          </a:p>
        </p:txBody>
      </p:sp>
      <p:sp>
        <p:nvSpPr>
          <p:cNvPr id="9" name="Shape 6"/>
          <p:cNvSpPr/>
          <p:nvPr/>
        </p:nvSpPr>
        <p:spPr>
          <a:xfrm>
            <a:off x="1097280" y="2788920"/>
            <a:ext cx="5760720" cy="0"/>
          </a:xfrm>
          <a:prstGeom prst="line">
            <a:avLst/>
          </a:prstGeom>
          <a:noFill/>
          <a:ln w="9525">
            <a:solidFill>
              <a:srgbClr val="D5DEEC"/>
            </a:solidFill>
            <a:prstDash val="solid"/>
          </a:ln>
        </p:spPr>
        <p:txBody>
          <a:bodyPr/>
          <a:p/>
        </p:txBody>
      </p:sp>
      <p:sp>
        <p:nvSpPr>
          <p:cNvPr id="10" name="Text 7"/>
          <p:cNvSpPr txBox="1"/>
          <p:nvPr/>
        </p:nvSpPr>
        <p:spPr>
          <a:xfrm>
            <a:off x="1097280" y="291693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11" name="Text 8"/>
          <p:cNvSpPr txBox="1"/>
          <p:nvPr/>
        </p:nvSpPr>
        <p:spPr>
          <a:xfrm>
            <a:off x="1828800" y="288036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Automated Contest</a:t>
            </a:r>
            <a:endParaRPr lang="en-US" sz="2200" dirty="0"/>
          </a:p>
        </p:txBody>
      </p:sp>
      <p:sp>
        <p:nvSpPr>
          <p:cNvPr id="12" name="Text 9"/>
          <p:cNvSpPr txBox="1"/>
          <p:nvPr/>
        </p:nvSpPr>
        <p:spPr>
          <a:xfrm>
            <a:off x="1828800" y="324612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Tests top industry algorithms (LightGBM, Random Forest, XGBoost)</a:t>
            </a:r>
            <a:endParaRPr lang="en-US" sz="1700" dirty="0"/>
          </a:p>
        </p:txBody>
      </p:sp>
      <p:sp>
        <p:nvSpPr>
          <p:cNvPr id="13" name="Shape 10"/>
          <p:cNvSpPr/>
          <p:nvPr/>
        </p:nvSpPr>
        <p:spPr>
          <a:xfrm>
            <a:off x="1097280" y="3886200"/>
            <a:ext cx="5760720" cy="0"/>
          </a:xfrm>
          <a:prstGeom prst="line">
            <a:avLst/>
          </a:prstGeom>
          <a:noFill/>
          <a:ln w="9525">
            <a:solidFill>
              <a:srgbClr val="D5DEEC"/>
            </a:solidFill>
            <a:prstDash val="solid"/>
          </a:ln>
        </p:spPr>
        <p:txBody>
          <a:bodyPr/>
          <a:p/>
        </p:txBody>
      </p:sp>
      <p:sp>
        <p:nvSpPr>
          <p:cNvPr id="14" name="Text 11"/>
          <p:cNvSpPr txBox="1"/>
          <p:nvPr/>
        </p:nvSpPr>
        <p:spPr>
          <a:xfrm>
            <a:off x="1097280" y="401421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03</a:t>
            </a:r>
            <a:endParaRPr lang="en-US" sz="1800" dirty="0"/>
          </a:p>
        </p:txBody>
      </p:sp>
      <p:sp>
        <p:nvSpPr>
          <p:cNvPr id="15" name="Text 12"/>
          <p:cNvSpPr txBox="1"/>
          <p:nvPr/>
        </p:nvSpPr>
        <p:spPr>
          <a:xfrm>
            <a:off x="1828800" y="397764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Rapid Training</a:t>
            </a:r>
            <a:endParaRPr lang="en-US" sz="2200" dirty="0"/>
          </a:p>
        </p:txBody>
      </p:sp>
      <p:sp>
        <p:nvSpPr>
          <p:cNvPr id="16" name="Text 13"/>
          <p:cNvSpPr txBox="1"/>
          <p:nvPr/>
        </p:nvSpPr>
        <p:spPr>
          <a:xfrm>
            <a:off x="1828800" y="434340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Finds and fine-tunes the best model in just 30 seconds</a:t>
            </a:r>
            <a:endParaRPr lang="en-US" sz="1700" dirty="0"/>
          </a:p>
        </p:txBody>
      </p:sp>
      <p:sp>
        <p:nvSpPr>
          <p:cNvPr id="17" name="Shape 14"/>
          <p:cNvSpPr/>
          <p:nvPr/>
        </p:nvSpPr>
        <p:spPr>
          <a:xfrm>
            <a:off x="1097280" y="4983480"/>
            <a:ext cx="5760720" cy="0"/>
          </a:xfrm>
          <a:prstGeom prst="line">
            <a:avLst/>
          </a:prstGeom>
          <a:noFill/>
          <a:ln w="9525">
            <a:solidFill>
              <a:srgbClr val="D5DEEC"/>
            </a:solidFill>
            <a:prstDash val="solid"/>
          </a:ln>
        </p:spPr>
        <p:txBody>
          <a:bodyPr/>
          <a:p/>
        </p:txBody>
      </p:sp>
      <p:sp>
        <p:nvSpPr>
          <p:cNvPr id="18" name="Text 15"/>
          <p:cNvSpPr txBox="1"/>
          <p:nvPr/>
        </p:nvSpPr>
        <p:spPr>
          <a:xfrm>
            <a:off x="1097280" y="511149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04</a:t>
            </a:r>
            <a:endParaRPr lang="en-US" sz="1800" dirty="0"/>
          </a:p>
        </p:txBody>
      </p:sp>
      <p:sp>
        <p:nvSpPr>
          <p:cNvPr id="19" name="Text 16"/>
          <p:cNvSpPr txBox="1"/>
          <p:nvPr/>
        </p:nvSpPr>
        <p:spPr>
          <a:xfrm>
            <a:off x="1828800" y="507492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Result</a:t>
            </a:r>
            <a:endParaRPr lang="en-US" sz="2200" dirty="0"/>
          </a:p>
        </p:txBody>
      </p:sp>
      <p:sp>
        <p:nvSpPr>
          <p:cNvPr id="20" name="Text 17"/>
          <p:cNvSpPr txBox="1"/>
          <p:nvPr/>
        </p:nvSpPr>
        <p:spPr>
          <a:xfrm>
            <a:off x="1828800" y="5440680"/>
            <a:ext cx="5029200" cy="59436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93.8%</a:t>
            </a:r>
            <a:endParaRPr lang="en-US" sz="1700" dirty="0"/>
          </a:p>
        </p:txBody>
      </p:sp>
      <p:sp>
        <p:nvSpPr>
          <p:cNvPr id="21" name="Shape 18"/>
          <p:cNvSpPr/>
          <p:nvPr/>
        </p:nvSpPr>
        <p:spPr>
          <a:xfrm>
            <a:off x="1097280" y="6080760"/>
            <a:ext cx="5760720" cy="0"/>
          </a:xfrm>
          <a:prstGeom prst="line">
            <a:avLst/>
          </a:prstGeom>
          <a:noFill/>
          <a:ln w="9525">
            <a:solidFill>
              <a:srgbClr val="D5DEEC"/>
            </a:solidFill>
            <a:prstDash val="solid"/>
          </a:ln>
        </p:spPr>
        <p:txBody>
          <a:bodyPr/>
          <a:p/>
        </p:txBody>
      </p:sp>
      <p:sp>
        <p:nvSpPr>
          <p:cNvPr id="22" name="Shape 19"/>
          <p:cNvSpPr/>
          <p:nvPr/>
        </p:nvSpPr>
        <p:spPr>
          <a:xfrm>
            <a:off x="7132320" y="1691640"/>
            <a:ext cx="4507992" cy="1600200"/>
          </a:xfrm>
          <a:prstGeom prst="roundRect">
            <a:avLst>
              <a:gd name="adj" fmla="val 11429"/>
            </a:avLst>
          </a:prstGeom>
          <a:solidFill>
            <a:srgbClr val="F97316"/>
          </a:solidFill>
          <a:ln w="3175">
            <a:solidFill>
              <a:srgbClr val="F97316"/>
            </a:solidFill>
            <a:prstDash val="solid"/>
          </a:ln>
        </p:spPr>
        <p:txBody>
          <a:bodyPr/>
          <a:p/>
        </p:txBody>
      </p:sp>
      <p:sp>
        <p:nvSpPr>
          <p:cNvPr id="23" name="Text 20"/>
          <p:cNvSpPr txBox="1"/>
          <p:nvPr/>
        </p:nvSpPr>
        <p:spPr>
          <a:xfrm>
            <a:off x="7388352" y="1783080"/>
            <a:ext cx="3995928" cy="880110"/>
          </a:xfrm>
          <a:prstGeom prst="rect">
            <a:avLst/>
          </a:prstGeom>
          <a:noFill/>
          <a:ln/>
        </p:spPr>
        <p:txBody>
          <a:bodyPr wrap="square" lIns="0" tIns="0" rIns="0" bIns="0" rtlCol="0" anchor="ctr">
            <a:normAutofit/>
          </a:bodyPr>
          <a:lstStyle/>
          <a:p>
            <a:pPr indent="0" marL="0">
              <a:buNone/>
            </a:pPr>
            <a:r>
              <a:rPr lang="en-US" sz="4800" b="1" dirty="0">
                <a:solidFill>
                  <a:srgbClr val="FFFFFF"/>
                </a:solidFill>
                <a:latin typeface="Arial" pitchFamily="34" charset="0"/>
                <a:ea typeface="Arial" pitchFamily="34" charset="-122"/>
                <a:cs typeface="Arial" pitchFamily="34" charset="-120"/>
              </a:rPr>
              <a:t>0.938</a:t>
            </a:r>
            <a:endParaRPr lang="en-US" sz="4800" dirty="0"/>
          </a:p>
        </p:txBody>
      </p:sp>
      <p:sp>
        <p:nvSpPr>
          <p:cNvPr id="24" name="Text 21"/>
          <p:cNvSpPr txBox="1"/>
          <p:nvPr/>
        </p:nvSpPr>
        <p:spPr>
          <a:xfrm>
            <a:off x="7388352" y="2715768"/>
            <a:ext cx="3995928" cy="512064"/>
          </a:xfrm>
          <a:prstGeom prst="rect">
            <a:avLst/>
          </a:prstGeom>
          <a:noFill/>
          <a:ln/>
        </p:spPr>
        <p:txBody>
          <a:bodyPr wrap="square" lIns="0" tIns="0" rIns="0" bIns="0" rtlCol="0" anchor="t"/>
          <a:lstStyle/>
          <a:p>
            <a:pPr indent="0" marL="0">
              <a:buNone/>
            </a:pPr>
            <a:r>
              <a:rPr lang="en-US" sz="1400" dirty="0">
                <a:solidFill>
                  <a:srgbClr val="FFF1E6"/>
                </a:solidFill>
                <a:latin typeface="Arial" pitchFamily="34" charset="0"/>
                <a:ea typeface="Arial" pitchFamily="34" charset="-122"/>
                <a:cs typeface="Arial" pitchFamily="34" charset="-120"/>
              </a:rPr>
              <a:t>Prediction Accuracy on standard banking benchmarks</a:t>
            </a:r>
            <a:endParaRPr lang="en-US" sz="1400" dirty="0"/>
          </a:p>
        </p:txBody>
      </p:sp>
      <p:sp>
        <p:nvSpPr>
          <p:cNvPr id="25" name="Shape 22"/>
          <p:cNvSpPr/>
          <p:nvPr/>
        </p:nvSpPr>
        <p:spPr>
          <a:xfrm>
            <a:off x="7132320" y="3474720"/>
            <a:ext cx="4507992" cy="2606040"/>
          </a:xfrm>
          <a:prstGeom prst="roundRect">
            <a:avLst>
              <a:gd name="adj" fmla="val 5263"/>
            </a:avLst>
          </a:prstGeom>
          <a:solidFill>
            <a:srgbClr val="F0F5FF"/>
          </a:solidFill>
          <a:ln w="15875">
            <a:solidFill>
              <a:srgbClr val="1D4ED8"/>
            </a:solidFill>
            <a:prstDash val="dash"/>
          </a:ln>
        </p:spPr>
        <p:txBody>
          <a:bodyPr/>
          <a:p/>
        </p:txBody>
      </p:sp>
      <p:sp>
        <p:nvSpPr>
          <p:cNvPr id="26" name="Text 23"/>
          <p:cNvSpPr txBox="1"/>
          <p:nvPr/>
        </p:nvSpPr>
        <p:spPr>
          <a:xfrm>
            <a:off x="7132320" y="4091940"/>
            <a:ext cx="4507992" cy="640080"/>
          </a:xfrm>
          <a:prstGeom prst="rect">
            <a:avLst/>
          </a:prstGeom>
          <a:noFill/>
          <a:ln/>
        </p:spPr>
        <p:txBody>
          <a:bodyPr wrap="square" lIns="0" tIns="0" rIns="0" bIns="0" rtlCol="0" anchor="t"/>
          <a:lstStyle/>
          <a:p>
            <a:pPr algn="ctr" indent="0" marL="0">
              <a:buNone/>
            </a:pPr>
            <a:r>
              <a:rPr lang="en-US" sz="3400" dirty="0">
                <a:solidFill>
                  <a:srgbClr val="93B4F5"/>
                </a:solidFill>
                <a:latin typeface="Arial" pitchFamily="34" charset="0"/>
                <a:ea typeface="Arial" pitchFamily="34" charset="-122"/>
                <a:cs typeface="Arial" pitchFamily="34" charset="-120"/>
              </a:rPr>
              <a:t>▣</a:t>
            </a:r>
            <a:endParaRPr lang="en-US" sz="3400" dirty="0"/>
          </a:p>
        </p:txBody>
      </p:sp>
      <p:sp>
        <p:nvSpPr>
          <p:cNvPr id="27" name="Text 24"/>
          <p:cNvSpPr txBox="1"/>
          <p:nvPr/>
        </p:nvSpPr>
        <p:spPr>
          <a:xfrm>
            <a:off x="7132320" y="4777740"/>
            <a:ext cx="4507992" cy="27432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SCREENSHOT</a:t>
            </a:r>
            <a:endParaRPr lang="en-US" sz="1200" dirty="0"/>
          </a:p>
        </p:txBody>
      </p:sp>
      <p:sp>
        <p:nvSpPr>
          <p:cNvPr id="28" name="Text 25"/>
          <p:cNvSpPr txBox="1"/>
          <p:nvPr/>
        </p:nvSpPr>
        <p:spPr>
          <a:xfrm>
            <a:off x="7406640" y="5143500"/>
            <a:ext cx="3959352" cy="82296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AutoML Leaderboard: compares models, shows training speed, and highlights key factors</a:t>
            </a:r>
            <a:endParaRPr lang="en-US" sz="14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RESULTS</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Deliver Results to Anyone with One Click</a:t>
            </a:r>
            <a:endParaRPr lang="en-US" sz="3200" dirty="0"/>
          </a:p>
        </p:txBody>
      </p:sp>
      <p:sp>
        <p:nvSpPr>
          <p:cNvPr id="5" name="Shape 2"/>
          <p:cNvSpPr/>
          <p:nvPr/>
        </p:nvSpPr>
        <p:spPr>
          <a:xfrm>
            <a:off x="1097280" y="1691640"/>
            <a:ext cx="3380232" cy="1645920"/>
          </a:xfrm>
          <a:prstGeom prst="roundRect">
            <a:avLst>
              <a:gd name="adj" fmla="val 11111"/>
            </a:avLst>
          </a:prstGeom>
          <a:solidFill>
            <a:srgbClr val="1D4ED8"/>
          </a:solidFill>
          <a:ln w="3175">
            <a:solidFill>
              <a:srgbClr val="1D4ED8"/>
            </a:solidFill>
            <a:prstDash val="solid"/>
          </a:ln>
        </p:spPr>
        <p:txBody>
          <a:bodyPr/>
          <a:p/>
        </p:txBody>
      </p:sp>
      <p:sp>
        <p:nvSpPr>
          <p:cNvPr id="6" name="Text 3"/>
          <p:cNvSpPr txBox="1"/>
          <p:nvPr/>
        </p:nvSpPr>
        <p:spPr>
          <a:xfrm>
            <a:off x="1353312" y="1828800"/>
            <a:ext cx="2868168" cy="50292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Executive PDF</a:t>
            </a:r>
            <a:endParaRPr lang="en-US" sz="2400" dirty="0"/>
          </a:p>
        </p:txBody>
      </p:sp>
      <p:sp>
        <p:nvSpPr>
          <p:cNvPr id="7" name="Text 4"/>
          <p:cNvSpPr txBox="1"/>
          <p:nvPr/>
        </p:nvSpPr>
        <p:spPr>
          <a:xfrm>
            <a:off x="1353312" y="2377440"/>
            <a:ext cx="2868168" cy="822960"/>
          </a:xfrm>
          <a:prstGeom prst="rect">
            <a:avLst/>
          </a:prstGeom>
          <a:noFill/>
          <a:ln/>
        </p:spPr>
        <p:txBody>
          <a:bodyPr wrap="square" lIns="0" tIns="0" rIns="0" bIns="0" rtlCol="0" anchor="t"/>
          <a:lstStyle/>
          <a:p>
            <a:pPr indent="0" marL="0">
              <a:buNone/>
            </a:pPr>
            <a:r>
              <a:rPr lang="en-US" sz="1800" dirty="0">
                <a:solidFill>
                  <a:srgbClr val="D6E4FF"/>
                </a:solidFill>
                <a:latin typeface="Arial" pitchFamily="34" charset="0"/>
                <a:ea typeface="Arial" pitchFamily="34" charset="-122"/>
                <a:cs typeface="Arial" pitchFamily="34" charset="-120"/>
              </a:rPr>
              <a:t>Boardroom summaries</a:t>
            </a:r>
            <a:endParaRPr lang="en-US" sz="1800" dirty="0"/>
          </a:p>
        </p:txBody>
      </p:sp>
      <p:sp>
        <p:nvSpPr>
          <p:cNvPr id="8" name="Shape 5"/>
          <p:cNvSpPr/>
          <p:nvPr/>
        </p:nvSpPr>
        <p:spPr>
          <a:xfrm>
            <a:off x="4678680" y="1691640"/>
            <a:ext cx="3380232" cy="1645920"/>
          </a:xfrm>
          <a:prstGeom prst="roundRect">
            <a:avLst>
              <a:gd name="adj" fmla="val 11111"/>
            </a:avLst>
          </a:prstGeom>
          <a:solidFill>
            <a:srgbClr val="F0F5FF"/>
          </a:solidFill>
          <a:ln w="3175">
            <a:solidFill>
              <a:srgbClr val="F0F5FF"/>
            </a:solidFill>
            <a:prstDash val="solid"/>
          </a:ln>
        </p:spPr>
        <p:txBody>
          <a:bodyPr/>
          <a:p/>
        </p:txBody>
      </p:sp>
      <p:sp>
        <p:nvSpPr>
          <p:cNvPr id="9" name="Text 6"/>
          <p:cNvSpPr txBox="1"/>
          <p:nvPr/>
        </p:nvSpPr>
        <p:spPr>
          <a:xfrm>
            <a:off x="4934712" y="1828800"/>
            <a:ext cx="2868168" cy="502920"/>
          </a:xfrm>
          <a:prstGeom prst="rect">
            <a:avLst/>
          </a:prstGeom>
          <a:noFill/>
          <a:ln/>
        </p:spPr>
        <p:txBody>
          <a:bodyPr wrap="square" lIns="0" tIns="0" rIns="0" bIns="0" rtlCol="0" anchor="t"/>
          <a:lstStyle/>
          <a:p>
            <a:pPr indent="0" marL="0">
              <a:buNone/>
            </a:pPr>
            <a:r>
              <a:rPr lang="en-US" sz="2400" b="1" dirty="0">
                <a:solidFill>
                  <a:srgbClr val="1E3A8A"/>
                </a:solidFill>
                <a:latin typeface="Arial" pitchFamily="34" charset="0"/>
                <a:ea typeface="Arial" pitchFamily="34" charset="-122"/>
                <a:cs typeface="Arial" pitchFamily="34" charset="-120"/>
              </a:rPr>
              <a:t>Interactive Web Page</a:t>
            </a:r>
            <a:endParaRPr lang="en-US" sz="2400" dirty="0"/>
          </a:p>
        </p:txBody>
      </p:sp>
      <p:sp>
        <p:nvSpPr>
          <p:cNvPr id="10" name="Text 7"/>
          <p:cNvSpPr txBox="1"/>
          <p:nvPr/>
        </p:nvSpPr>
        <p:spPr>
          <a:xfrm>
            <a:off x="4934712" y="2377440"/>
            <a:ext cx="2868168" cy="822960"/>
          </a:xfrm>
          <a:prstGeom prst="rect">
            <a:avLst/>
          </a:prstGeom>
          <a:noFill/>
          <a:ln/>
        </p:spPr>
        <p:txBody>
          <a:bodyPr wrap="square" lIns="0" tIns="0" rIns="0" bIns="0" rtlCol="0" anchor="t"/>
          <a:lstStyle/>
          <a:p>
            <a:pPr indent="0" marL="0">
              <a:buNone/>
            </a:pPr>
            <a:r>
              <a:rPr lang="en-US" sz="1800" dirty="0">
                <a:solidFill>
                  <a:srgbClr val="475569"/>
                </a:solidFill>
                <a:latin typeface="Arial" pitchFamily="34" charset="0"/>
                <a:ea typeface="Arial" pitchFamily="34" charset="-122"/>
                <a:cs typeface="Arial" pitchFamily="34" charset="-120"/>
              </a:rPr>
              <a:t>Clickable team reports</a:t>
            </a:r>
            <a:endParaRPr lang="en-US" sz="1800" dirty="0"/>
          </a:p>
        </p:txBody>
      </p:sp>
      <p:sp>
        <p:nvSpPr>
          <p:cNvPr id="11" name="Shape 8"/>
          <p:cNvSpPr/>
          <p:nvPr/>
        </p:nvSpPr>
        <p:spPr>
          <a:xfrm>
            <a:off x="8260080" y="1691640"/>
            <a:ext cx="3380232" cy="1645920"/>
          </a:xfrm>
          <a:prstGeom prst="roundRect">
            <a:avLst>
              <a:gd name="adj" fmla="val 11111"/>
            </a:avLst>
          </a:prstGeom>
          <a:solidFill>
            <a:srgbClr val="F0F5FF"/>
          </a:solidFill>
          <a:ln w="3175">
            <a:solidFill>
              <a:srgbClr val="F0F5FF"/>
            </a:solidFill>
            <a:prstDash val="solid"/>
          </a:ln>
        </p:spPr>
        <p:txBody>
          <a:bodyPr/>
          <a:p/>
        </p:txBody>
      </p:sp>
      <p:sp>
        <p:nvSpPr>
          <p:cNvPr id="12" name="Text 9"/>
          <p:cNvSpPr txBox="1"/>
          <p:nvPr/>
        </p:nvSpPr>
        <p:spPr>
          <a:xfrm>
            <a:off x="8516112" y="1828800"/>
            <a:ext cx="2868168" cy="502920"/>
          </a:xfrm>
          <a:prstGeom prst="rect">
            <a:avLst/>
          </a:prstGeom>
          <a:noFill/>
          <a:ln/>
        </p:spPr>
        <p:txBody>
          <a:bodyPr wrap="square" lIns="0" tIns="0" rIns="0" bIns="0" rtlCol="0" anchor="t"/>
          <a:lstStyle/>
          <a:p>
            <a:pPr indent="0" marL="0">
              <a:buNone/>
            </a:pPr>
            <a:r>
              <a:rPr lang="en-US" sz="2400" b="1" dirty="0">
                <a:solidFill>
                  <a:srgbClr val="1E3A8A"/>
                </a:solidFill>
                <a:latin typeface="Arial" pitchFamily="34" charset="0"/>
                <a:ea typeface="Arial" pitchFamily="34" charset="-122"/>
                <a:cs typeface="Arial" pitchFamily="34" charset="-120"/>
              </a:rPr>
              <a:t>Airflow + dbt</a:t>
            </a:r>
            <a:endParaRPr lang="en-US" sz="2400" dirty="0"/>
          </a:p>
        </p:txBody>
      </p:sp>
      <p:sp>
        <p:nvSpPr>
          <p:cNvPr id="13" name="Text 10"/>
          <p:cNvSpPr txBox="1"/>
          <p:nvPr/>
        </p:nvSpPr>
        <p:spPr>
          <a:xfrm>
            <a:off x="8516112" y="2377440"/>
            <a:ext cx="2868168" cy="822960"/>
          </a:xfrm>
          <a:prstGeom prst="rect">
            <a:avLst/>
          </a:prstGeom>
          <a:noFill/>
          <a:ln/>
        </p:spPr>
        <p:txBody>
          <a:bodyPr wrap="square" lIns="0" tIns="0" rIns="0" bIns="0" rtlCol="0" anchor="t"/>
          <a:lstStyle/>
          <a:p>
            <a:pPr indent="0" marL="0">
              <a:buNone/>
            </a:pPr>
            <a:r>
              <a:rPr lang="en-US" sz="1800" dirty="0">
                <a:solidFill>
                  <a:srgbClr val="475569"/>
                </a:solidFill>
                <a:latin typeface="Arial" pitchFamily="34" charset="0"/>
                <a:ea typeface="Arial" pitchFamily="34" charset="-122"/>
                <a:cs typeface="Arial" pitchFamily="34" charset="-120"/>
              </a:rPr>
              <a:t>Automated engineering scripts</a:t>
            </a:r>
            <a:endParaRPr lang="en-US" sz="1800" dirty="0"/>
          </a:p>
        </p:txBody>
      </p:sp>
      <p:sp>
        <p:nvSpPr>
          <p:cNvPr id="14" name="Shape 11"/>
          <p:cNvSpPr/>
          <p:nvPr/>
        </p:nvSpPr>
        <p:spPr>
          <a:xfrm>
            <a:off x="1097280" y="3520440"/>
            <a:ext cx="5760720" cy="0"/>
          </a:xfrm>
          <a:prstGeom prst="line">
            <a:avLst/>
          </a:prstGeom>
          <a:noFill/>
          <a:ln w="9525">
            <a:solidFill>
              <a:srgbClr val="D5DEEC"/>
            </a:solidFill>
            <a:prstDash val="solid"/>
          </a:ln>
        </p:spPr>
        <p:txBody>
          <a:bodyPr/>
          <a:p/>
        </p:txBody>
      </p:sp>
      <p:sp>
        <p:nvSpPr>
          <p:cNvPr id="15" name="Text 12"/>
          <p:cNvSpPr txBox="1"/>
          <p:nvPr/>
        </p:nvSpPr>
        <p:spPr>
          <a:xfrm>
            <a:off x="1097280" y="36484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16" name="Text 13"/>
          <p:cNvSpPr txBox="1"/>
          <p:nvPr/>
        </p:nvSpPr>
        <p:spPr>
          <a:xfrm>
            <a:off x="1828800" y="3611880"/>
            <a:ext cx="5029200" cy="365760"/>
          </a:xfrm>
          <a:prstGeom prst="rect">
            <a:avLst/>
          </a:prstGeom>
          <a:noFill/>
          <a:ln/>
        </p:spPr>
        <p:txBody>
          <a:bodyPr wrap="square" lIns="0" tIns="0" rIns="0" bIns="0" rtlCol="0" anchor="t"/>
          <a:lstStyle/>
          <a:p>
            <a:pPr indent="0" marL="0">
              <a:buNone/>
            </a:pPr>
            <a:r>
              <a:rPr lang="en-US" sz="2000" b="1" dirty="0">
                <a:solidFill>
                  <a:srgbClr val="1E3A8A"/>
                </a:solidFill>
                <a:latin typeface="Arial" pitchFamily="34" charset="0"/>
                <a:ea typeface="Arial" pitchFamily="34" charset="-122"/>
                <a:cs typeface="Arial" pitchFamily="34" charset="-120"/>
              </a:rPr>
              <a:t>Ready-to-Use</a:t>
            </a:r>
            <a:endParaRPr lang="en-US" sz="2000" dirty="0"/>
          </a:p>
        </p:txBody>
      </p:sp>
      <p:sp>
        <p:nvSpPr>
          <p:cNvPr id="17" name="Text 14"/>
          <p:cNvSpPr txBox="1"/>
          <p:nvPr/>
        </p:nvSpPr>
        <p:spPr>
          <a:xfrm>
            <a:off x="1828800" y="3977640"/>
            <a:ext cx="5029200" cy="347472"/>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5-page executive PDF with key numbers, graphs, and action items</a:t>
            </a:r>
            <a:endParaRPr lang="en-US" sz="1600" dirty="0"/>
          </a:p>
        </p:txBody>
      </p:sp>
      <p:sp>
        <p:nvSpPr>
          <p:cNvPr id="18" name="Shape 15"/>
          <p:cNvSpPr/>
          <p:nvPr/>
        </p:nvSpPr>
        <p:spPr>
          <a:xfrm>
            <a:off x="1097280" y="4370832"/>
            <a:ext cx="5760720" cy="0"/>
          </a:xfrm>
          <a:prstGeom prst="line">
            <a:avLst/>
          </a:prstGeom>
          <a:noFill/>
          <a:ln w="9525">
            <a:solidFill>
              <a:srgbClr val="D5DEEC"/>
            </a:solidFill>
            <a:prstDash val="solid"/>
          </a:ln>
        </p:spPr>
        <p:txBody>
          <a:bodyPr/>
          <a:p/>
        </p:txBody>
      </p:sp>
      <p:sp>
        <p:nvSpPr>
          <p:cNvPr id="19" name="Text 16"/>
          <p:cNvSpPr txBox="1"/>
          <p:nvPr/>
        </p:nvSpPr>
        <p:spPr>
          <a:xfrm>
            <a:off x="1097280" y="4498848"/>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20" name="Text 17"/>
          <p:cNvSpPr txBox="1"/>
          <p:nvPr/>
        </p:nvSpPr>
        <p:spPr>
          <a:xfrm>
            <a:off x="1828800" y="4462272"/>
            <a:ext cx="5029200" cy="365760"/>
          </a:xfrm>
          <a:prstGeom prst="rect">
            <a:avLst/>
          </a:prstGeom>
          <a:noFill/>
          <a:ln/>
        </p:spPr>
        <p:txBody>
          <a:bodyPr wrap="square" lIns="0" tIns="0" rIns="0" bIns="0" rtlCol="0" anchor="t"/>
          <a:lstStyle/>
          <a:p>
            <a:pPr indent="0" marL="0">
              <a:buNone/>
            </a:pPr>
            <a:r>
              <a:rPr lang="en-US" sz="2000" b="1" dirty="0">
                <a:solidFill>
                  <a:srgbClr val="1E3A8A"/>
                </a:solidFill>
                <a:latin typeface="Arial" pitchFamily="34" charset="0"/>
                <a:ea typeface="Arial" pitchFamily="34" charset="-122"/>
                <a:cs typeface="Arial" pitchFamily="34" charset="-120"/>
              </a:rPr>
              <a:t>Universal Export</a:t>
            </a:r>
            <a:endParaRPr lang="en-US" sz="2000" dirty="0"/>
          </a:p>
        </p:txBody>
      </p:sp>
      <p:sp>
        <p:nvSpPr>
          <p:cNvPr id="21" name="Text 18"/>
          <p:cNvSpPr txBox="1"/>
          <p:nvPr/>
        </p:nvSpPr>
        <p:spPr>
          <a:xfrm>
            <a:off x="1828800" y="4828032"/>
            <a:ext cx="5029200" cy="347472"/>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Download as PDF, CSV, Parquet, or ready-to-run Python code</a:t>
            </a:r>
            <a:endParaRPr lang="en-US" sz="1600" dirty="0"/>
          </a:p>
        </p:txBody>
      </p:sp>
      <p:sp>
        <p:nvSpPr>
          <p:cNvPr id="22" name="Shape 19"/>
          <p:cNvSpPr/>
          <p:nvPr/>
        </p:nvSpPr>
        <p:spPr>
          <a:xfrm>
            <a:off x="1097280" y="5221224"/>
            <a:ext cx="5760720" cy="0"/>
          </a:xfrm>
          <a:prstGeom prst="line">
            <a:avLst/>
          </a:prstGeom>
          <a:noFill/>
          <a:ln w="9525">
            <a:solidFill>
              <a:srgbClr val="D5DEEC"/>
            </a:solidFill>
            <a:prstDash val="solid"/>
          </a:ln>
        </p:spPr>
        <p:txBody>
          <a:bodyPr/>
          <a:p/>
        </p:txBody>
      </p:sp>
      <p:sp>
        <p:nvSpPr>
          <p:cNvPr id="23" name="Text 20"/>
          <p:cNvSpPr txBox="1"/>
          <p:nvPr/>
        </p:nvSpPr>
        <p:spPr>
          <a:xfrm>
            <a:off x="1097280" y="5349240"/>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03</a:t>
            </a:r>
            <a:endParaRPr lang="en-US" sz="1800" dirty="0"/>
          </a:p>
        </p:txBody>
      </p:sp>
      <p:sp>
        <p:nvSpPr>
          <p:cNvPr id="24" name="Text 21"/>
          <p:cNvSpPr txBox="1"/>
          <p:nvPr/>
        </p:nvSpPr>
        <p:spPr>
          <a:xfrm>
            <a:off x="1828800" y="5312664"/>
            <a:ext cx="5029200" cy="365760"/>
          </a:xfrm>
          <a:prstGeom prst="rect">
            <a:avLst/>
          </a:prstGeom>
          <a:noFill/>
          <a:ln/>
        </p:spPr>
        <p:txBody>
          <a:bodyPr wrap="square" lIns="0" tIns="0" rIns="0" bIns="0" rtlCol="0" anchor="t"/>
          <a:lstStyle/>
          <a:p>
            <a:pPr indent="0" marL="0">
              <a:buNone/>
            </a:pPr>
            <a:r>
              <a:rPr lang="en-US" sz="2000" b="1" dirty="0">
                <a:solidFill>
                  <a:srgbClr val="1E3A8A"/>
                </a:solidFill>
                <a:latin typeface="Arial" pitchFamily="34" charset="0"/>
                <a:ea typeface="Arial" pitchFamily="34" charset="-122"/>
                <a:cs typeface="Arial" pitchFamily="34" charset="-120"/>
              </a:rPr>
              <a:t>One-Click Value</a:t>
            </a:r>
            <a:endParaRPr lang="en-US" sz="2000" dirty="0"/>
          </a:p>
        </p:txBody>
      </p:sp>
      <p:sp>
        <p:nvSpPr>
          <p:cNvPr id="25" name="Text 22"/>
          <p:cNvSpPr txBox="1"/>
          <p:nvPr/>
        </p:nvSpPr>
        <p:spPr>
          <a:xfrm>
            <a:off x="1828800" y="5678424"/>
            <a:ext cx="5029200" cy="347472"/>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Bridge the gap between executives, analysts, and developers in seconds</a:t>
            </a:r>
            <a:endParaRPr lang="en-US" sz="1600" dirty="0"/>
          </a:p>
        </p:txBody>
      </p:sp>
      <p:sp>
        <p:nvSpPr>
          <p:cNvPr id="26" name="Shape 23"/>
          <p:cNvSpPr/>
          <p:nvPr/>
        </p:nvSpPr>
        <p:spPr>
          <a:xfrm>
            <a:off x="1097280" y="6071616"/>
            <a:ext cx="5760720" cy="0"/>
          </a:xfrm>
          <a:prstGeom prst="line">
            <a:avLst/>
          </a:prstGeom>
          <a:noFill/>
          <a:ln w="9525">
            <a:solidFill>
              <a:srgbClr val="D5DEEC"/>
            </a:solidFill>
            <a:prstDash val="solid"/>
          </a:ln>
        </p:spPr>
        <p:txBody>
          <a:bodyPr/>
          <a:p/>
        </p:txBody>
      </p:sp>
      <p:sp>
        <p:nvSpPr>
          <p:cNvPr id="27" name="Shape 24"/>
          <p:cNvSpPr/>
          <p:nvPr/>
        </p:nvSpPr>
        <p:spPr>
          <a:xfrm>
            <a:off x="7132320" y="3520440"/>
            <a:ext cx="4507992" cy="2560320"/>
          </a:xfrm>
          <a:prstGeom prst="roundRect">
            <a:avLst>
              <a:gd name="adj" fmla="val 5357"/>
            </a:avLst>
          </a:prstGeom>
          <a:solidFill>
            <a:srgbClr val="F0F5FF"/>
          </a:solidFill>
          <a:ln w="15875">
            <a:solidFill>
              <a:srgbClr val="1D4ED8"/>
            </a:solidFill>
            <a:prstDash val="dash"/>
          </a:ln>
        </p:spPr>
        <p:txBody>
          <a:bodyPr/>
          <a:p/>
        </p:txBody>
      </p:sp>
      <p:sp>
        <p:nvSpPr>
          <p:cNvPr id="28" name="Text 25"/>
          <p:cNvSpPr txBox="1"/>
          <p:nvPr/>
        </p:nvSpPr>
        <p:spPr>
          <a:xfrm>
            <a:off x="7132320" y="4114800"/>
            <a:ext cx="4507992" cy="640080"/>
          </a:xfrm>
          <a:prstGeom prst="rect">
            <a:avLst/>
          </a:prstGeom>
          <a:noFill/>
          <a:ln/>
        </p:spPr>
        <p:txBody>
          <a:bodyPr wrap="square" lIns="0" tIns="0" rIns="0" bIns="0" rtlCol="0" anchor="t"/>
          <a:lstStyle/>
          <a:p>
            <a:pPr algn="ctr" indent="0" marL="0">
              <a:buNone/>
            </a:pPr>
            <a:r>
              <a:rPr lang="en-US" sz="3400" dirty="0">
                <a:solidFill>
                  <a:srgbClr val="93B4F5"/>
                </a:solidFill>
                <a:latin typeface="Arial" pitchFamily="34" charset="0"/>
                <a:ea typeface="Arial" pitchFamily="34" charset="-122"/>
                <a:cs typeface="Arial" pitchFamily="34" charset="-120"/>
              </a:rPr>
              <a:t>▣</a:t>
            </a:r>
            <a:endParaRPr lang="en-US" sz="3400" dirty="0"/>
          </a:p>
        </p:txBody>
      </p:sp>
      <p:sp>
        <p:nvSpPr>
          <p:cNvPr id="29" name="Text 26"/>
          <p:cNvSpPr txBox="1"/>
          <p:nvPr/>
        </p:nvSpPr>
        <p:spPr>
          <a:xfrm>
            <a:off x="7132320" y="4800600"/>
            <a:ext cx="4507992" cy="27432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SAMPLE REPORT</a:t>
            </a:r>
            <a:endParaRPr lang="en-US" sz="1200" dirty="0"/>
          </a:p>
        </p:txBody>
      </p:sp>
      <p:sp>
        <p:nvSpPr>
          <p:cNvPr id="30" name="Text 27"/>
          <p:cNvSpPr txBox="1"/>
          <p:nvPr/>
        </p:nvSpPr>
        <p:spPr>
          <a:xfrm>
            <a:off x="7406640" y="5166360"/>
            <a:ext cx="3959352" cy="82296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Sample report: high-impact KPIs, clear summary text, and presentation charts</a:t>
            </a:r>
            <a:endParaRPr lang="en-US" sz="14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RESULTS</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Built for Speed, Safety, and Rock-Solid Reliability</a:t>
            </a:r>
            <a:endParaRPr lang="en-US" sz="3200" dirty="0"/>
          </a:p>
        </p:txBody>
      </p:sp>
      <p:sp>
        <p:nvSpPr>
          <p:cNvPr id="5" name="Shape 2"/>
          <p:cNvSpPr/>
          <p:nvPr/>
        </p:nvSpPr>
        <p:spPr>
          <a:xfrm>
            <a:off x="1097280" y="1691640"/>
            <a:ext cx="5760720" cy="0"/>
          </a:xfrm>
          <a:prstGeom prst="line">
            <a:avLst/>
          </a:prstGeom>
          <a:noFill/>
          <a:ln w="9525">
            <a:solidFill>
              <a:srgbClr val="D5DEEC"/>
            </a:solidFill>
            <a:prstDash val="solid"/>
          </a:ln>
        </p:spPr>
        <p:txBody>
          <a:bodyPr/>
          <a:p/>
        </p:txBody>
      </p:sp>
      <p:sp>
        <p:nvSpPr>
          <p:cNvPr id="6" name="Text 3"/>
          <p:cNvSpPr txBox="1"/>
          <p:nvPr/>
        </p:nvSpPr>
        <p:spPr>
          <a:xfrm>
            <a:off x="1097280" y="181965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7" name="Text 4"/>
          <p:cNvSpPr txBox="1"/>
          <p:nvPr/>
        </p:nvSpPr>
        <p:spPr>
          <a:xfrm>
            <a:off x="1828800" y="178308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What Was Tested</a:t>
            </a:r>
            <a:endParaRPr lang="en-US" sz="2200" dirty="0"/>
          </a:p>
        </p:txBody>
      </p:sp>
      <p:sp>
        <p:nvSpPr>
          <p:cNvPr id="8" name="Text 5"/>
          <p:cNvSpPr txBox="1"/>
          <p:nvPr/>
        </p:nvSpPr>
        <p:spPr>
          <a:xfrm>
            <a:off x="1828800" y="2148840"/>
            <a:ext cx="502920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System response speed, memory usage, and security containment</a:t>
            </a:r>
            <a:endParaRPr lang="en-US" sz="1700" dirty="0"/>
          </a:p>
        </p:txBody>
      </p:sp>
      <p:sp>
        <p:nvSpPr>
          <p:cNvPr id="9" name="Shape 6"/>
          <p:cNvSpPr/>
          <p:nvPr/>
        </p:nvSpPr>
        <p:spPr>
          <a:xfrm>
            <a:off x="1097280" y="2697480"/>
            <a:ext cx="5760720" cy="0"/>
          </a:xfrm>
          <a:prstGeom prst="line">
            <a:avLst/>
          </a:prstGeom>
          <a:noFill/>
          <a:ln w="9525">
            <a:solidFill>
              <a:srgbClr val="D5DEEC"/>
            </a:solidFill>
            <a:prstDash val="solid"/>
          </a:ln>
        </p:spPr>
        <p:txBody>
          <a:bodyPr/>
          <a:p/>
        </p:txBody>
      </p:sp>
      <p:sp>
        <p:nvSpPr>
          <p:cNvPr id="10" name="Text 7"/>
          <p:cNvSpPr txBox="1"/>
          <p:nvPr/>
        </p:nvSpPr>
        <p:spPr>
          <a:xfrm>
            <a:off x="1097280" y="282549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11" name="Text 8"/>
          <p:cNvSpPr txBox="1"/>
          <p:nvPr/>
        </p:nvSpPr>
        <p:spPr>
          <a:xfrm>
            <a:off x="1828800" y="278892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Test Setup</a:t>
            </a:r>
            <a:endParaRPr lang="en-US" sz="2200" dirty="0"/>
          </a:p>
        </p:txBody>
      </p:sp>
      <p:sp>
        <p:nvSpPr>
          <p:cNvPr id="12" name="Text 9"/>
          <p:cNvSpPr txBox="1"/>
          <p:nvPr/>
        </p:nvSpPr>
        <p:spPr>
          <a:xfrm>
            <a:off x="1828800" y="3154680"/>
            <a:ext cx="502920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Standard Ubuntu PC · Intel Core i7 · 32 GB RAM</a:t>
            </a:r>
            <a:endParaRPr lang="en-US" sz="1700" dirty="0"/>
          </a:p>
        </p:txBody>
      </p:sp>
      <p:sp>
        <p:nvSpPr>
          <p:cNvPr id="13" name="Shape 10"/>
          <p:cNvSpPr/>
          <p:nvPr/>
        </p:nvSpPr>
        <p:spPr>
          <a:xfrm>
            <a:off x="1097280" y="3703320"/>
            <a:ext cx="5760720" cy="0"/>
          </a:xfrm>
          <a:prstGeom prst="line">
            <a:avLst/>
          </a:prstGeom>
          <a:noFill/>
          <a:ln w="9525">
            <a:solidFill>
              <a:srgbClr val="D5DEEC"/>
            </a:solidFill>
            <a:prstDash val="solid"/>
          </a:ln>
        </p:spPr>
        <p:txBody>
          <a:bodyPr/>
          <a:p/>
        </p:txBody>
      </p:sp>
      <p:sp>
        <p:nvSpPr>
          <p:cNvPr id="14" name="Text 11"/>
          <p:cNvSpPr txBox="1"/>
          <p:nvPr/>
        </p:nvSpPr>
        <p:spPr>
          <a:xfrm>
            <a:off x="1097280" y="383133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03</a:t>
            </a:r>
            <a:endParaRPr lang="en-US" sz="1800" dirty="0"/>
          </a:p>
        </p:txBody>
      </p:sp>
      <p:sp>
        <p:nvSpPr>
          <p:cNvPr id="15" name="Text 12"/>
          <p:cNvSpPr txBox="1"/>
          <p:nvPr/>
        </p:nvSpPr>
        <p:spPr>
          <a:xfrm>
            <a:off x="1828800" y="379476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Measured Speed</a:t>
            </a:r>
            <a:endParaRPr lang="en-US" sz="2200" dirty="0"/>
          </a:p>
        </p:txBody>
      </p:sp>
      <p:sp>
        <p:nvSpPr>
          <p:cNvPr id="16" name="Text 13"/>
          <p:cNvSpPr txBox="1"/>
          <p:nvPr/>
        </p:nvSpPr>
        <p:spPr>
          <a:xfrm>
            <a:off x="1828800" y="4160520"/>
            <a:ext cx="502920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Processes 10,000 rows in &lt; 1 second · Instant Undo in just 12 ms</a:t>
            </a:r>
            <a:endParaRPr lang="en-US" sz="1700" dirty="0"/>
          </a:p>
        </p:txBody>
      </p:sp>
      <p:sp>
        <p:nvSpPr>
          <p:cNvPr id="17" name="Shape 14"/>
          <p:cNvSpPr/>
          <p:nvPr/>
        </p:nvSpPr>
        <p:spPr>
          <a:xfrm>
            <a:off x="1097280" y="4709160"/>
            <a:ext cx="5760720" cy="0"/>
          </a:xfrm>
          <a:prstGeom prst="line">
            <a:avLst/>
          </a:prstGeom>
          <a:noFill/>
          <a:ln w="9525">
            <a:solidFill>
              <a:srgbClr val="D5DEEC"/>
            </a:solidFill>
            <a:prstDash val="solid"/>
          </a:ln>
        </p:spPr>
        <p:txBody>
          <a:bodyPr/>
          <a:p/>
        </p:txBody>
      </p:sp>
      <p:sp>
        <p:nvSpPr>
          <p:cNvPr id="18" name="Text 15"/>
          <p:cNvSpPr txBox="1"/>
          <p:nvPr/>
        </p:nvSpPr>
        <p:spPr>
          <a:xfrm>
            <a:off x="1097280" y="483717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04</a:t>
            </a:r>
            <a:endParaRPr lang="en-US" sz="1800" dirty="0"/>
          </a:p>
        </p:txBody>
      </p:sp>
      <p:sp>
        <p:nvSpPr>
          <p:cNvPr id="19" name="Text 16"/>
          <p:cNvSpPr txBox="1"/>
          <p:nvPr/>
        </p:nvSpPr>
        <p:spPr>
          <a:xfrm>
            <a:off x="1828800" y="4800600"/>
            <a:ext cx="5029200" cy="36576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Quality Assured</a:t>
            </a:r>
            <a:endParaRPr lang="en-US" sz="2200" dirty="0"/>
          </a:p>
        </p:txBody>
      </p:sp>
      <p:sp>
        <p:nvSpPr>
          <p:cNvPr id="20" name="Text 17"/>
          <p:cNvSpPr txBox="1"/>
          <p:nvPr/>
        </p:nvSpPr>
        <p:spPr>
          <a:xfrm>
            <a:off x="1828800" y="5166360"/>
            <a:ext cx="5029200" cy="502920"/>
          </a:xfrm>
          <a:prstGeom prst="rect">
            <a:avLst/>
          </a:prstGeom>
          <a:noFill/>
          <a:ln/>
        </p:spPr>
        <p:txBody>
          <a:bodyPr wrap="square" lIns="0" tIns="0" rIns="0" bIns="0" rtlCol="0" anchor="t"/>
          <a:lstStyle/>
          <a:p>
            <a:pPr indent="0" marL="0">
              <a:buNone/>
            </a:pPr>
            <a:r>
              <a:rPr lang="en-US" sz="1700" dirty="0">
                <a:solidFill>
                  <a:srgbClr val="475569"/>
                </a:solidFill>
                <a:latin typeface="Arial" pitchFamily="34" charset="0"/>
                <a:ea typeface="Arial" pitchFamily="34" charset="-122"/>
                <a:cs typeface="Arial" pitchFamily="34" charset="-120"/>
              </a:rPr>
              <a:t>165 automated safety tests with a 100% pass rate</a:t>
            </a:r>
            <a:endParaRPr lang="en-US" sz="1700" dirty="0"/>
          </a:p>
        </p:txBody>
      </p:sp>
      <p:sp>
        <p:nvSpPr>
          <p:cNvPr id="21" name="Shape 18"/>
          <p:cNvSpPr/>
          <p:nvPr/>
        </p:nvSpPr>
        <p:spPr>
          <a:xfrm>
            <a:off x="1097280" y="5715000"/>
            <a:ext cx="5760720" cy="0"/>
          </a:xfrm>
          <a:prstGeom prst="line">
            <a:avLst/>
          </a:prstGeom>
          <a:noFill/>
          <a:ln w="9525">
            <a:solidFill>
              <a:srgbClr val="D5DEEC"/>
            </a:solidFill>
            <a:prstDash val="solid"/>
          </a:ln>
        </p:spPr>
        <p:txBody>
          <a:bodyPr/>
          <a:p/>
        </p:txBody>
      </p:sp>
      <p:sp>
        <p:nvSpPr>
          <p:cNvPr id="22" name="Shape 19"/>
          <p:cNvSpPr/>
          <p:nvPr/>
        </p:nvSpPr>
        <p:spPr>
          <a:xfrm>
            <a:off x="1097280" y="5486400"/>
            <a:ext cx="5760720" cy="594360"/>
          </a:xfrm>
          <a:prstGeom prst="roundRect">
            <a:avLst>
              <a:gd name="adj" fmla="val 30769"/>
            </a:avLst>
          </a:prstGeom>
          <a:solidFill>
            <a:srgbClr val="FFF3E8"/>
          </a:solidFill>
          <a:ln w="3175">
            <a:solidFill>
              <a:srgbClr val="FFF3E8"/>
            </a:solidFill>
            <a:prstDash val="solid"/>
          </a:ln>
        </p:spPr>
        <p:txBody>
          <a:bodyPr/>
          <a:p/>
        </p:txBody>
      </p:sp>
      <p:sp>
        <p:nvSpPr>
          <p:cNvPr id="23" name="Text 20"/>
          <p:cNvSpPr txBox="1"/>
          <p:nvPr/>
        </p:nvSpPr>
        <p:spPr>
          <a:xfrm>
            <a:off x="1353312" y="5623560"/>
            <a:ext cx="5248656" cy="320040"/>
          </a:xfrm>
          <a:prstGeom prst="rect">
            <a:avLst/>
          </a:prstGeom>
          <a:noFill/>
          <a:ln/>
        </p:spPr>
        <p:txBody>
          <a:bodyPr wrap="square" lIns="0" tIns="0" rIns="0" bIns="0" rtlCol="0" anchor="ctr"/>
          <a:lstStyle/>
          <a:p>
            <a:pPr indent="0" marL="0">
              <a:buNone/>
            </a:pPr>
            <a:r>
              <a:rPr lang="en-US" sz="1500" b="1" dirty="0">
                <a:solidFill>
                  <a:srgbClr val="1E3A8A"/>
                </a:solidFill>
                <a:latin typeface="Arial" pitchFamily="34" charset="0"/>
                <a:ea typeface="Arial" pitchFamily="34" charset="-122"/>
                <a:cs typeface="Arial" pitchFamily="34" charset="-120"/>
              </a:rPr>
              <a:t>Engineered safely: code runs in an isolated sandbox with zero risk to your computer</a:t>
            </a:r>
            <a:endParaRPr lang="en-US" sz="1500" dirty="0"/>
          </a:p>
        </p:txBody>
      </p:sp>
      <p:sp>
        <p:nvSpPr>
          <p:cNvPr id="24" name="Shape 21"/>
          <p:cNvSpPr/>
          <p:nvPr/>
        </p:nvSpPr>
        <p:spPr>
          <a:xfrm>
            <a:off x="7132320" y="1691640"/>
            <a:ext cx="4507992" cy="4389120"/>
          </a:xfrm>
          <a:prstGeom prst="roundRect">
            <a:avLst>
              <a:gd name="adj" fmla="val 3125"/>
            </a:avLst>
          </a:prstGeom>
          <a:solidFill>
            <a:srgbClr val="F0F5FF"/>
          </a:solidFill>
          <a:ln w="15875">
            <a:solidFill>
              <a:srgbClr val="1D4ED8"/>
            </a:solidFill>
            <a:prstDash val="dash"/>
          </a:ln>
        </p:spPr>
        <p:txBody>
          <a:bodyPr/>
          <a:p/>
        </p:txBody>
      </p:sp>
      <p:sp>
        <p:nvSpPr>
          <p:cNvPr id="25" name="Text 22"/>
          <p:cNvSpPr txBox="1"/>
          <p:nvPr/>
        </p:nvSpPr>
        <p:spPr>
          <a:xfrm>
            <a:off x="7132320" y="3200400"/>
            <a:ext cx="4507992" cy="640080"/>
          </a:xfrm>
          <a:prstGeom prst="rect">
            <a:avLst/>
          </a:prstGeom>
          <a:noFill/>
          <a:ln/>
        </p:spPr>
        <p:txBody>
          <a:bodyPr wrap="square" lIns="0" tIns="0" rIns="0" bIns="0" rtlCol="0" anchor="t"/>
          <a:lstStyle/>
          <a:p>
            <a:pPr algn="ctr" indent="0" marL="0">
              <a:buNone/>
            </a:pPr>
            <a:r>
              <a:rPr lang="en-US" sz="3400" dirty="0">
                <a:solidFill>
                  <a:srgbClr val="93B4F5"/>
                </a:solidFill>
                <a:latin typeface="Arial" pitchFamily="34" charset="0"/>
                <a:ea typeface="Arial" pitchFamily="34" charset="-122"/>
                <a:cs typeface="Arial" pitchFamily="34" charset="-120"/>
              </a:rPr>
              <a:t>▣</a:t>
            </a:r>
            <a:endParaRPr lang="en-US" sz="3400" dirty="0"/>
          </a:p>
        </p:txBody>
      </p:sp>
      <p:sp>
        <p:nvSpPr>
          <p:cNvPr id="26" name="Text 23"/>
          <p:cNvSpPr txBox="1"/>
          <p:nvPr/>
        </p:nvSpPr>
        <p:spPr>
          <a:xfrm>
            <a:off x="7132320" y="3886200"/>
            <a:ext cx="4507992" cy="27432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SCREENSHOT</a:t>
            </a:r>
            <a:endParaRPr lang="en-US" sz="1200" dirty="0"/>
          </a:p>
        </p:txBody>
      </p:sp>
      <p:sp>
        <p:nvSpPr>
          <p:cNvPr id="27" name="Text 24"/>
          <p:cNvSpPr txBox="1"/>
          <p:nvPr/>
        </p:nvSpPr>
        <p:spPr>
          <a:xfrm>
            <a:off x="7406640" y="4251960"/>
            <a:ext cx="3959352" cy="82296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Test report: 100% test pass rate across 26 distinct validation suites</a:t>
            </a:r>
            <a:endParaRPr lang="en-US" sz="14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RESULTS</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Why DataForge is More Trustworthy Than Chatbots</a:t>
            </a:r>
            <a:endParaRPr lang="en-US" sz="3200" dirty="0"/>
          </a:p>
        </p:txBody>
      </p:sp>
      <p:sp>
        <p:nvSpPr>
          <p:cNvPr id="5" name="Shape 2"/>
          <p:cNvSpPr/>
          <p:nvPr/>
        </p:nvSpPr>
        <p:spPr>
          <a:xfrm>
            <a:off x="1097280" y="1691640"/>
            <a:ext cx="6675120" cy="4389120"/>
          </a:xfrm>
          <a:prstGeom prst="roundRect">
            <a:avLst>
              <a:gd name="adj" fmla="val 4167"/>
            </a:avLst>
          </a:prstGeom>
          <a:solidFill>
            <a:srgbClr val="FFFFFF"/>
          </a:solidFill>
          <a:ln w="12700">
            <a:solidFill>
              <a:srgbClr val="D5DEEC"/>
            </a:solidFill>
            <a:prstDash val="solid"/>
          </a:ln>
          <a:effectLst>
            <a:outerShdw sx="100000" sy="100000" kx="0" ky="0" algn="bl" rotWithShape="0" blurRad="114300" dist="38100" dir="5400000">
              <a:srgbClr val="1E3A8A">
                <a:alpha val="8000"/>
              </a:srgbClr>
            </a:outerShdw>
          </a:effectLst>
        </p:spPr>
        <p:txBody>
          <a:bodyPr/>
          <a:p/>
        </p:txBody>
      </p:sp>
      <p:sp>
        <p:nvSpPr>
          <p:cNvPr id="6" name="Text 3"/>
          <p:cNvSpPr txBox="1"/>
          <p:nvPr/>
        </p:nvSpPr>
        <p:spPr>
          <a:xfrm>
            <a:off x="1371600" y="1828800"/>
            <a:ext cx="4572000" cy="320040"/>
          </a:xfrm>
          <a:prstGeom prst="rect">
            <a:avLst/>
          </a:prstGeom>
          <a:noFill/>
          <a:ln/>
        </p:spPr>
        <p:txBody>
          <a:bodyPr wrap="square" lIns="0" tIns="0" rIns="0" bIns="0" rtlCol="0" anchor="t"/>
          <a:lstStyle/>
          <a:p>
            <a:pPr indent="0" marL="0">
              <a:buNone/>
            </a:pPr>
            <a:r>
              <a:rPr lang="en-US" sz="1600" b="1" dirty="0">
                <a:solidFill>
                  <a:srgbClr val="1E3A8A"/>
                </a:solidFill>
                <a:latin typeface="Arial" pitchFamily="34" charset="0"/>
                <a:ea typeface="Arial" pitchFamily="34" charset="-122"/>
                <a:cs typeface="Arial" pitchFamily="34" charset="-120"/>
              </a:rPr>
              <a:t>Math Error Rate (%)</a:t>
            </a:r>
            <a:endParaRPr lang="en-US" sz="1600" dirty="0"/>
          </a:p>
        </p:txBody>
      </p:sp>
      <p:graphicFrame>
        <p:nvGraphicFramePr>
          <p:cNvPr id="7" name="Chart 0" descr=""/>
          <p:cNvGraphicFramePr/>
          <p:nvPr/>
        </p:nvGraphicFramePr>
        <p:xfrm>
          <a:off x="1280160" y="2194560"/>
          <a:ext cx="6309360" cy="374904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001000" y="1691640"/>
            <a:ext cx="3639312" cy="1920240"/>
          </a:xfrm>
          <a:prstGeom prst="roundRect">
            <a:avLst>
              <a:gd name="adj" fmla="val 9524"/>
            </a:avLst>
          </a:prstGeom>
          <a:solidFill>
            <a:srgbClr val="F97316"/>
          </a:solidFill>
          <a:ln w="3175">
            <a:solidFill>
              <a:srgbClr val="F97316"/>
            </a:solidFill>
            <a:prstDash val="solid"/>
          </a:ln>
        </p:spPr>
        <p:txBody>
          <a:bodyPr/>
          <a:p/>
        </p:txBody>
      </p:sp>
      <p:sp>
        <p:nvSpPr>
          <p:cNvPr id="9" name="Text 5"/>
          <p:cNvSpPr txBox="1"/>
          <p:nvPr/>
        </p:nvSpPr>
        <p:spPr>
          <a:xfrm>
            <a:off x="8257032" y="1783080"/>
            <a:ext cx="3127248" cy="1056132"/>
          </a:xfrm>
          <a:prstGeom prst="rect">
            <a:avLst/>
          </a:prstGeom>
          <a:noFill/>
          <a:ln/>
        </p:spPr>
        <p:txBody>
          <a:bodyPr wrap="square" lIns="0" tIns="0" rIns="0" bIns="0" rtlCol="0" anchor="ctr">
            <a:normAutofit/>
          </a:bodyPr>
          <a:lstStyle/>
          <a:p>
            <a:pPr indent="0" marL="0">
              <a:buNone/>
            </a:pPr>
            <a:r>
              <a:rPr lang="en-US" sz="5400" b="1" dirty="0">
                <a:solidFill>
                  <a:srgbClr val="FFFFFF"/>
                </a:solidFill>
                <a:latin typeface="Arial" pitchFamily="34" charset="0"/>
                <a:ea typeface="Arial" pitchFamily="34" charset="-122"/>
                <a:cs typeface="Arial" pitchFamily="34" charset="-120"/>
              </a:rPr>
              <a:t>0.00%</a:t>
            </a:r>
            <a:endParaRPr lang="en-US" sz="5400" dirty="0"/>
          </a:p>
        </p:txBody>
      </p:sp>
      <p:sp>
        <p:nvSpPr>
          <p:cNvPr id="10" name="Text 6"/>
          <p:cNvSpPr txBox="1"/>
          <p:nvPr/>
        </p:nvSpPr>
        <p:spPr>
          <a:xfrm>
            <a:off x="8257032" y="2920594"/>
            <a:ext cx="3127248" cy="614477"/>
          </a:xfrm>
          <a:prstGeom prst="rect">
            <a:avLst/>
          </a:prstGeom>
          <a:noFill/>
          <a:ln/>
        </p:spPr>
        <p:txBody>
          <a:bodyPr wrap="square" lIns="0" tIns="0" rIns="0" bIns="0" rtlCol="0" anchor="t"/>
          <a:lstStyle/>
          <a:p>
            <a:pPr indent="0" marL="0">
              <a:buNone/>
            </a:pPr>
            <a:r>
              <a:rPr lang="en-US" sz="1700" dirty="0">
                <a:solidFill>
                  <a:srgbClr val="FFF1E6"/>
                </a:solidFill>
                <a:latin typeface="Arial" pitchFamily="34" charset="0"/>
                <a:ea typeface="Arial" pitchFamily="34" charset="-122"/>
                <a:cs typeface="Arial" pitchFamily="34" charset="-120"/>
              </a:rPr>
              <a:t>DataForge Math Error Rate</a:t>
            </a:r>
            <a:endParaRPr lang="en-US" sz="1700" dirty="0"/>
          </a:p>
        </p:txBody>
      </p:sp>
      <p:sp>
        <p:nvSpPr>
          <p:cNvPr id="11" name="Shape 7"/>
          <p:cNvSpPr/>
          <p:nvPr/>
        </p:nvSpPr>
        <p:spPr>
          <a:xfrm>
            <a:off x="8001000" y="3794760"/>
            <a:ext cx="3639312" cy="0"/>
          </a:xfrm>
          <a:prstGeom prst="line">
            <a:avLst/>
          </a:prstGeom>
          <a:noFill/>
          <a:ln w="9525">
            <a:solidFill>
              <a:srgbClr val="D5DEEC"/>
            </a:solidFill>
            <a:prstDash val="solid"/>
          </a:ln>
        </p:spPr>
        <p:txBody>
          <a:bodyPr/>
          <a:p/>
        </p:txBody>
      </p:sp>
      <p:sp>
        <p:nvSpPr>
          <p:cNvPr id="12" name="Text 8"/>
          <p:cNvSpPr txBox="1"/>
          <p:nvPr/>
        </p:nvSpPr>
        <p:spPr>
          <a:xfrm>
            <a:off x="8001000" y="392277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01</a:t>
            </a:r>
            <a:endParaRPr lang="en-US" sz="1800" dirty="0"/>
          </a:p>
        </p:txBody>
      </p:sp>
      <p:sp>
        <p:nvSpPr>
          <p:cNvPr id="13" name="Text 9"/>
          <p:cNvSpPr txBox="1"/>
          <p:nvPr/>
        </p:nvSpPr>
        <p:spPr>
          <a:xfrm>
            <a:off x="8732520" y="3886200"/>
            <a:ext cx="2907792" cy="365760"/>
          </a:xfrm>
          <a:prstGeom prst="rect">
            <a:avLst/>
          </a:prstGeom>
          <a:noFill/>
          <a:ln/>
        </p:spPr>
        <p:txBody>
          <a:bodyPr wrap="square" lIns="0" tIns="0" rIns="0" bIns="0" rtlCol="0" anchor="t"/>
          <a:lstStyle/>
          <a:p>
            <a:pPr indent="0" marL="0">
              <a:buNone/>
            </a:pPr>
            <a:r>
              <a:rPr lang="en-US" sz="1700" b="1" dirty="0">
                <a:solidFill>
                  <a:srgbClr val="1E3A8A"/>
                </a:solidFill>
                <a:latin typeface="Arial" pitchFamily="34" charset="0"/>
                <a:ea typeface="Arial" pitchFamily="34" charset="-122"/>
                <a:cs typeface="Arial" pitchFamily="34" charset="-120"/>
              </a:rPr>
              <a:t>Rigorous Benchmark</a:t>
            </a:r>
            <a:endParaRPr lang="en-US" sz="1700" dirty="0"/>
          </a:p>
        </p:txBody>
      </p:sp>
      <p:sp>
        <p:nvSpPr>
          <p:cNvPr id="14" name="Text 10"/>
          <p:cNvSpPr txBox="1"/>
          <p:nvPr/>
        </p:nvSpPr>
        <p:spPr>
          <a:xfrm>
            <a:off x="8732520" y="4251960"/>
            <a:ext cx="2907792" cy="411480"/>
          </a:xfrm>
          <a:prstGeom prst="rect">
            <a:avLst/>
          </a:prstGeom>
          <a:noFill/>
          <a:ln/>
        </p:spPr>
        <p:txBody>
          <a:bodyPr wrap="square" lIns="0" tIns="0" rIns="0" bIns="0" rtlCol="0" anchor="t"/>
          <a:lstStyle/>
          <a:p>
            <a:pPr indent="0" marL="0">
              <a:buNone/>
            </a:pPr>
            <a:r>
              <a:rPr lang="en-US" sz="1400" dirty="0">
                <a:solidFill>
                  <a:srgbClr val="475569"/>
                </a:solidFill>
                <a:latin typeface="Arial" pitchFamily="34" charset="0"/>
                <a:ea typeface="Arial" pitchFamily="34" charset="-122"/>
                <a:cs typeface="Arial" pitchFamily="34" charset="-120"/>
              </a:rPr>
              <a:t>Tested on 500 complex business queries across 4 real enterprise datasets</a:t>
            </a:r>
            <a:endParaRPr lang="en-US" sz="1400" dirty="0"/>
          </a:p>
        </p:txBody>
      </p:sp>
      <p:sp>
        <p:nvSpPr>
          <p:cNvPr id="15" name="Shape 11"/>
          <p:cNvSpPr/>
          <p:nvPr/>
        </p:nvSpPr>
        <p:spPr>
          <a:xfrm>
            <a:off x="8001000" y="4709160"/>
            <a:ext cx="3639312" cy="0"/>
          </a:xfrm>
          <a:prstGeom prst="line">
            <a:avLst/>
          </a:prstGeom>
          <a:noFill/>
          <a:ln w="9525">
            <a:solidFill>
              <a:srgbClr val="D5DEEC"/>
            </a:solidFill>
            <a:prstDash val="solid"/>
          </a:ln>
        </p:spPr>
        <p:txBody>
          <a:bodyPr/>
          <a:p/>
        </p:txBody>
      </p:sp>
      <p:sp>
        <p:nvSpPr>
          <p:cNvPr id="16" name="Text 12"/>
          <p:cNvSpPr txBox="1"/>
          <p:nvPr/>
        </p:nvSpPr>
        <p:spPr>
          <a:xfrm>
            <a:off x="8001000" y="4837176"/>
            <a:ext cx="640080" cy="365760"/>
          </a:xfrm>
          <a:prstGeom prst="rect">
            <a:avLst/>
          </a:prstGeom>
          <a:noFill/>
          <a:ln/>
        </p:spPr>
        <p:txBody>
          <a:bodyPr wrap="square" lIns="0" tIns="0" rIns="0" bIns="0" rtlCol="0" anchor="t"/>
          <a:lstStyle/>
          <a:p>
            <a:pPr indent="0" marL="0">
              <a:buNone/>
            </a:pPr>
            <a:r>
              <a:rPr lang="en-US" sz="1800" b="1" dirty="0">
                <a:solidFill>
                  <a:srgbClr val="F97316"/>
                </a:solidFill>
                <a:latin typeface="Arial" pitchFamily="34" charset="0"/>
                <a:ea typeface="Arial" pitchFamily="34" charset="-122"/>
                <a:cs typeface="Arial" pitchFamily="34" charset="-120"/>
              </a:rPr>
              <a:t>02</a:t>
            </a:r>
            <a:endParaRPr lang="en-US" sz="1800" dirty="0"/>
          </a:p>
        </p:txBody>
      </p:sp>
      <p:sp>
        <p:nvSpPr>
          <p:cNvPr id="17" name="Text 13"/>
          <p:cNvSpPr txBox="1"/>
          <p:nvPr/>
        </p:nvSpPr>
        <p:spPr>
          <a:xfrm>
            <a:off x="8732520" y="4800600"/>
            <a:ext cx="2907792" cy="365760"/>
          </a:xfrm>
          <a:prstGeom prst="rect">
            <a:avLst/>
          </a:prstGeom>
          <a:noFill/>
          <a:ln/>
        </p:spPr>
        <p:txBody>
          <a:bodyPr wrap="square" lIns="0" tIns="0" rIns="0" bIns="0" rtlCol="0" anchor="t"/>
          <a:lstStyle/>
          <a:p>
            <a:pPr indent="0" marL="0">
              <a:buNone/>
            </a:pPr>
            <a:r>
              <a:rPr lang="en-US" sz="1700" b="1" dirty="0">
                <a:solidFill>
                  <a:srgbClr val="1E3A8A"/>
                </a:solidFill>
                <a:latin typeface="Arial" pitchFamily="34" charset="0"/>
                <a:ea typeface="Arial" pitchFamily="34" charset="-122"/>
                <a:cs typeface="Arial" pitchFamily="34" charset="-120"/>
              </a:rPr>
              <a:t>Skills Evaluated</a:t>
            </a:r>
            <a:endParaRPr lang="en-US" sz="1700" dirty="0"/>
          </a:p>
        </p:txBody>
      </p:sp>
      <p:sp>
        <p:nvSpPr>
          <p:cNvPr id="18" name="Text 14"/>
          <p:cNvSpPr txBox="1"/>
          <p:nvPr/>
        </p:nvSpPr>
        <p:spPr>
          <a:xfrm>
            <a:off x="8732520" y="5166360"/>
            <a:ext cx="2907792" cy="411480"/>
          </a:xfrm>
          <a:prstGeom prst="rect">
            <a:avLst/>
          </a:prstGeom>
          <a:noFill/>
          <a:ln/>
        </p:spPr>
        <p:txBody>
          <a:bodyPr wrap="square" lIns="0" tIns="0" rIns="0" bIns="0" rtlCol="0" anchor="t"/>
          <a:lstStyle/>
          <a:p>
            <a:pPr indent="0" marL="0">
              <a:buNone/>
            </a:pPr>
            <a:r>
              <a:rPr lang="en-US" sz="1400" dirty="0">
                <a:solidFill>
                  <a:srgbClr val="475569"/>
                </a:solidFill>
                <a:latin typeface="Arial" pitchFamily="34" charset="0"/>
                <a:ea typeface="Arial" pitchFamily="34" charset="-122"/>
                <a:cs typeface="Arial" pitchFamily="34" charset="-120"/>
              </a:rPr>
              <a:t>Financial sums, category rankings, percentage growth, and correlations</a:t>
            </a:r>
            <a:endParaRPr lang="en-US" sz="1400" dirty="0"/>
          </a:p>
        </p:txBody>
      </p:sp>
      <p:sp>
        <p:nvSpPr>
          <p:cNvPr id="19" name="Shape 15"/>
          <p:cNvSpPr/>
          <p:nvPr/>
        </p:nvSpPr>
        <p:spPr>
          <a:xfrm>
            <a:off x="8001000" y="5623560"/>
            <a:ext cx="3639312" cy="0"/>
          </a:xfrm>
          <a:prstGeom prst="line">
            <a:avLst/>
          </a:prstGeom>
          <a:noFill/>
          <a:ln w="9525">
            <a:solidFill>
              <a:srgbClr val="D5DEEC"/>
            </a:solidFill>
            <a:prstDash val="solid"/>
          </a:ln>
        </p:spPr>
        <p:txBody>
          <a:bodyPr/>
          <a:p/>
        </p:txBody>
      </p:sp>
      <p:sp>
        <p:nvSpPr>
          <p:cNvPr id="20" name="Text 16"/>
          <p:cNvSpPr txBox="1"/>
          <p:nvPr/>
        </p:nvSpPr>
        <p:spPr>
          <a:xfrm>
            <a:off x="8001000" y="5760720"/>
            <a:ext cx="3639312" cy="274320"/>
          </a:xfrm>
          <a:prstGeom prst="rect">
            <a:avLst/>
          </a:prstGeom>
          <a:noFill/>
          <a:ln/>
        </p:spPr>
        <p:txBody>
          <a:bodyPr wrap="square" lIns="0" tIns="0" rIns="0" bIns="0" rtlCol="0" anchor="t"/>
          <a:lstStyle/>
          <a:p>
            <a:pPr indent="0" marL="0">
              <a:buNone/>
            </a:pPr>
            <a:r>
              <a:rPr lang="en-US" sz="1200" dirty="0">
                <a:solidFill>
                  <a:srgbClr val="64748B"/>
                </a:solidFill>
                <a:latin typeface="Arial" pitchFamily="34" charset="0"/>
                <a:ea typeface="Arial" pitchFamily="34" charset="-122"/>
                <a:cs typeface="Arial" pitchFamily="34" charset="-120"/>
              </a:rPr>
              <a:t>Standard AI models fail on math 11% to 15% of the time. DataForge achieves 0.00%.</a:t>
            </a:r>
            <a:endParaRPr lang="en-US" sz="12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Conclusion: Easy Insights with Guaranteed Truth</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Conclusion</a:t>
            </a:r>
            <a:endParaRPr lang="en-US" sz="3200" dirty="0"/>
          </a:p>
        </p:txBody>
      </p:sp>
      <p:sp>
        <p:nvSpPr>
          <p:cNvPr id="5" name="Shape 2"/>
          <p:cNvSpPr/>
          <p:nvPr/>
        </p:nvSpPr>
        <p:spPr>
          <a:xfrm>
            <a:off x="1097280" y="1691640"/>
            <a:ext cx="3931920" cy="4389120"/>
          </a:xfrm>
          <a:prstGeom prst="rect">
            <a:avLst/>
          </a:prstGeom>
          <a:solidFill>
            <a:srgbClr val="1D4ED8"/>
          </a:solidFill>
          <a:ln w="3175">
            <a:solidFill>
              <a:srgbClr val="1D4ED8"/>
            </a:solidFill>
            <a:prstDash val="solid"/>
          </a:ln>
        </p:spPr>
        <p:txBody>
          <a:bodyPr/>
          <a:p/>
        </p:txBody>
      </p:sp>
      <p:pic>
        <p:nvPicPr>
          <p:cNvPr id="6" name="Image 0" descr="/home/claude/deck/img/orbit_w.png">    </p:cNvPr>
          <p:cNvPicPr>
            <a:picLocks noChangeAspect="1"/>
          </p:cNvPicPr>
          <p:nvPr/>
        </p:nvPicPr>
        <p:blipFill>
          <a:blip r:embed="rId1"/>
          <a:stretch>
            <a:fillRect/>
          </a:stretch>
        </p:blipFill>
        <p:spPr>
          <a:xfrm>
            <a:off x="-6400800" y="868680"/>
            <a:ext cx="12188952" cy="6858000"/>
          </a:xfrm>
          <a:prstGeom prst="rect">
            <a:avLst/>
          </a:prstGeom>
        </p:spPr>
      </p:pic>
      <p:sp>
        <p:nvSpPr>
          <p:cNvPr id="7" name="Shape 3"/>
          <p:cNvSpPr/>
          <p:nvPr/>
        </p:nvSpPr>
        <p:spPr>
          <a:xfrm>
            <a:off x="3383280" y="4572000"/>
            <a:ext cx="1280160" cy="1280160"/>
          </a:xfrm>
          <a:prstGeom prst="ellipse">
            <a:avLst/>
          </a:prstGeom>
          <a:solidFill>
            <a:srgbClr val="F97316"/>
          </a:solidFill>
          <a:ln w="12700">
            <a:solidFill>
              <a:srgbClr val="F97316"/>
            </a:solidFill>
            <a:prstDash val="solid"/>
          </a:ln>
        </p:spPr>
        <p:txBody>
          <a:bodyPr/>
          <a:p/>
        </p:txBody>
      </p:sp>
      <p:sp>
        <p:nvSpPr>
          <p:cNvPr id="8" name="Text 4"/>
          <p:cNvSpPr txBox="1"/>
          <p:nvPr/>
        </p:nvSpPr>
        <p:spPr>
          <a:xfrm>
            <a:off x="1417320" y="2011680"/>
            <a:ext cx="3383280" cy="201168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Compute first.</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Speak second.</a:t>
            </a:r>
            <a:endParaRPr lang="en-US" sz="3400" dirty="0"/>
          </a:p>
        </p:txBody>
      </p:sp>
      <p:sp>
        <p:nvSpPr>
          <p:cNvPr id="9" name="Shape 5"/>
          <p:cNvSpPr/>
          <p:nvPr/>
        </p:nvSpPr>
        <p:spPr>
          <a:xfrm>
            <a:off x="5303520" y="1691640"/>
            <a:ext cx="6336792" cy="1005840"/>
          </a:xfrm>
          <a:prstGeom prst="roundRect">
            <a:avLst>
              <a:gd name="adj" fmla="val 13636"/>
            </a:avLst>
          </a:prstGeom>
          <a:solidFill>
            <a:srgbClr val="F0F5FF"/>
          </a:solidFill>
          <a:ln w="3175">
            <a:solidFill>
              <a:srgbClr val="F0F5FF"/>
            </a:solidFill>
            <a:prstDash val="solid"/>
          </a:ln>
        </p:spPr>
        <p:txBody>
          <a:bodyPr/>
          <a:p/>
        </p:txBody>
      </p:sp>
      <p:sp>
        <p:nvSpPr>
          <p:cNvPr id="10" name="Shape 6"/>
          <p:cNvSpPr/>
          <p:nvPr/>
        </p:nvSpPr>
        <p:spPr>
          <a:xfrm>
            <a:off x="5532120" y="1947672"/>
            <a:ext cx="493776" cy="493776"/>
          </a:xfrm>
          <a:prstGeom prst="ellipse">
            <a:avLst/>
          </a:prstGeom>
          <a:solidFill>
            <a:srgbClr val="F97316"/>
          </a:solidFill>
          <a:ln w="12700">
            <a:solidFill>
              <a:srgbClr val="F97316"/>
            </a:solidFill>
            <a:prstDash val="solid"/>
          </a:ln>
        </p:spPr>
        <p:txBody>
          <a:bodyPr/>
          <a:p/>
        </p:txBody>
      </p:sp>
      <p:sp>
        <p:nvSpPr>
          <p:cNvPr id="11" name="Text 7"/>
          <p:cNvSpPr txBox="1"/>
          <p:nvPr/>
        </p:nvSpPr>
        <p:spPr>
          <a:xfrm>
            <a:off x="5532120" y="1947672"/>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01</a:t>
            </a:r>
            <a:endParaRPr lang="en-US" sz="1400" dirty="0"/>
          </a:p>
        </p:txBody>
      </p:sp>
      <p:sp>
        <p:nvSpPr>
          <p:cNvPr id="12" name="Text 8"/>
          <p:cNvSpPr txBox="1"/>
          <p:nvPr/>
        </p:nvSpPr>
        <p:spPr>
          <a:xfrm>
            <a:off x="6217920" y="1783080"/>
            <a:ext cx="5303520" cy="365760"/>
          </a:xfrm>
          <a:prstGeom prst="rect">
            <a:avLst/>
          </a:prstGeom>
          <a:noFill/>
          <a:ln/>
        </p:spPr>
        <p:txBody>
          <a:bodyPr wrap="square" lIns="0" tIns="0" rIns="0" bIns="0" rtlCol="0" anchor="t"/>
          <a:lstStyle/>
          <a:p>
            <a:pPr indent="0" marL="0">
              <a:buNone/>
            </a:pPr>
            <a:r>
              <a:rPr lang="en-US" sz="2000" b="1" dirty="0">
                <a:solidFill>
                  <a:srgbClr val="1E3A8A"/>
                </a:solidFill>
                <a:latin typeface="Arial" pitchFamily="34" charset="0"/>
                <a:ea typeface="Arial" pitchFamily="34" charset="-122"/>
                <a:cs typeface="Arial" pitchFamily="34" charset="-120"/>
              </a:rPr>
              <a:t>The Problem We Solved</a:t>
            </a:r>
            <a:endParaRPr lang="en-US" sz="2000" dirty="0"/>
          </a:p>
        </p:txBody>
      </p:sp>
      <p:sp>
        <p:nvSpPr>
          <p:cNvPr id="13" name="Text 9"/>
          <p:cNvSpPr txBox="1"/>
          <p:nvPr/>
        </p:nvSpPr>
        <p:spPr>
          <a:xfrm>
            <a:off x="6217920" y="2148840"/>
            <a:ext cx="5303520" cy="502920"/>
          </a:xfrm>
          <a:prstGeom prst="rect">
            <a:avLst/>
          </a:prstGeom>
          <a:noFill/>
          <a:ln/>
        </p:spPr>
        <p:txBody>
          <a:bodyPr wrap="square" lIns="0" tIns="0" rIns="0" bIns="0" rtlCol="0" anchor="t"/>
          <a:lstStyle/>
          <a:p>
            <a:pPr indent="0" marL="0">
              <a:buNone/>
            </a:pPr>
            <a:r>
              <a:rPr lang="en-US" sz="1500" dirty="0">
                <a:solidFill>
                  <a:srgbClr val="475569"/>
                </a:solidFill>
                <a:latin typeface="Arial" pitchFamily="34" charset="0"/>
                <a:ea typeface="Arial" pitchFamily="34" charset="-122"/>
                <a:cs typeface="Arial" pitchFamily="34" charset="-120"/>
              </a:rPr>
              <a:t>Eliminated the 80% data cleaning bottleneck and stopped AI math hallucinations</a:t>
            </a:r>
            <a:endParaRPr lang="en-US" sz="1500" dirty="0"/>
          </a:p>
        </p:txBody>
      </p:sp>
      <p:sp>
        <p:nvSpPr>
          <p:cNvPr id="14" name="Shape 10"/>
          <p:cNvSpPr/>
          <p:nvPr/>
        </p:nvSpPr>
        <p:spPr>
          <a:xfrm>
            <a:off x="5303520" y="2816352"/>
            <a:ext cx="6336792" cy="1005840"/>
          </a:xfrm>
          <a:prstGeom prst="roundRect">
            <a:avLst>
              <a:gd name="adj" fmla="val 13636"/>
            </a:avLst>
          </a:prstGeom>
          <a:solidFill>
            <a:srgbClr val="FFFFFF"/>
          </a:solidFill>
          <a:ln w="12700">
            <a:solidFill>
              <a:srgbClr val="D5DEEC"/>
            </a:solidFill>
            <a:prstDash val="solid"/>
          </a:ln>
          <a:effectLst>
            <a:outerShdw sx="100000" sy="100000" kx="0" ky="0" algn="bl" rotWithShape="0" blurRad="114300" dist="38100" dir="5400000">
              <a:srgbClr val="1E3A8A">
                <a:alpha val="6000"/>
              </a:srgbClr>
            </a:outerShdw>
          </a:effectLst>
        </p:spPr>
        <p:txBody>
          <a:bodyPr/>
          <a:p/>
        </p:txBody>
      </p:sp>
      <p:sp>
        <p:nvSpPr>
          <p:cNvPr id="15" name="Shape 11"/>
          <p:cNvSpPr/>
          <p:nvPr/>
        </p:nvSpPr>
        <p:spPr>
          <a:xfrm>
            <a:off x="5532120" y="3072384"/>
            <a:ext cx="493776" cy="493776"/>
          </a:xfrm>
          <a:prstGeom prst="ellipse">
            <a:avLst/>
          </a:prstGeom>
          <a:solidFill>
            <a:srgbClr val="F97316"/>
          </a:solidFill>
          <a:ln w="12700">
            <a:solidFill>
              <a:srgbClr val="F97316"/>
            </a:solidFill>
            <a:prstDash val="solid"/>
          </a:ln>
        </p:spPr>
        <p:txBody>
          <a:bodyPr/>
          <a:p/>
        </p:txBody>
      </p:sp>
      <p:sp>
        <p:nvSpPr>
          <p:cNvPr id="16" name="Text 12"/>
          <p:cNvSpPr txBox="1"/>
          <p:nvPr/>
        </p:nvSpPr>
        <p:spPr>
          <a:xfrm>
            <a:off x="5532120" y="3072384"/>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02</a:t>
            </a:r>
            <a:endParaRPr lang="en-US" sz="1400" dirty="0"/>
          </a:p>
        </p:txBody>
      </p:sp>
      <p:sp>
        <p:nvSpPr>
          <p:cNvPr id="17" name="Text 13"/>
          <p:cNvSpPr txBox="1"/>
          <p:nvPr/>
        </p:nvSpPr>
        <p:spPr>
          <a:xfrm>
            <a:off x="6217920" y="2907792"/>
            <a:ext cx="5303520" cy="365760"/>
          </a:xfrm>
          <a:prstGeom prst="rect">
            <a:avLst/>
          </a:prstGeom>
          <a:noFill/>
          <a:ln/>
        </p:spPr>
        <p:txBody>
          <a:bodyPr wrap="square" lIns="0" tIns="0" rIns="0" bIns="0" rtlCol="0" anchor="t"/>
          <a:lstStyle/>
          <a:p>
            <a:pPr indent="0" marL="0">
              <a:buNone/>
            </a:pPr>
            <a:r>
              <a:rPr lang="en-US" sz="2000" b="1" dirty="0">
                <a:solidFill>
                  <a:srgbClr val="1E3A8A"/>
                </a:solidFill>
                <a:latin typeface="Arial" pitchFamily="34" charset="0"/>
                <a:ea typeface="Arial" pitchFamily="34" charset="-122"/>
                <a:cs typeface="Arial" pitchFamily="34" charset="-120"/>
              </a:rPr>
              <a:t>What We Built</a:t>
            </a:r>
            <a:endParaRPr lang="en-US" sz="2000" dirty="0"/>
          </a:p>
        </p:txBody>
      </p:sp>
      <p:sp>
        <p:nvSpPr>
          <p:cNvPr id="18" name="Text 14"/>
          <p:cNvSpPr txBox="1"/>
          <p:nvPr/>
        </p:nvSpPr>
        <p:spPr>
          <a:xfrm>
            <a:off x="6217920" y="3273552"/>
            <a:ext cx="5303520" cy="502920"/>
          </a:xfrm>
          <a:prstGeom prst="rect">
            <a:avLst/>
          </a:prstGeom>
          <a:noFill/>
          <a:ln/>
        </p:spPr>
        <p:txBody>
          <a:bodyPr wrap="square" lIns="0" tIns="0" rIns="0" bIns="0" rtlCol="0" anchor="t"/>
          <a:lstStyle/>
          <a:p>
            <a:pPr indent="0" marL="0">
              <a:buNone/>
            </a:pPr>
            <a:r>
              <a:rPr lang="en-US" sz="1500" dirty="0">
                <a:solidFill>
                  <a:srgbClr val="475569"/>
                </a:solidFill>
                <a:latin typeface="Arial" pitchFamily="34" charset="0"/>
                <a:ea typeface="Arial" pitchFamily="34" charset="-122"/>
                <a:cs typeface="Arial" pitchFamily="34" charset="-120"/>
              </a:rPr>
              <a:t>An all-in-one assistant: auto-clean, profile, predict, and chat with data</a:t>
            </a:r>
            <a:endParaRPr lang="en-US" sz="1500" dirty="0"/>
          </a:p>
        </p:txBody>
      </p:sp>
      <p:sp>
        <p:nvSpPr>
          <p:cNvPr id="19" name="Shape 15"/>
          <p:cNvSpPr/>
          <p:nvPr/>
        </p:nvSpPr>
        <p:spPr>
          <a:xfrm>
            <a:off x="5303520" y="3941064"/>
            <a:ext cx="6336792" cy="1005840"/>
          </a:xfrm>
          <a:prstGeom prst="roundRect">
            <a:avLst>
              <a:gd name="adj" fmla="val 13636"/>
            </a:avLst>
          </a:prstGeom>
          <a:solidFill>
            <a:srgbClr val="F0F5FF"/>
          </a:solidFill>
          <a:ln w="3175">
            <a:solidFill>
              <a:srgbClr val="F0F5FF"/>
            </a:solidFill>
            <a:prstDash val="solid"/>
          </a:ln>
        </p:spPr>
        <p:txBody>
          <a:bodyPr/>
          <a:p/>
        </p:txBody>
      </p:sp>
      <p:sp>
        <p:nvSpPr>
          <p:cNvPr id="20" name="Shape 16"/>
          <p:cNvSpPr/>
          <p:nvPr/>
        </p:nvSpPr>
        <p:spPr>
          <a:xfrm>
            <a:off x="5532120" y="4197096"/>
            <a:ext cx="493776" cy="493776"/>
          </a:xfrm>
          <a:prstGeom prst="ellipse">
            <a:avLst/>
          </a:prstGeom>
          <a:solidFill>
            <a:srgbClr val="F97316"/>
          </a:solidFill>
          <a:ln w="12700">
            <a:solidFill>
              <a:srgbClr val="F97316"/>
            </a:solidFill>
            <a:prstDash val="solid"/>
          </a:ln>
        </p:spPr>
        <p:txBody>
          <a:bodyPr/>
          <a:p/>
        </p:txBody>
      </p:sp>
      <p:sp>
        <p:nvSpPr>
          <p:cNvPr id="21" name="Text 17"/>
          <p:cNvSpPr txBox="1"/>
          <p:nvPr/>
        </p:nvSpPr>
        <p:spPr>
          <a:xfrm>
            <a:off x="5532120" y="4197096"/>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03</a:t>
            </a:r>
            <a:endParaRPr lang="en-US" sz="1400" dirty="0"/>
          </a:p>
        </p:txBody>
      </p:sp>
      <p:sp>
        <p:nvSpPr>
          <p:cNvPr id="22" name="Text 18"/>
          <p:cNvSpPr txBox="1"/>
          <p:nvPr/>
        </p:nvSpPr>
        <p:spPr>
          <a:xfrm>
            <a:off x="6217920" y="4032504"/>
            <a:ext cx="5303520" cy="365760"/>
          </a:xfrm>
          <a:prstGeom prst="rect">
            <a:avLst/>
          </a:prstGeom>
          <a:noFill/>
          <a:ln/>
        </p:spPr>
        <p:txBody>
          <a:bodyPr wrap="square" lIns="0" tIns="0" rIns="0" bIns="0" rtlCol="0" anchor="t"/>
          <a:lstStyle/>
          <a:p>
            <a:pPr indent="0" marL="0">
              <a:buNone/>
            </a:pPr>
            <a:r>
              <a:rPr lang="en-US" sz="2000" b="1" dirty="0">
                <a:solidFill>
                  <a:srgbClr val="1E3A8A"/>
                </a:solidFill>
                <a:latin typeface="Arial" pitchFamily="34" charset="0"/>
                <a:ea typeface="Arial" pitchFamily="34" charset="-122"/>
                <a:cs typeface="Arial" pitchFamily="34" charset="-120"/>
              </a:rPr>
              <a:t>Proven Results</a:t>
            </a:r>
            <a:endParaRPr lang="en-US" sz="2000" dirty="0"/>
          </a:p>
        </p:txBody>
      </p:sp>
      <p:sp>
        <p:nvSpPr>
          <p:cNvPr id="23" name="Text 19"/>
          <p:cNvSpPr txBox="1"/>
          <p:nvPr/>
        </p:nvSpPr>
        <p:spPr>
          <a:xfrm>
            <a:off x="6217920" y="4398264"/>
            <a:ext cx="5303520" cy="502920"/>
          </a:xfrm>
          <a:prstGeom prst="rect">
            <a:avLst/>
          </a:prstGeom>
          <a:noFill/>
          <a:ln/>
        </p:spPr>
        <p:txBody>
          <a:bodyPr wrap="square" lIns="0" tIns="0" rIns="0" bIns="0" rtlCol="0" anchor="t"/>
          <a:lstStyle/>
          <a:p>
            <a:pPr indent="0" marL="0">
              <a:buNone/>
            </a:pPr>
            <a:r>
              <a:rPr lang="en-US" sz="1500" dirty="0">
                <a:solidFill>
                  <a:srgbClr val="475569"/>
                </a:solidFill>
                <a:latin typeface="Arial" pitchFamily="34" charset="0"/>
                <a:ea typeface="Arial" pitchFamily="34" charset="-122"/>
                <a:cs typeface="Arial" pitchFamily="34" charset="-120"/>
              </a:rPr>
              <a:t>100% math accuracy on 500 tests, false alarms blocked, 100% security containment</a:t>
            </a:r>
            <a:endParaRPr lang="en-US" sz="1500" dirty="0"/>
          </a:p>
        </p:txBody>
      </p:sp>
      <p:sp>
        <p:nvSpPr>
          <p:cNvPr id="24" name="Shape 20"/>
          <p:cNvSpPr/>
          <p:nvPr/>
        </p:nvSpPr>
        <p:spPr>
          <a:xfrm>
            <a:off x="5303520" y="5065776"/>
            <a:ext cx="6336792" cy="1005840"/>
          </a:xfrm>
          <a:prstGeom prst="roundRect">
            <a:avLst>
              <a:gd name="adj" fmla="val 13636"/>
            </a:avLst>
          </a:prstGeom>
          <a:solidFill>
            <a:srgbClr val="FFFFFF"/>
          </a:solidFill>
          <a:ln w="12700">
            <a:solidFill>
              <a:srgbClr val="D5DEEC"/>
            </a:solidFill>
            <a:prstDash val="solid"/>
          </a:ln>
          <a:effectLst>
            <a:outerShdw sx="100000" sy="100000" kx="0" ky="0" algn="bl" rotWithShape="0" blurRad="114300" dist="38100" dir="5400000">
              <a:srgbClr val="1E3A8A">
                <a:alpha val="6000"/>
              </a:srgbClr>
            </a:outerShdw>
          </a:effectLst>
        </p:spPr>
        <p:txBody>
          <a:bodyPr/>
          <a:p/>
        </p:txBody>
      </p:sp>
      <p:sp>
        <p:nvSpPr>
          <p:cNvPr id="25" name="Shape 21"/>
          <p:cNvSpPr/>
          <p:nvPr/>
        </p:nvSpPr>
        <p:spPr>
          <a:xfrm>
            <a:off x="5532120" y="5321808"/>
            <a:ext cx="493776" cy="493776"/>
          </a:xfrm>
          <a:prstGeom prst="ellipse">
            <a:avLst/>
          </a:prstGeom>
          <a:solidFill>
            <a:srgbClr val="F97316"/>
          </a:solidFill>
          <a:ln w="12700">
            <a:solidFill>
              <a:srgbClr val="F97316"/>
            </a:solidFill>
            <a:prstDash val="solid"/>
          </a:ln>
        </p:spPr>
        <p:txBody>
          <a:bodyPr/>
          <a:p/>
        </p:txBody>
      </p:sp>
      <p:sp>
        <p:nvSpPr>
          <p:cNvPr id="26" name="Text 22"/>
          <p:cNvSpPr txBox="1"/>
          <p:nvPr/>
        </p:nvSpPr>
        <p:spPr>
          <a:xfrm>
            <a:off x="5532120" y="532180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04</a:t>
            </a:r>
            <a:endParaRPr lang="en-US" sz="1400" dirty="0"/>
          </a:p>
        </p:txBody>
      </p:sp>
      <p:sp>
        <p:nvSpPr>
          <p:cNvPr id="27" name="Text 23"/>
          <p:cNvSpPr txBox="1"/>
          <p:nvPr/>
        </p:nvSpPr>
        <p:spPr>
          <a:xfrm>
            <a:off x="6217920" y="5157216"/>
            <a:ext cx="5303520" cy="365760"/>
          </a:xfrm>
          <a:prstGeom prst="rect">
            <a:avLst/>
          </a:prstGeom>
          <a:noFill/>
          <a:ln/>
        </p:spPr>
        <p:txBody>
          <a:bodyPr wrap="square" lIns="0" tIns="0" rIns="0" bIns="0" rtlCol="0" anchor="t"/>
          <a:lstStyle/>
          <a:p>
            <a:pPr indent="0" marL="0">
              <a:buNone/>
            </a:pPr>
            <a:r>
              <a:rPr lang="en-US" sz="2000" b="1" dirty="0">
                <a:solidFill>
                  <a:srgbClr val="1E3A8A"/>
                </a:solidFill>
                <a:latin typeface="Arial" pitchFamily="34" charset="0"/>
                <a:ea typeface="Arial" pitchFamily="34" charset="-122"/>
                <a:cs typeface="Arial" pitchFamily="34" charset="-120"/>
              </a:rPr>
              <a:t>Our Core Contribution</a:t>
            </a:r>
            <a:endParaRPr lang="en-US" sz="2000" dirty="0"/>
          </a:p>
        </p:txBody>
      </p:sp>
      <p:sp>
        <p:nvSpPr>
          <p:cNvPr id="28" name="Text 24"/>
          <p:cNvSpPr txBox="1"/>
          <p:nvPr/>
        </p:nvSpPr>
        <p:spPr>
          <a:xfrm>
            <a:off x="6217920" y="5522976"/>
            <a:ext cx="5303520" cy="502920"/>
          </a:xfrm>
          <a:prstGeom prst="rect">
            <a:avLst/>
          </a:prstGeom>
          <a:noFill/>
          <a:ln/>
        </p:spPr>
        <p:txBody>
          <a:bodyPr wrap="square" lIns="0" tIns="0" rIns="0" bIns="0" rtlCol="0" anchor="t"/>
          <a:lstStyle/>
          <a:p>
            <a:pPr indent="0" marL="0">
              <a:buNone/>
            </a:pPr>
            <a:r>
              <a:rPr lang="en-US" sz="1500" dirty="0">
                <a:solidFill>
                  <a:srgbClr val="475569"/>
                </a:solidFill>
                <a:latin typeface="Arial" pitchFamily="34" charset="0"/>
                <a:ea typeface="Arial" pitchFamily="34" charset="-122"/>
                <a:cs typeface="Arial" pitchFamily="34" charset="-120"/>
              </a:rPr>
              <a:t>Empowering everyday people with verified, trustworthy data insights</a:t>
            </a:r>
            <a:endParaRPr lang="en-US" sz="15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CONCLUSION</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The Future: Expanding Access Everywhere</a:t>
            </a:r>
            <a:endParaRPr lang="en-US" sz="3200" dirty="0"/>
          </a:p>
        </p:txBody>
      </p:sp>
      <p:sp>
        <p:nvSpPr>
          <p:cNvPr id="5" name="Text 2"/>
          <p:cNvSpPr txBox="1"/>
          <p:nvPr/>
        </p:nvSpPr>
        <p:spPr>
          <a:xfrm>
            <a:off x="1097280" y="1783080"/>
            <a:ext cx="5486400" cy="27432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EASY CLOUD CONNECTIVITY</a:t>
            </a:r>
            <a:endParaRPr lang="en-US" sz="1200" dirty="0"/>
          </a:p>
        </p:txBody>
      </p:sp>
      <p:sp>
        <p:nvSpPr>
          <p:cNvPr id="6" name="Text 3"/>
          <p:cNvSpPr txBox="1"/>
          <p:nvPr/>
        </p:nvSpPr>
        <p:spPr>
          <a:xfrm>
            <a:off x="1097280" y="2103120"/>
            <a:ext cx="5943600" cy="457200"/>
          </a:xfrm>
          <a:prstGeom prst="rect">
            <a:avLst/>
          </a:prstGeom>
          <a:noFill/>
          <a:ln/>
        </p:spPr>
        <p:txBody>
          <a:bodyPr wrap="square" lIns="0" tIns="0" rIns="0" bIns="0" rtlCol="0" anchor="t"/>
          <a:lstStyle/>
          <a:p>
            <a:pPr indent="0" marL="0">
              <a:buNone/>
            </a:pPr>
            <a:r>
              <a:rPr lang="en-US" sz="2400" b="1" dirty="0">
                <a:solidFill>
                  <a:srgbClr val="1E3A8A"/>
                </a:solidFill>
                <a:latin typeface="Arial" pitchFamily="34" charset="0"/>
                <a:ea typeface="Arial" pitchFamily="34" charset="-122"/>
                <a:cs typeface="Arial" pitchFamily="34" charset="-120"/>
              </a:rPr>
              <a:t>Direct 1-click connection to cloud warehouses and enterprise tools</a:t>
            </a:r>
            <a:endParaRPr lang="en-US" sz="2400" dirty="0"/>
          </a:p>
        </p:txBody>
      </p:sp>
      <p:sp>
        <p:nvSpPr>
          <p:cNvPr id="7" name="Shape 4"/>
          <p:cNvSpPr/>
          <p:nvPr/>
        </p:nvSpPr>
        <p:spPr>
          <a:xfrm>
            <a:off x="1097280" y="5852160"/>
            <a:ext cx="3514344" cy="0"/>
          </a:xfrm>
          <a:prstGeom prst="line">
            <a:avLst/>
          </a:prstGeom>
          <a:noFill/>
          <a:ln w="50800">
            <a:solidFill>
              <a:srgbClr val="1D4ED8"/>
            </a:solidFill>
            <a:prstDash val="solid"/>
          </a:ln>
        </p:spPr>
        <p:txBody>
          <a:bodyPr/>
          <a:p/>
        </p:txBody>
      </p:sp>
      <p:sp>
        <p:nvSpPr>
          <p:cNvPr id="8" name="Shape 5"/>
          <p:cNvSpPr/>
          <p:nvPr/>
        </p:nvSpPr>
        <p:spPr>
          <a:xfrm>
            <a:off x="4611624" y="4754880"/>
            <a:ext cx="0" cy="1097280"/>
          </a:xfrm>
          <a:prstGeom prst="line">
            <a:avLst/>
          </a:prstGeom>
          <a:noFill/>
          <a:ln w="50800">
            <a:solidFill>
              <a:srgbClr val="1D4ED8"/>
            </a:solidFill>
            <a:prstDash val="solid"/>
          </a:ln>
        </p:spPr>
        <p:txBody>
          <a:bodyPr/>
          <a:p/>
        </p:txBody>
      </p:sp>
      <p:sp>
        <p:nvSpPr>
          <p:cNvPr id="9" name="Text 6"/>
          <p:cNvSpPr txBox="1"/>
          <p:nvPr/>
        </p:nvSpPr>
        <p:spPr>
          <a:xfrm>
            <a:off x="1234440" y="4206240"/>
            <a:ext cx="3240024" cy="274320"/>
          </a:xfrm>
          <a:prstGeom prst="rect">
            <a:avLst/>
          </a:prstGeom>
          <a:noFill/>
          <a:ln/>
        </p:spPr>
        <p:txBody>
          <a:bodyPr wrap="square" lIns="0" tIns="0" rIns="0" bIns="0" rtlCol="0" anchor="t"/>
          <a:lstStyle/>
          <a:p>
            <a:pPr indent="0" marL="0">
              <a:buNone/>
            </a:pPr>
            <a:r>
              <a:rPr lang="en-US" sz="1200" b="1" spc="300" kern="0" dirty="0">
                <a:solidFill>
                  <a:srgbClr val="F97316"/>
                </a:solidFill>
                <a:latin typeface="Arial" pitchFamily="34" charset="0"/>
                <a:ea typeface="Arial" pitchFamily="34" charset="-122"/>
                <a:cs typeface="Arial" pitchFamily="34" charset="-120"/>
              </a:rPr>
              <a:t>PHASE 1</a:t>
            </a:r>
            <a:endParaRPr lang="en-US" sz="1200" dirty="0"/>
          </a:p>
        </p:txBody>
      </p:sp>
      <p:sp>
        <p:nvSpPr>
          <p:cNvPr id="10" name="Text 7"/>
          <p:cNvSpPr txBox="1"/>
          <p:nvPr/>
        </p:nvSpPr>
        <p:spPr>
          <a:xfrm>
            <a:off x="1234440" y="4526280"/>
            <a:ext cx="3240024" cy="45720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Live Data Feeds</a:t>
            </a:r>
            <a:endParaRPr lang="en-US" sz="2200" dirty="0"/>
          </a:p>
        </p:txBody>
      </p:sp>
      <p:sp>
        <p:nvSpPr>
          <p:cNvPr id="11" name="Text 8"/>
          <p:cNvSpPr txBox="1"/>
          <p:nvPr/>
        </p:nvSpPr>
        <p:spPr>
          <a:xfrm>
            <a:off x="1234440" y="5029200"/>
            <a:ext cx="3240024" cy="731520"/>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Instant alerts as new numbers flow in from live business operations</a:t>
            </a:r>
            <a:endParaRPr lang="en-US" sz="1600" dirty="0"/>
          </a:p>
        </p:txBody>
      </p:sp>
      <p:sp>
        <p:nvSpPr>
          <p:cNvPr id="12" name="Shape 9"/>
          <p:cNvSpPr/>
          <p:nvPr/>
        </p:nvSpPr>
        <p:spPr>
          <a:xfrm>
            <a:off x="4611624" y="4754880"/>
            <a:ext cx="3514344" cy="0"/>
          </a:xfrm>
          <a:prstGeom prst="line">
            <a:avLst/>
          </a:prstGeom>
          <a:noFill/>
          <a:ln w="50800">
            <a:solidFill>
              <a:srgbClr val="1D4ED8"/>
            </a:solidFill>
            <a:prstDash val="solid"/>
          </a:ln>
        </p:spPr>
        <p:txBody>
          <a:bodyPr/>
          <a:p/>
        </p:txBody>
      </p:sp>
      <p:sp>
        <p:nvSpPr>
          <p:cNvPr id="13" name="Shape 10"/>
          <p:cNvSpPr/>
          <p:nvPr/>
        </p:nvSpPr>
        <p:spPr>
          <a:xfrm>
            <a:off x="8125968" y="3657600"/>
            <a:ext cx="0" cy="1097280"/>
          </a:xfrm>
          <a:prstGeom prst="line">
            <a:avLst/>
          </a:prstGeom>
          <a:noFill/>
          <a:ln w="50800">
            <a:solidFill>
              <a:srgbClr val="1D4ED8"/>
            </a:solidFill>
            <a:prstDash val="solid"/>
          </a:ln>
        </p:spPr>
        <p:txBody>
          <a:bodyPr/>
          <a:p/>
        </p:txBody>
      </p:sp>
      <p:sp>
        <p:nvSpPr>
          <p:cNvPr id="14" name="Text 11"/>
          <p:cNvSpPr txBox="1"/>
          <p:nvPr/>
        </p:nvSpPr>
        <p:spPr>
          <a:xfrm>
            <a:off x="4748784" y="3108960"/>
            <a:ext cx="3240024" cy="274320"/>
          </a:xfrm>
          <a:prstGeom prst="rect">
            <a:avLst/>
          </a:prstGeom>
          <a:noFill/>
          <a:ln/>
        </p:spPr>
        <p:txBody>
          <a:bodyPr wrap="square" lIns="0" tIns="0" rIns="0" bIns="0" rtlCol="0" anchor="t"/>
          <a:lstStyle/>
          <a:p>
            <a:pPr indent="0" marL="0">
              <a:buNone/>
            </a:pPr>
            <a:r>
              <a:rPr lang="en-US" sz="1200" b="1" spc="300" kern="0" dirty="0">
                <a:solidFill>
                  <a:srgbClr val="F97316"/>
                </a:solidFill>
                <a:latin typeface="Arial" pitchFamily="34" charset="0"/>
                <a:ea typeface="Arial" pitchFamily="34" charset="-122"/>
                <a:cs typeface="Arial" pitchFamily="34" charset="-120"/>
              </a:rPr>
              <a:t>PHASE 2</a:t>
            </a:r>
            <a:endParaRPr lang="en-US" sz="1200" dirty="0"/>
          </a:p>
        </p:txBody>
      </p:sp>
      <p:sp>
        <p:nvSpPr>
          <p:cNvPr id="15" name="Text 12"/>
          <p:cNvSpPr txBox="1"/>
          <p:nvPr/>
        </p:nvSpPr>
        <p:spPr>
          <a:xfrm>
            <a:off x="4748784" y="3429000"/>
            <a:ext cx="3240024" cy="45720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Reading Scanned Paperwork</a:t>
            </a:r>
            <a:endParaRPr lang="en-US" sz="2200" dirty="0"/>
          </a:p>
        </p:txBody>
      </p:sp>
      <p:sp>
        <p:nvSpPr>
          <p:cNvPr id="16" name="Text 13"/>
          <p:cNvSpPr txBox="1"/>
          <p:nvPr/>
        </p:nvSpPr>
        <p:spPr>
          <a:xfrm>
            <a:off x="4748784" y="3931920"/>
            <a:ext cx="3240024" cy="731520"/>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Extracting tables and invoices automatically from scanned PDFs and receipts</a:t>
            </a:r>
            <a:endParaRPr lang="en-US" sz="1600" dirty="0"/>
          </a:p>
        </p:txBody>
      </p:sp>
      <p:sp>
        <p:nvSpPr>
          <p:cNvPr id="17" name="Shape 14"/>
          <p:cNvSpPr/>
          <p:nvPr/>
        </p:nvSpPr>
        <p:spPr>
          <a:xfrm>
            <a:off x="8125968" y="3657600"/>
            <a:ext cx="3514344" cy="0"/>
          </a:xfrm>
          <a:prstGeom prst="line">
            <a:avLst/>
          </a:prstGeom>
          <a:noFill/>
          <a:ln w="50800">
            <a:solidFill>
              <a:srgbClr val="1D4ED8"/>
            </a:solidFill>
            <a:prstDash val="solid"/>
          </a:ln>
        </p:spPr>
        <p:txBody>
          <a:bodyPr/>
          <a:p/>
        </p:txBody>
      </p:sp>
      <p:sp>
        <p:nvSpPr>
          <p:cNvPr id="18" name="Text 15"/>
          <p:cNvSpPr txBox="1"/>
          <p:nvPr/>
        </p:nvSpPr>
        <p:spPr>
          <a:xfrm>
            <a:off x="8263128" y="2011680"/>
            <a:ext cx="3240024" cy="274320"/>
          </a:xfrm>
          <a:prstGeom prst="rect">
            <a:avLst/>
          </a:prstGeom>
          <a:noFill/>
          <a:ln/>
        </p:spPr>
        <p:txBody>
          <a:bodyPr wrap="square" lIns="0" tIns="0" rIns="0" bIns="0" rtlCol="0" anchor="t"/>
          <a:lstStyle/>
          <a:p>
            <a:pPr indent="0" marL="0">
              <a:buNone/>
            </a:pPr>
            <a:r>
              <a:rPr lang="en-US" sz="1200" b="1" spc="300" kern="0" dirty="0">
                <a:solidFill>
                  <a:srgbClr val="F97316"/>
                </a:solidFill>
                <a:latin typeface="Arial" pitchFamily="34" charset="0"/>
                <a:ea typeface="Arial" pitchFamily="34" charset="-122"/>
                <a:cs typeface="Arial" pitchFamily="34" charset="-120"/>
              </a:rPr>
              <a:t>PHASE 3</a:t>
            </a:r>
            <a:endParaRPr lang="en-US" sz="1200" dirty="0"/>
          </a:p>
        </p:txBody>
      </p:sp>
      <p:sp>
        <p:nvSpPr>
          <p:cNvPr id="19" name="Text 16"/>
          <p:cNvSpPr txBox="1"/>
          <p:nvPr/>
        </p:nvSpPr>
        <p:spPr>
          <a:xfrm>
            <a:off x="8263128" y="2331720"/>
            <a:ext cx="3240024" cy="457200"/>
          </a:xfrm>
          <a:prstGeom prst="rect">
            <a:avLst/>
          </a:prstGeom>
          <a:noFill/>
          <a:ln/>
        </p:spPr>
        <p:txBody>
          <a:bodyPr wrap="square" lIns="0" tIns="0" rIns="0" bIns="0" rtlCol="0" anchor="t"/>
          <a:lstStyle/>
          <a:p>
            <a:pPr indent="0" marL="0">
              <a:buNone/>
            </a:pPr>
            <a:r>
              <a:rPr lang="en-US" sz="2200" b="1" dirty="0">
                <a:solidFill>
                  <a:srgbClr val="1E3A8A"/>
                </a:solidFill>
                <a:latin typeface="Arial" pitchFamily="34" charset="0"/>
                <a:ea typeface="Arial" pitchFamily="34" charset="-122"/>
                <a:cs typeface="Arial" pitchFamily="34" charset="-120"/>
              </a:rPr>
              <a:t>Massive Cloud Scale</a:t>
            </a:r>
            <a:endParaRPr lang="en-US" sz="2200" dirty="0"/>
          </a:p>
        </p:txBody>
      </p:sp>
      <p:sp>
        <p:nvSpPr>
          <p:cNvPr id="20" name="Text 17"/>
          <p:cNvSpPr txBox="1"/>
          <p:nvPr/>
        </p:nvSpPr>
        <p:spPr>
          <a:xfrm>
            <a:off x="8263128" y="2834640"/>
            <a:ext cx="3240024" cy="731520"/>
          </a:xfrm>
          <a:prstGeom prst="rect">
            <a:avLst/>
          </a:prstGeom>
          <a:noFill/>
          <a:ln/>
        </p:spPr>
        <p:txBody>
          <a:bodyPr wrap="square" lIns="0" tIns="0" rIns="0" bIns="0" rtlCol="0" anchor="t"/>
          <a:lstStyle/>
          <a:p>
            <a:pPr indent="0" marL="0">
              <a:buNone/>
            </a:pPr>
            <a:r>
              <a:rPr lang="en-US" sz="1600" dirty="0">
                <a:solidFill>
                  <a:srgbClr val="475569"/>
                </a:solidFill>
                <a:latin typeface="Arial" pitchFamily="34" charset="0"/>
                <a:ea typeface="Arial" pitchFamily="34" charset="-122"/>
                <a:cs typeface="Arial" pitchFamily="34" charset="-120"/>
              </a:rPr>
              <a:t>Instant speed on massive multi-terabyte datasets across cloud servers</a:t>
            </a:r>
            <a:endParaRPr lang="en-US" sz="1600" dirty="0"/>
          </a:p>
        </p:txBody>
      </p:sp>
      <p:sp>
        <p:nvSpPr>
          <p:cNvPr id="21" name="Shape 18"/>
          <p:cNvSpPr/>
          <p:nvPr/>
        </p:nvSpPr>
        <p:spPr>
          <a:xfrm>
            <a:off x="11484864" y="3502152"/>
            <a:ext cx="310896" cy="310896"/>
          </a:xfrm>
          <a:prstGeom prst="ellipse">
            <a:avLst/>
          </a:prstGeom>
          <a:solidFill>
            <a:srgbClr val="F97316"/>
          </a:solidFill>
          <a:ln w="12700">
            <a:solidFill>
              <a:srgbClr val="F97316"/>
            </a:solidFill>
            <a:prstDash val="solid"/>
          </a:ln>
        </p:spPr>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1097280" y="310896"/>
            <a:ext cx="7315200" cy="228600"/>
          </a:xfrm>
          <a:prstGeom prst="rect">
            <a:avLst/>
          </a:prstGeom>
          <a:noFill/>
          <a:ln/>
        </p:spPr>
        <p:txBody>
          <a:bodyPr wrap="square" lIns="0" tIns="0" rIns="0" bIns="0" rtlCol="0" anchor="t"/>
          <a:lstStyle/>
          <a:p>
            <a:pPr indent="0" marL="0">
              <a:buNone/>
            </a:pPr>
            <a:r>
              <a:rPr lang="en-US" sz="1200" b="1" spc="400" kern="0" dirty="0">
                <a:solidFill>
                  <a:srgbClr val="F97316"/>
                </a:solidFill>
                <a:latin typeface="Arial" pitchFamily="34" charset="0"/>
                <a:ea typeface="Arial" pitchFamily="34" charset="-122"/>
                <a:cs typeface="Arial" pitchFamily="34" charset="-120"/>
              </a:rPr>
              <a:t>Scientific and Engineering Foundations</a:t>
            </a:r>
            <a:endParaRPr lang="en-US" sz="1200" dirty="0"/>
          </a:p>
        </p:txBody>
      </p:sp>
      <p:sp>
        <p:nvSpPr>
          <p:cNvPr id="3" name="Text 8"/>
          <p:cNvSpPr/>
          <p:nvPr>
            <p:ph idx="110" type="title" hasCustomPrompt="1"/>
          </p:nvPr>
        </p:nvSpPr>
        <p:spPr>
          <a:xfrm>
            <a:off x="1097280" y="566928"/>
            <a:ext cx="9601200" cy="777240"/>
          </a:xfrm>
          <a:prstGeom prst="rect">
            <a:avLst/>
          </a:prstGeom>
          <a:noFill/>
          <a:ln/>
        </p:spPr>
        <p:txBody>
          <a:bodyPr wrap="square" lIns="0" tIns="0" rIns="0" bIns="0" rtlCol="0" anchor="ctr"/>
          <a:lstStyle/>
          <a:p>
            <a:pPr algn="l" indent="0" marL="0">
              <a:buNone/>
            </a:pPr>
            <a:r>
              <a:rPr lang="en-US" sz="3200" b="1" dirty="0">
                <a:solidFill>
                  <a:srgbClr val="1E3A8A"/>
                </a:solidFill>
                <a:latin typeface="Arial" pitchFamily="34" charset="0"/>
                <a:ea typeface="Arial" pitchFamily="34" charset="-122"/>
                <a:cs typeface="Arial" pitchFamily="34" charset="-120"/>
              </a:rPr>
              <a:t>References</a:t>
            </a:r>
            <a:endParaRPr lang="en-US" sz="3200" dirty="0"/>
          </a:p>
        </p:txBody>
      </p:sp>
      <p:sp>
        <p:nvSpPr>
          <p:cNvPr id="5" name="Shape 2"/>
          <p:cNvSpPr/>
          <p:nvPr/>
        </p:nvSpPr>
        <p:spPr>
          <a:xfrm>
            <a:off x="6355080" y="1691640"/>
            <a:ext cx="0" cy="4389120"/>
          </a:xfrm>
          <a:prstGeom prst="line">
            <a:avLst/>
          </a:prstGeom>
          <a:noFill/>
          <a:ln w="12700">
            <a:solidFill>
              <a:srgbClr val="D5DEEC"/>
            </a:solidFill>
            <a:prstDash val="solid"/>
          </a:ln>
        </p:spPr>
      </p:sp>
      <p:sp>
        <p:nvSpPr>
          <p:cNvPr id="6" name="Shape 3"/>
          <p:cNvSpPr/>
          <p:nvPr/>
        </p:nvSpPr>
        <p:spPr>
          <a:xfrm>
            <a:off x="1097280" y="1691640"/>
            <a:ext cx="5074920" cy="0"/>
          </a:xfrm>
          <a:prstGeom prst="line">
            <a:avLst/>
          </a:prstGeom>
          <a:noFill/>
          <a:ln w="9525">
            <a:solidFill>
              <a:srgbClr val="D5DEEC"/>
            </a:solidFill>
            <a:prstDash val="solid"/>
          </a:ln>
        </p:spPr>
      </p:sp>
      <p:sp>
        <p:nvSpPr>
          <p:cNvPr id="7" name="Text 4"/>
          <p:cNvSpPr txBox="1"/>
          <p:nvPr/>
        </p:nvSpPr>
        <p:spPr>
          <a:xfrm>
            <a:off x="1097280" y="1819656"/>
            <a:ext cx="548640" cy="365760"/>
          </a:xfrm>
          <a:prstGeom prst="rect">
            <a:avLst/>
          </a:prstGeom>
          <a:noFill/>
          <a:ln/>
        </p:spPr>
        <p:txBody>
          <a:bodyPr wrap="square" lIns="0" tIns="0" rIns="0" bIns="0" rtlCol="0" anchor="t"/>
          <a:lstStyle/>
          <a:p>
            <a:pPr indent="0" marL="0">
              <a:buNone/>
            </a:pPr>
            <a:r>
              <a:rPr lang="en-US" sz="1600" b="1" dirty="0">
                <a:solidFill>
                  <a:srgbClr val="F97316"/>
                </a:solidFill>
                <a:latin typeface="Arial" pitchFamily="34" charset="0"/>
                <a:ea typeface="Arial" pitchFamily="34" charset="-122"/>
                <a:cs typeface="Arial" pitchFamily="34" charset="-120"/>
              </a:rPr>
              <a:t>01</a:t>
            </a:r>
            <a:endParaRPr lang="en-US" sz="1600" dirty="0"/>
          </a:p>
        </p:txBody>
      </p:sp>
      <p:sp>
        <p:nvSpPr>
          <p:cNvPr id="8" name="Text 5"/>
          <p:cNvSpPr txBox="1"/>
          <p:nvPr/>
        </p:nvSpPr>
        <p:spPr>
          <a:xfrm>
            <a:off x="1737360" y="1783080"/>
            <a:ext cx="4434840" cy="320040"/>
          </a:xfrm>
          <a:prstGeom prst="rect">
            <a:avLst/>
          </a:prstGeom>
          <a:noFill/>
          <a:ln/>
        </p:spPr>
        <p:txBody>
          <a:bodyPr wrap="square" lIns="0" tIns="0" rIns="0" bIns="0" rtlCol="0" anchor="t"/>
          <a:lstStyle/>
          <a:p>
            <a:pPr indent="0" marL="0">
              <a:buNone/>
            </a:pPr>
            <a:r>
              <a:rPr lang="en-US" sz="1700" b="1" dirty="0">
                <a:solidFill>
                  <a:srgbClr val="1E3A8A"/>
                </a:solidFill>
                <a:latin typeface="Arial" pitchFamily="34" charset="0"/>
                <a:ea typeface="Arial" pitchFamily="34" charset="-122"/>
                <a:cs typeface="Arial" pitchFamily="34" charset="-120"/>
              </a:rPr>
              <a:t>Benjamini &amp; Hochberg (1995)</a:t>
            </a:r>
            <a:endParaRPr lang="en-US" sz="1700" dirty="0"/>
          </a:p>
        </p:txBody>
      </p:sp>
      <p:sp>
        <p:nvSpPr>
          <p:cNvPr id="9" name="Text 6"/>
          <p:cNvSpPr txBox="1"/>
          <p:nvPr/>
        </p:nvSpPr>
        <p:spPr>
          <a:xfrm>
            <a:off x="1737360" y="2121408"/>
            <a:ext cx="4434840" cy="640080"/>
          </a:xfrm>
          <a:prstGeom prst="rect">
            <a:avLst/>
          </a:prstGeom>
          <a:noFill/>
          <a:ln/>
        </p:spPr>
        <p:txBody>
          <a:bodyPr wrap="square" lIns="0" tIns="0" rIns="0" bIns="0" rtlCol="0" anchor="t"/>
          <a:lstStyle/>
          <a:p>
            <a:pPr indent="0" marL="0">
              <a:buNone/>
            </a:pPr>
            <a:r>
              <a:rPr lang="en-US" sz="1400" dirty="0">
                <a:solidFill>
                  <a:srgbClr val="475569"/>
                </a:solidFill>
                <a:latin typeface="Arial" pitchFamily="34" charset="0"/>
                <a:ea typeface="Arial" pitchFamily="34" charset="-122"/>
                <a:cs typeface="Arial" pitchFamily="34" charset="-120"/>
              </a:rPr>
              <a:t>Controlling the False Discovery Rate. J. Royal Statistical Society B, 57(1), 289–300.</a:t>
            </a:r>
            <a:endParaRPr lang="en-US" sz="1400" dirty="0"/>
          </a:p>
        </p:txBody>
      </p:sp>
      <p:sp>
        <p:nvSpPr>
          <p:cNvPr id="10" name="Shape 7"/>
          <p:cNvSpPr/>
          <p:nvPr/>
        </p:nvSpPr>
        <p:spPr>
          <a:xfrm>
            <a:off x="1097280" y="2788920"/>
            <a:ext cx="5074920" cy="0"/>
          </a:xfrm>
          <a:prstGeom prst="line">
            <a:avLst/>
          </a:prstGeom>
          <a:noFill/>
          <a:ln w="9525">
            <a:solidFill>
              <a:srgbClr val="D5DEEC"/>
            </a:solidFill>
            <a:prstDash val="solid"/>
          </a:ln>
        </p:spPr>
      </p:sp>
      <p:sp>
        <p:nvSpPr>
          <p:cNvPr id="11" name="Text 8"/>
          <p:cNvSpPr txBox="1"/>
          <p:nvPr/>
        </p:nvSpPr>
        <p:spPr>
          <a:xfrm>
            <a:off x="1097280" y="2916936"/>
            <a:ext cx="548640" cy="365760"/>
          </a:xfrm>
          <a:prstGeom prst="rect">
            <a:avLst/>
          </a:prstGeom>
          <a:noFill/>
          <a:ln/>
        </p:spPr>
        <p:txBody>
          <a:bodyPr wrap="square" lIns="0" tIns="0" rIns="0" bIns="0" rtlCol="0" anchor="t"/>
          <a:lstStyle/>
          <a:p>
            <a:pPr indent="0" marL="0">
              <a:buNone/>
            </a:pPr>
            <a:r>
              <a:rPr lang="en-US" sz="1600" b="1" dirty="0">
                <a:solidFill>
                  <a:srgbClr val="F97316"/>
                </a:solidFill>
                <a:latin typeface="Arial" pitchFamily="34" charset="0"/>
                <a:ea typeface="Arial" pitchFamily="34" charset="-122"/>
                <a:cs typeface="Arial" pitchFamily="34" charset="-120"/>
              </a:rPr>
              <a:t>02</a:t>
            </a:r>
            <a:endParaRPr lang="en-US" sz="1600" dirty="0"/>
          </a:p>
        </p:txBody>
      </p:sp>
      <p:sp>
        <p:nvSpPr>
          <p:cNvPr id="12" name="Text 9"/>
          <p:cNvSpPr txBox="1"/>
          <p:nvPr/>
        </p:nvSpPr>
        <p:spPr>
          <a:xfrm>
            <a:off x="1737360" y="2880360"/>
            <a:ext cx="4434840" cy="320040"/>
          </a:xfrm>
          <a:prstGeom prst="rect">
            <a:avLst/>
          </a:prstGeom>
          <a:noFill/>
          <a:ln/>
        </p:spPr>
        <p:txBody>
          <a:bodyPr wrap="square" lIns="0" tIns="0" rIns="0" bIns="0" rtlCol="0" anchor="t"/>
          <a:lstStyle/>
          <a:p>
            <a:pPr indent="0" marL="0">
              <a:buNone/>
            </a:pPr>
            <a:r>
              <a:rPr lang="en-US" sz="1700" b="1" dirty="0">
                <a:solidFill>
                  <a:srgbClr val="1E3A8A"/>
                </a:solidFill>
                <a:latin typeface="Arial" pitchFamily="34" charset="0"/>
                <a:ea typeface="Arial" pitchFamily="34" charset="-122"/>
                <a:cs typeface="Arial" pitchFamily="34" charset="-120"/>
              </a:rPr>
              <a:t>Tukey (1977)</a:t>
            </a:r>
            <a:endParaRPr lang="en-US" sz="1700" dirty="0"/>
          </a:p>
        </p:txBody>
      </p:sp>
      <p:sp>
        <p:nvSpPr>
          <p:cNvPr id="13" name="Text 10"/>
          <p:cNvSpPr txBox="1"/>
          <p:nvPr/>
        </p:nvSpPr>
        <p:spPr>
          <a:xfrm>
            <a:off x="1737360" y="3218688"/>
            <a:ext cx="4434840" cy="640080"/>
          </a:xfrm>
          <a:prstGeom prst="rect">
            <a:avLst/>
          </a:prstGeom>
          <a:noFill/>
          <a:ln/>
        </p:spPr>
        <p:txBody>
          <a:bodyPr wrap="square" lIns="0" tIns="0" rIns="0" bIns="0" rtlCol="0" anchor="t"/>
          <a:lstStyle/>
          <a:p>
            <a:pPr indent="0" marL="0">
              <a:buNone/>
            </a:pPr>
            <a:r>
              <a:rPr lang="en-US" sz="1400" dirty="0">
                <a:solidFill>
                  <a:srgbClr val="475569"/>
                </a:solidFill>
                <a:latin typeface="Arial" pitchFamily="34" charset="0"/>
                <a:ea typeface="Arial" pitchFamily="34" charset="-122"/>
                <a:cs typeface="Arial" pitchFamily="34" charset="-120"/>
              </a:rPr>
              <a:t>Exploratory Data Analysis. Addison-Wesley.</a:t>
            </a:r>
            <a:endParaRPr lang="en-US" sz="1400" dirty="0"/>
          </a:p>
        </p:txBody>
      </p:sp>
      <p:sp>
        <p:nvSpPr>
          <p:cNvPr id="14" name="Shape 11"/>
          <p:cNvSpPr/>
          <p:nvPr/>
        </p:nvSpPr>
        <p:spPr>
          <a:xfrm>
            <a:off x="1097280" y="3886200"/>
            <a:ext cx="5074920" cy="0"/>
          </a:xfrm>
          <a:prstGeom prst="line">
            <a:avLst/>
          </a:prstGeom>
          <a:noFill/>
          <a:ln w="9525">
            <a:solidFill>
              <a:srgbClr val="D5DEEC"/>
            </a:solidFill>
            <a:prstDash val="solid"/>
          </a:ln>
        </p:spPr>
      </p:sp>
      <p:sp>
        <p:nvSpPr>
          <p:cNvPr id="15" name="Text 12"/>
          <p:cNvSpPr txBox="1"/>
          <p:nvPr/>
        </p:nvSpPr>
        <p:spPr>
          <a:xfrm>
            <a:off x="1097280" y="4014216"/>
            <a:ext cx="548640" cy="365760"/>
          </a:xfrm>
          <a:prstGeom prst="rect">
            <a:avLst/>
          </a:prstGeom>
          <a:noFill/>
          <a:ln/>
        </p:spPr>
        <p:txBody>
          <a:bodyPr wrap="square" lIns="0" tIns="0" rIns="0" bIns="0" rtlCol="0" anchor="t"/>
          <a:lstStyle/>
          <a:p>
            <a:pPr indent="0" marL="0">
              <a:buNone/>
            </a:pPr>
            <a:r>
              <a:rPr lang="en-US" sz="1600" b="1" dirty="0">
                <a:solidFill>
                  <a:srgbClr val="F97316"/>
                </a:solidFill>
                <a:latin typeface="Arial" pitchFamily="34" charset="0"/>
                <a:ea typeface="Arial" pitchFamily="34" charset="-122"/>
                <a:cs typeface="Arial" pitchFamily="34" charset="-120"/>
              </a:rPr>
              <a:t>03</a:t>
            </a:r>
            <a:endParaRPr lang="en-US" sz="1600" dirty="0"/>
          </a:p>
        </p:txBody>
      </p:sp>
      <p:sp>
        <p:nvSpPr>
          <p:cNvPr id="16" name="Text 13"/>
          <p:cNvSpPr txBox="1"/>
          <p:nvPr/>
        </p:nvSpPr>
        <p:spPr>
          <a:xfrm>
            <a:off x="1737360" y="3977640"/>
            <a:ext cx="4434840" cy="320040"/>
          </a:xfrm>
          <a:prstGeom prst="rect">
            <a:avLst/>
          </a:prstGeom>
          <a:noFill/>
          <a:ln/>
        </p:spPr>
        <p:txBody>
          <a:bodyPr wrap="square" lIns="0" tIns="0" rIns="0" bIns="0" rtlCol="0" anchor="t"/>
          <a:lstStyle/>
          <a:p>
            <a:pPr indent="0" marL="0">
              <a:buNone/>
            </a:pPr>
            <a:r>
              <a:rPr lang="en-US" sz="1700" b="1" dirty="0">
                <a:solidFill>
                  <a:srgbClr val="1E3A8A"/>
                </a:solidFill>
                <a:latin typeface="Arial" pitchFamily="34" charset="0"/>
                <a:ea typeface="Arial" pitchFamily="34" charset="-122"/>
                <a:cs typeface="Arial" pitchFamily="34" charset="-120"/>
              </a:rPr>
              <a:t>Wang, Wu et al. (2021)</a:t>
            </a:r>
            <a:endParaRPr lang="en-US" sz="1700" dirty="0"/>
          </a:p>
        </p:txBody>
      </p:sp>
      <p:sp>
        <p:nvSpPr>
          <p:cNvPr id="17" name="Text 14"/>
          <p:cNvSpPr txBox="1"/>
          <p:nvPr/>
        </p:nvSpPr>
        <p:spPr>
          <a:xfrm>
            <a:off x="1737360" y="4315968"/>
            <a:ext cx="4434840" cy="640080"/>
          </a:xfrm>
          <a:prstGeom prst="rect">
            <a:avLst/>
          </a:prstGeom>
          <a:noFill/>
          <a:ln/>
        </p:spPr>
        <p:txBody>
          <a:bodyPr wrap="square" lIns="0" tIns="0" rIns="0" bIns="0" rtlCol="0" anchor="t"/>
          <a:lstStyle/>
          <a:p>
            <a:pPr indent="0" marL="0">
              <a:buNone/>
            </a:pPr>
            <a:r>
              <a:rPr lang="en-US" sz="1400" dirty="0">
                <a:solidFill>
                  <a:srgbClr val="475569"/>
                </a:solidFill>
                <a:latin typeface="Arial" pitchFamily="34" charset="0"/>
                <a:ea typeface="Arial" pitchFamily="34" charset="-122"/>
                <a:cs typeface="Arial" pitchFamily="34" charset="-120"/>
              </a:rPr>
              <a:t>FLAML: A Fast and Lightweight AutoML Library. MLSys 2021.</a:t>
            </a:r>
            <a:endParaRPr lang="en-US" sz="1400" dirty="0"/>
          </a:p>
        </p:txBody>
      </p:sp>
      <p:sp>
        <p:nvSpPr>
          <p:cNvPr id="18" name="Shape 15"/>
          <p:cNvSpPr/>
          <p:nvPr/>
        </p:nvSpPr>
        <p:spPr>
          <a:xfrm>
            <a:off x="1097280" y="4983480"/>
            <a:ext cx="5074920" cy="0"/>
          </a:xfrm>
          <a:prstGeom prst="line">
            <a:avLst/>
          </a:prstGeom>
          <a:noFill/>
          <a:ln w="9525">
            <a:solidFill>
              <a:srgbClr val="D5DEEC"/>
            </a:solidFill>
            <a:prstDash val="solid"/>
          </a:ln>
        </p:spPr>
      </p:sp>
      <p:sp>
        <p:nvSpPr>
          <p:cNvPr id="19" name="Text 16"/>
          <p:cNvSpPr txBox="1"/>
          <p:nvPr/>
        </p:nvSpPr>
        <p:spPr>
          <a:xfrm>
            <a:off x="1097280" y="5111496"/>
            <a:ext cx="548640" cy="365760"/>
          </a:xfrm>
          <a:prstGeom prst="rect">
            <a:avLst/>
          </a:prstGeom>
          <a:noFill/>
          <a:ln/>
        </p:spPr>
        <p:txBody>
          <a:bodyPr wrap="square" lIns="0" tIns="0" rIns="0" bIns="0" rtlCol="0" anchor="t"/>
          <a:lstStyle/>
          <a:p>
            <a:pPr indent="0" marL="0">
              <a:buNone/>
            </a:pPr>
            <a:r>
              <a:rPr lang="en-US" sz="1600" b="1" dirty="0">
                <a:solidFill>
                  <a:srgbClr val="F97316"/>
                </a:solidFill>
                <a:latin typeface="Arial" pitchFamily="34" charset="0"/>
                <a:ea typeface="Arial" pitchFamily="34" charset="-122"/>
                <a:cs typeface="Arial" pitchFamily="34" charset="-120"/>
              </a:rPr>
              <a:t>04</a:t>
            </a:r>
            <a:endParaRPr lang="en-US" sz="1600" dirty="0"/>
          </a:p>
        </p:txBody>
      </p:sp>
      <p:sp>
        <p:nvSpPr>
          <p:cNvPr id="20" name="Text 17"/>
          <p:cNvSpPr txBox="1"/>
          <p:nvPr/>
        </p:nvSpPr>
        <p:spPr>
          <a:xfrm>
            <a:off x="1737360" y="5074920"/>
            <a:ext cx="4434840" cy="320040"/>
          </a:xfrm>
          <a:prstGeom prst="rect">
            <a:avLst/>
          </a:prstGeom>
          <a:noFill/>
          <a:ln/>
        </p:spPr>
        <p:txBody>
          <a:bodyPr wrap="square" lIns="0" tIns="0" rIns="0" bIns="0" rtlCol="0" anchor="t"/>
          <a:lstStyle/>
          <a:p>
            <a:pPr indent="0" marL="0">
              <a:buNone/>
            </a:pPr>
            <a:r>
              <a:rPr lang="en-US" sz="1700" b="1" dirty="0">
                <a:solidFill>
                  <a:srgbClr val="1E3A8A"/>
                </a:solidFill>
                <a:latin typeface="Arial" pitchFamily="34" charset="0"/>
                <a:ea typeface="Arial" pitchFamily="34" charset="-122"/>
                <a:cs typeface="Arial" pitchFamily="34" charset="-120"/>
              </a:rPr>
              <a:t>Lundberg &amp; Lee (2017)</a:t>
            </a:r>
            <a:endParaRPr lang="en-US" sz="1700" dirty="0"/>
          </a:p>
        </p:txBody>
      </p:sp>
      <p:sp>
        <p:nvSpPr>
          <p:cNvPr id="21" name="Text 18"/>
          <p:cNvSpPr txBox="1"/>
          <p:nvPr/>
        </p:nvSpPr>
        <p:spPr>
          <a:xfrm>
            <a:off x="1737360" y="5413248"/>
            <a:ext cx="4434840" cy="640080"/>
          </a:xfrm>
          <a:prstGeom prst="rect">
            <a:avLst/>
          </a:prstGeom>
          <a:noFill/>
          <a:ln/>
        </p:spPr>
        <p:txBody>
          <a:bodyPr wrap="square" lIns="0" tIns="0" rIns="0" bIns="0" rtlCol="0" anchor="t"/>
          <a:lstStyle/>
          <a:p>
            <a:pPr indent="0" marL="0">
              <a:buNone/>
            </a:pPr>
            <a:r>
              <a:rPr lang="en-US" sz="1400" dirty="0">
                <a:solidFill>
                  <a:srgbClr val="475569"/>
                </a:solidFill>
                <a:latin typeface="Arial" pitchFamily="34" charset="0"/>
                <a:ea typeface="Arial" pitchFamily="34" charset="-122"/>
                <a:cs typeface="Arial" pitchFamily="34" charset="-120"/>
              </a:rPr>
              <a:t>A Unified Approach to Interpreting Model Predictions. NeurIPS 2017.</a:t>
            </a:r>
            <a:endParaRPr lang="en-US" sz="1400" dirty="0"/>
          </a:p>
        </p:txBody>
      </p:sp>
      <p:sp>
        <p:nvSpPr>
          <p:cNvPr id="22" name="Shape 19"/>
          <p:cNvSpPr/>
          <p:nvPr/>
        </p:nvSpPr>
        <p:spPr>
          <a:xfrm>
            <a:off x="6583680" y="1691640"/>
            <a:ext cx="5074920" cy="0"/>
          </a:xfrm>
          <a:prstGeom prst="line">
            <a:avLst/>
          </a:prstGeom>
          <a:noFill/>
          <a:ln w="9525">
            <a:solidFill>
              <a:srgbClr val="D5DEEC"/>
            </a:solidFill>
            <a:prstDash val="solid"/>
          </a:ln>
        </p:spPr>
      </p:sp>
      <p:sp>
        <p:nvSpPr>
          <p:cNvPr id="23" name="Text 20"/>
          <p:cNvSpPr txBox="1"/>
          <p:nvPr/>
        </p:nvSpPr>
        <p:spPr>
          <a:xfrm>
            <a:off x="6583680" y="1819656"/>
            <a:ext cx="548640" cy="365760"/>
          </a:xfrm>
          <a:prstGeom prst="rect">
            <a:avLst/>
          </a:prstGeom>
          <a:noFill/>
          <a:ln/>
        </p:spPr>
        <p:txBody>
          <a:bodyPr wrap="square" lIns="0" tIns="0" rIns="0" bIns="0" rtlCol="0" anchor="t"/>
          <a:lstStyle/>
          <a:p>
            <a:pPr indent="0" marL="0">
              <a:buNone/>
            </a:pPr>
            <a:r>
              <a:rPr lang="en-US" sz="1600" b="1" dirty="0">
                <a:solidFill>
                  <a:srgbClr val="F97316"/>
                </a:solidFill>
                <a:latin typeface="Arial" pitchFamily="34" charset="0"/>
                <a:ea typeface="Arial" pitchFamily="34" charset="-122"/>
                <a:cs typeface="Arial" pitchFamily="34" charset="-120"/>
              </a:rPr>
              <a:t>05</a:t>
            </a:r>
            <a:endParaRPr lang="en-US" sz="1600" dirty="0"/>
          </a:p>
        </p:txBody>
      </p:sp>
      <p:sp>
        <p:nvSpPr>
          <p:cNvPr id="24" name="Text 21"/>
          <p:cNvSpPr txBox="1"/>
          <p:nvPr/>
        </p:nvSpPr>
        <p:spPr>
          <a:xfrm>
            <a:off x="7223760" y="1783080"/>
            <a:ext cx="4434840" cy="320040"/>
          </a:xfrm>
          <a:prstGeom prst="rect">
            <a:avLst/>
          </a:prstGeom>
          <a:noFill/>
          <a:ln/>
        </p:spPr>
        <p:txBody>
          <a:bodyPr wrap="square" lIns="0" tIns="0" rIns="0" bIns="0" rtlCol="0" anchor="t"/>
          <a:lstStyle/>
          <a:p>
            <a:pPr indent="0" marL="0">
              <a:buNone/>
            </a:pPr>
            <a:r>
              <a:rPr lang="en-US" sz="1700" b="1" dirty="0">
                <a:solidFill>
                  <a:srgbClr val="1E3A8A"/>
                </a:solidFill>
                <a:latin typeface="Arial" pitchFamily="34" charset="0"/>
                <a:ea typeface="Arial" pitchFamily="34" charset="-122"/>
                <a:cs typeface="Arial" pitchFamily="34" charset="-120"/>
              </a:rPr>
              <a:t>Panko (2008)</a:t>
            </a:r>
            <a:endParaRPr lang="en-US" sz="1700" dirty="0"/>
          </a:p>
        </p:txBody>
      </p:sp>
      <p:sp>
        <p:nvSpPr>
          <p:cNvPr id="25" name="Text 22"/>
          <p:cNvSpPr txBox="1"/>
          <p:nvPr/>
        </p:nvSpPr>
        <p:spPr>
          <a:xfrm>
            <a:off x="7223760" y="2121408"/>
            <a:ext cx="4434840" cy="640080"/>
          </a:xfrm>
          <a:prstGeom prst="rect">
            <a:avLst/>
          </a:prstGeom>
          <a:noFill/>
          <a:ln/>
        </p:spPr>
        <p:txBody>
          <a:bodyPr wrap="square" lIns="0" tIns="0" rIns="0" bIns="0" rtlCol="0" anchor="t"/>
          <a:lstStyle/>
          <a:p>
            <a:pPr indent="0" marL="0">
              <a:buNone/>
            </a:pPr>
            <a:r>
              <a:rPr lang="en-US" sz="1400" dirty="0">
                <a:solidFill>
                  <a:srgbClr val="475569"/>
                </a:solidFill>
                <a:latin typeface="Arial" pitchFamily="34" charset="0"/>
                <a:ea typeface="Arial" pitchFamily="34" charset="-122"/>
                <a:cs typeface="Arial" pitchFamily="34" charset="-120"/>
              </a:rPr>
              <a:t>What We Know About Spreadsheet Errors. J. End User Computing, 10(2), 15–21.</a:t>
            </a:r>
            <a:endParaRPr lang="en-US" sz="1400" dirty="0"/>
          </a:p>
        </p:txBody>
      </p:sp>
      <p:sp>
        <p:nvSpPr>
          <p:cNvPr id="26" name="Shape 23"/>
          <p:cNvSpPr/>
          <p:nvPr/>
        </p:nvSpPr>
        <p:spPr>
          <a:xfrm>
            <a:off x="6583680" y="2788920"/>
            <a:ext cx="5074920" cy="0"/>
          </a:xfrm>
          <a:prstGeom prst="line">
            <a:avLst/>
          </a:prstGeom>
          <a:noFill/>
          <a:ln w="9525">
            <a:solidFill>
              <a:srgbClr val="D5DEEC"/>
            </a:solidFill>
            <a:prstDash val="solid"/>
          </a:ln>
        </p:spPr>
      </p:sp>
      <p:sp>
        <p:nvSpPr>
          <p:cNvPr id="27" name="Text 24"/>
          <p:cNvSpPr txBox="1"/>
          <p:nvPr/>
        </p:nvSpPr>
        <p:spPr>
          <a:xfrm>
            <a:off x="6583680" y="2916936"/>
            <a:ext cx="548640" cy="365760"/>
          </a:xfrm>
          <a:prstGeom prst="rect">
            <a:avLst/>
          </a:prstGeom>
          <a:noFill/>
          <a:ln/>
        </p:spPr>
        <p:txBody>
          <a:bodyPr wrap="square" lIns="0" tIns="0" rIns="0" bIns="0" rtlCol="0" anchor="t"/>
          <a:lstStyle/>
          <a:p>
            <a:pPr indent="0" marL="0">
              <a:buNone/>
            </a:pPr>
            <a:r>
              <a:rPr lang="en-US" sz="1600" b="1" dirty="0">
                <a:solidFill>
                  <a:srgbClr val="F97316"/>
                </a:solidFill>
                <a:latin typeface="Arial" pitchFamily="34" charset="0"/>
                <a:ea typeface="Arial" pitchFamily="34" charset="-122"/>
                <a:cs typeface="Arial" pitchFamily="34" charset="-120"/>
              </a:rPr>
              <a:t>06</a:t>
            </a:r>
            <a:endParaRPr lang="en-US" sz="1600" dirty="0"/>
          </a:p>
        </p:txBody>
      </p:sp>
      <p:sp>
        <p:nvSpPr>
          <p:cNvPr id="28" name="Text 25"/>
          <p:cNvSpPr txBox="1"/>
          <p:nvPr/>
        </p:nvSpPr>
        <p:spPr>
          <a:xfrm>
            <a:off x="7223760" y="2880360"/>
            <a:ext cx="4434840" cy="320040"/>
          </a:xfrm>
          <a:prstGeom prst="rect">
            <a:avLst/>
          </a:prstGeom>
          <a:noFill/>
          <a:ln/>
        </p:spPr>
        <p:txBody>
          <a:bodyPr wrap="square" lIns="0" tIns="0" rIns="0" bIns="0" rtlCol="0" anchor="t"/>
          <a:lstStyle/>
          <a:p>
            <a:pPr indent="0" marL="0">
              <a:buNone/>
            </a:pPr>
            <a:r>
              <a:rPr lang="en-US" sz="1700" b="1" dirty="0">
                <a:solidFill>
                  <a:srgbClr val="1E3A8A"/>
                </a:solidFill>
                <a:latin typeface="Arial" pitchFamily="34" charset="0"/>
                <a:ea typeface="Arial" pitchFamily="34" charset="-122"/>
                <a:cs typeface="Arial" pitchFamily="34" charset="-120"/>
              </a:rPr>
              <a:t>ISO/IEC/IEEE 42010:2011</a:t>
            </a:r>
            <a:endParaRPr lang="en-US" sz="1700" dirty="0"/>
          </a:p>
        </p:txBody>
      </p:sp>
      <p:sp>
        <p:nvSpPr>
          <p:cNvPr id="29" name="Text 26"/>
          <p:cNvSpPr txBox="1"/>
          <p:nvPr/>
        </p:nvSpPr>
        <p:spPr>
          <a:xfrm>
            <a:off x="7223760" y="3218688"/>
            <a:ext cx="4434840" cy="640080"/>
          </a:xfrm>
          <a:prstGeom prst="rect">
            <a:avLst/>
          </a:prstGeom>
          <a:noFill/>
          <a:ln/>
        </p:spPr>
        <p:txBody>
          <a:bodyPr wrap="square" lIns="0" tIns="0" rIns="0" bIns="0" rtlCol="0" anchor="t"/>
          <a:lstStyle/>
          <a:p>
            <a:pPr indent="0" marL="0">
              <a:buNone/>
            </a:pPr>
            <a:r>
              <a:rPr lang="en-US" sz="1400" dirty="0">
                <a:solidFill>
                  <a:srgbClr val="475569"/>
                </a:solidFill>
                <a:latin typeface="Arial" pitchFamily="34" charset="0"/>
                <a:ea typeface="Arial" pitchFamily="34" charset="-122"/>
                <a:cs typeface="Arial" pitchFamily="34" charset="-120"/>
              </a:rPr>
              <a:t>Systems and software engineering: Architecture description.</a:t>
            </a:r>
            <a:endParaRPr lang="en-US" sz="1400" dirty="0"/>
          </a:p>
        </p:txBody>
      </p:sp>
      <p:sp>
        <p:nvSpPr>
          <p:cNvPr id="30" name="Shape 27"/>
          <p:cNvSpPr/>
          <p:nvPr/>
        </p:nvSpPr>
        <p:spPr>
          <a:xfrm>
            <a:off x="6583680" y="3886200"/>
            <a:ext cx="5074920" cy="0"/>
          </a:xfrm>
          <a:prstGeom prst="line">
            <a:avLst/>
          </a:prstGeom>
          <a:noFill/>
          <a:ln w="9525">
            <a:solidFill>
              <a:srgbClr val="D5DEEC"/>
            </a:solidFill>
            <a:prstDash val="solid"/>
          </a:ln>
        </p:spPr>
      </p:sp>
      <p:sp>
        <p:nvSpPr>
          <p:cNvPr id="31" name="Text 28"/>
          <p:cNvSpPr txBox="1"/>
          <p:nvPr/>
        </p:nvSpPr>
        <p:spPr>
          <a:xfrm>
            <a:off x="6583680" y="4014216"/>
            <a:ext cx="548640" cy="365760"/>
          </a:xfrm>
          <a:prstGeom prst="rect">
            <a:avLst/>
          </a:prstGeom>
          <a:noFill/>
          <a:ln/>
        </p:spPr>
        <p:txBody>
          <a:bodyPr wrap="square" lIns="0" tIns="0" rIns="0" bIns="0" rtlCol="0" anchor="t"/>
          <a:lstStyle/>
          <a:p>
            <a:pPr indent="0" marL="0">
              <a:buNone/>
            </a:pPr>
            <a:r>
              <a:rPr lang="en-US" sz="1600" b="1" dirty="0">
                <a:solidFill>
                  <a:srgbClr val="F97316"/>
                </a:solidFill>
                <a:latin typeface="Arial" pitchFamily="34" charset="0"/>
                <a:ea typeface="Arial" pitchFamily="34" charset="-122"/>
                <a:cs typeface="Arial" pitchFamily="34" charset="-120"/>
              </a:rPr>
              <a:t>07</a:t>
            </a:r>
            <a:endParaRPr lang="en-US" sz="1600" dirty="0"/>
          </a:p>
        </p:txBody>
      </p:sp>
      <p:sp>
        <p:nvSpPr>
          <p:cNvPr id="32" name="Text 29"/>
          <p:cNvSpPr txBox="1"/>
          <p:nvPr/>
        </p:nvSpPr>
        <p:spPr>
          <a:xfrm>
            <a:off x="7223760" y="3977640"/>
            <a:ext cx="4434840" cy="320040"/>
          </a:xfrm>
          <a:prstGeom prst="rect">
            <a:avLst/>
          </a:prstGeom>
          <a:noFill/>
          <a:ln/>
        </p:spPr>
        <p:txBody>
          <a:bodyPr wrap="square" lIns="0" tIns="0" rIns="0" bIns="0" rtlCol="0" anchor="t"/>
          <a:lstStyle/>
          <a:p>
            <a:pPr indent="0" marL="0">
              <a:buNone/>
            </a:pPr>
            <a:r>
              <a:rPr lang="en-US" sz="1700" b="1" dirty="0">
                <a:solidFill>
                  <a:srgbClr val="1E3A8A"/>
                </a:solidFill>
                <a:latin typeface="Arial" pitchFamily="34" charset="0"/>
                <a:ea typeface="Arial" pitchFamily="34" charset="-122"/>
                <a:cs typeface="Arial" pitchFamily="34" charset="-120"/>
              </a:rPr>
              <a:t>Raasveldt &amp; Mühleisen (2019)</a:t>
            </a:r>
            <a:endParaRPr lang="en-US" sz="1700" dirty="0"/>
          </a:p>
        </p:txBody>
      </p:sp>
      <p:sp>
        <p:nvSpPr>
          <p:cNvPr id="33" name="Text 30"/>
          <p:cNvSpPr txBox="1"/>
          <p:nvPr/>
        </p:nvSpPr>
        <p:spPr>
          <a:xfrm>
            <a:off x="7223760" y="4315968"/>
            <a:ext cx="4434840" cy="640080"/>
          </a:xfrm>
          <a:prstGeom prst="rect">
            <a:avLst/>
          </a:prstGeom>
          <a:noFill/>
          <a:ln/>
        </p:spPr>
        <p:txBody>
          <a:bodyPr wrap="square" lIns="0" tIns="0" rIns="0" bIns="0" rtlCol="0" anchor="t"/>
          <a:lstStyle/>
          <a:p>
            <a:pPr indent="0" marL="0">
              <a:buNone/>
            </a:pPr>
            <a:r>
              <a:rPr lang="en-US" sz="1400" dirty="0">
                <a:solidFill>
                  <a:srgbClr val="475569"/>
                </a:solidFill>
                <a:latin typeface="Arial" pitchFamily="34" charset="0"/>
                <a:ea typeface="Arial" pitchFamily="34" charset="-122"/>
                <a:cs typeface="Arial" pitchFamily="34" charset="-120"/>
              </a:rPr>
              <a:t>DuckDB: An Embeddable Analytical Database. ACM SIGMOD.</a:t>
            </a:r>
            <a:endParaRPr lang="en-US" sz="1400" dirty="0"/>
          </a:p>
        </p:txBody>
      </p:sp>
      <p:sp>
        <p:nvSpPr>
          <p:cNvPr id="34" name="Shape 31"/>
          <p:cNvSpPr/>
          <p:nvPr/>
        </p:nvSpPr>
        <p:spPr>
          <a:xfrm>
            <a:off x="6583680" y="4983480"/>
            <a:ext cx="5074920" cy="0"/>
          </a:xfrm>
          <a:prstGeom prst="line">
            <a:avLst/>
          </a:prstGeom>
          <a:noFill/>
          <a:ln w="9525">
            <a:solidFill>
              <a:srgbClr val="D5DEEC"/>
            </a:solidFill>
            <a:prstDash val="solid"/>
          </a:ln>
        </p:spPr>
      </p:sp>
      <p:sp>
        <p:nvSpPr>
          <p:cNvPr id="35" name="Text 32"/>
          <p:cNvSpPr txBox="1"/>
          <p:nvPr/>
        </p:nvSpPr>
        <p:spPr>
          <a:xfrm>
            <a:off x="6583680" y="5111496"/>
            <a:ext cx="548640" cy="365760"/>
          </a:xfrm>
          <a:prstGeom prst="rect">
            <a:avLst/>
          </a:prstGeom>
          <a:noFill/>
          <a:ln/>
        </p:spPr>
        <p:txBody>
          <a:bodyPr wrap="square" lIns="0" tIns="0" rIns="0" bIns="0" rtlCol="0" anchor="t"/>
          <a:lstStyle/>
          <a:p>
            <a:pPr indent="0" marL="0">
              <a:buNone/>
            </a:pPr>
            <a:r>
              <a:rPr lang="en-US" sz="1600" b="1" dirty="0">
                <a:solidFill>
                  <a:srgbClr val="F97316"/>
                </a:solidFill>
                <a:latin typeface="Arial" pitchFamily="34" charset="0"/>
                <a:ea typeface="Arial" pitchFamily="34" charset="-122"/>
                <a:cs typeface="Arial" pitchFamily="34" charset="-120"/>
              </a:rPr>
              <a:t>08</a:t>
            </a:r>
            <a:endParaRPr lang="en-US" sz="1600" dirty="0"/>
          </a:p>
        </p:txBody>
      </p:sp>
      <p:sp>
        <p:nvSpPr>
          <p:cNvPr id="36" name="Text 33"/>
          <p:cNvSpPr txBox="1"/>
          <p:nvPr/>
        </p:nvSpPr>
        <p:spPr>
          <a:xfrm>
            <a:off x="7223760" y="5074920"/>
            <a:ext cx="4434840" cy="320040"/>
          </a:xfrm>
          <a:prstGeom prst="rect">
            <a:avLst/>
          </a:prstGeom>
          <a:noFill/>
          <a:ln/>
        </p:spPr>
        <p:txBody>
          <a:bodyPr wrap="square" lIns="0" tIns="0" rIns="0" bIns="0" rtlCol="0" anchor="t"/>
          <a:lstStyle/>
          <a:p>
            <a:pPr indent="0" marL="0">
              <a:buNone/>
            </a:pPr>
            <a:r>
              <a:rPr lang="en-US" sz="1700" b="1" dirty="0">
                <a:solidFill>
                  <a:srgbClr val="1E3A8A"/>
                </a:solidFill>
                <a:latin typeface="Arial" pitchFamily="34" charset="0"/>
                <a:ea typeface="Arial" pitchFamily="34" charset="-122"/>
                <a:cs typeface="Arial" pitchFamily="34" charset="-120"/>
              </a:rPr>
              <a:t>Frameworks</a:t>
            </a:r>
            <a:endParaRPr lang="en-US" sz="1700" dirty="0"/>
          </a:p>
        </p:txBody>
      </p:sp>
      <p:sp>
        <p:nvSpPr>
          <p:cNvPr id="37" name="Text 34"/>
          <p:cNvSpPr txBox="1"/>
          <p:nvPr/>
        </p:nvSpPr>
        <p:spPr>
          <a:xfrm>
            <a:off x="7223760" y="5413248"/>
            <a:ext cx="4434840" cy="640080"/>
          </a:xfrm>
          <a:prstGeom prst="rect">
            <a:avLst/>
          </a:prstGeom>
          <a:noFill/>
          <a:ln/>
        </p:spPr>
        <p:txBody>
          <a:bodyPr wrap="square" lIns="0" tIns="0" rIns="0" bIns="0" rtlCol="0" anchor="t"/>
          <a:lstStyle/>
          <a:p>
            <a:pPr indent="0" marL="0">
              <a:buNone/>
            </a:pPr>
            <a:r>
              <a:rPr lang="en-US" sz="1400" dirty="0">
                <a:solidFill>
                  <a:srgbClr val="475569"/>
                </a:solidFill>
                <a:latin typeface="Arial" pitchFamily="34" charset="0"/>
                <a:ea typeface="Arial" pitchFamily="34" charset="-122"/>
                <a:cs typeface="Arial" pitchFamily="34" charset="-120"/>
              </a:rPr>
              <a:t>FastAPI · Next.js 15 · Scikit-Learn · Google Gemini API (documentation)</a:t>
            </a:r>
            <a:endParaRPr lang="en-US" sz="1400" dirty="0"/>
          </a:p>
        </p:txBody>
      </p:sp>
      <p:sp>
        <p:nvSpPr>
          <p:cNvPr id="38" name="Text 35"/>
          <p:cNvSpPr txBox="1"/>
          <p:nvPr/>
        </p:nvSpPr>
        <p:spPr>
          <a:xfrm>
            <a:off x="1097280" y="6108192"/>
            <a:ext cx="5486400" cy="228600"/>
          </a:xfrm>
          <a:prstGeom prst="rect">
            <a:avLst/>
          </a:prstGeom>
          <a:noFill/>
          <a:ln/>
        </p:spPr>
        <p:txBody>
          <a:bodyPr wrap="square" lIns="0" tIns="0" rIns="0" bIns="0" rtlCol="0" anchor="t"/>
          <a:lstStyle/>
          <a:p>
            <a:pPr indent="0" marL="0">
              <a:buNone/>
            </a:pPr>
            <a:r>
              <a:rPr lang="en-US" sz="1100" i="1" dirty="0">
                <a:solidFill>
                  <a:srgbClr val="64748B"/>
                </a:solidFill>
                <a:latin typeface="Arial" pitchFamily="34" charset="0"/>
                <a:ea typeface="Arial" pitchFamily="34" charset="-122"/>
                <a:cs typeface="Arial" pitchFamily="34" charset="-120"/>
              </a:rPr>
              <a:t>Citation style: APA 7th Edition</a:t>
            </a:r>
            <a:endParaRPr lang="en-US" sz="1100" dirty="0"/>
          </a:p>
        </p:txBody>
      </p:sp>
      <p:sp>
        <p:nvSpPr>
          <p:cNvPr id="25" name="Slide Number Placeholder 0"/>
          <p:cNvSpPr>
            <a:spLocks noGrp="1"/>
          </p:cNvSpPr>
          <p:nvPr>
            <p:ph type="sldNum" sz="quarter" idx="4294967295"/>
          </p:nvPr>
        </p:nvSpPr>
        <p:spPr>
          <a:xfrm>
            <a:off x="11000232" y="6437376"/>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64748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4297680"/>
          </a:xfrm>
          <a:prstGeom prst="rect">
            <a:avLst/>
          </a:prstGeom>
          <a:solidFill>
            <a:srgbClr val="1D4ED8"/>
          </a:solidFill>
          <a:ln w="3175">
            <a:solidFill>
              <a:srgbClr val="1D4ED8"/>
            </a:solidFill>
            <a:prstDash val="solid"/>
          </a:ln>
        </p:spPr>
        <p:txBody>
          <a:bodyPr/>
          <a:p/>
        </p:txBody>
      </p:sp>
      <p:pic>
        <p:nvPicPr>
          <p:cNvPr id="3" name="Image 0" descr="/home/claude/deck/img/orbit_w.png">    </p:cNvPr>
          <p:cNvPicPr>
            <a:picLocks noChangeAspect="1"/>
          </p:cNvPicPr>
          <p:nvPr/>
        </p:nvPicPr>
        <p:blipFill>
          <a:blip r:embed="rId1"/>
          <a:stretch>
            <a:fillRect/>
          </a:stretch>
        </p:blipFill>
        <p:spPr>
          <a:xfrm>
            <a:off x="0" y="0"/>
            <a:ext cx="12188952" cy="6858000"/>
          </a:xfrm>
          <a:prstGeom prst="rect">
            <a:avLst/>
          </a:prstGeom>
        </p:spPr>
      </p:pic>
      <p:sp>
        <p:nvSpPr>
          <p:cNvPr id="4" name="Text 1"/>
          <p:cNvSpPr txBox="1"/>
          <p:nvPr/>
        </p:nvSpPr>
        <p:spPr>
          <a:xfrm>
            <a:off x="1097280" y="640080"/>
            <a:ext cx="6400800" cy="274320"/>
          </a:xfrm>
          <a:prstGeom prst="rect">
            <a:avLst/>
          </a:prstGeom>
          <a:noFill/>
          <a:ln/>
        </p:spPr>
        <p:txBody>
          <a:bodyPr wrap="square" lIns="0" tIns="0" rIns="0" bIns="0" rtlCol="0" anchor="t"/>
          <a:lstStyle/>
          <a:p>
            <a:pPr indent="0" marL="0">
              <a:buNone/>
            </a:pPr>
            <a:r>
              <a:rPr lang="en-US" sz="1300" b="1" spc="400" kern="0" dirty="0">
                <a:solidFill>
                  <a:srgbClr val="FFFFFF"/>
                </a:solidFill>
                <a:latin typeface="Arial" pitchFamily="34" charset="0"/>
                <a:ea typeface="Arial" pitchFamily="34" charset="-122"/>
                <a:cs typeface="Arial" pitchFamily="34" charset="-120"/>
              </a:rPr>
              <a:t>DISCUSSION</a:t>
            </a:r>
            <a:endParaRPr lang="en-US" sz="1300" dirty="0"/>
          </a:p>
        </p:txBody>
      </p:sp>
      <p:sp>
        <p:nvSpPr>
          <p:cNvPr id="5" name="Text 2"/>
          <p:cNvSpPr txBox="1"/>
          <p:nvPr/>
        </p:nvSpPr>
        <p:spPr>
          <a:xfrm>
            <a:off x="1051560" y="2103120"/>
            <a:ext cx="10058400" cy="1828800"/>
          </a:xfrm>
          <a:prstGeom prst="rect">
            <a:avLst/>
          </a:prstGeom>
          <a:noFill/>
          <a:ln/>
        </p:spPr>
        <p:txBody>
          <a:bodyPr wrap="square" lIns="0" tIns="0" rIns="0" bIns="0" rtlCol="0" anchor="b"/>
          <a:lstStyle/>
          <a:p>
            <a:pPr indent="0" marL="0">
              <a:buNone/>
            </a:pPr>
            <a:r>
              <a:rPr lang="en-US" sz="7600" b="1" dirty="0">
                <a:solidFill>
                  <a:srgbClr val="FFFFFF"/>
                </a:solidFill>
                <a:latin typeface="Arial" pitchFamily="34" charset="0"/>
                <a:ea typeface="Arial" pitchFamily="34" charset="-122"/>
                <a:cs typeface="Arial" pitchFamily="34" charset="-120"/>
              </a:rPr>
              <a:t>Questions &amp; Discussion</a:t>
            </a:r>
            <a:endParaRPr lang="en-US" sz="7600" dirty="0"/>
          </a:p>
        </p:txBody>
      </p:sp>
      <p:sp>
        <p:nvSpPr>
          <p:cNvPr id="6" name="Shape 3"/>
          <p:cNvSpPr/>
          <p:nvPr/>
        </p:nvSpPr>
        <p:spPr>
          <a:xfrm>
            <a:off x="457200" y="0"/>
            <a:ext cx="91440" cy="4297680"/>
          </a:xfrm>
          <a:prstGeom prst="rect">
            <a:avLst/>
          </a:prstGeom>
          <a:solidFill>
            <a:srgbClr val="F97316"/>
          </a:solidFill>
          <a:ln w="3175">
            <a:solidFill>
              <a:srgbClr val="F97316"/>
            </a:solidFill>
            <a:prstDash val="solid"/>
          </a:ln>
        </p:spPr>
        <p:txBody>
          <a:bodyPr/>
          <a:p/>
        </p:txBody>
      </p:sp>
      <p:sp>
        <p:nvSpPr>
          <p:cNvPr id="7" name="Text 4"/>
          <p:cNvSpPr txBox="1"/>
          <p:nvPr/>
        </p:nvSpPr>
        <p:spPr>
          <a:xfrm>
            <a:off x="1097280" y="4663440"/>
            <a:ext cx="6583680" cy="1097280"/>
          </a:xfrm>
          <a:prstGeom prst="rect">
            <a:avLst/>
          </a:prstGeom>
          <a:noFill/>
          <a:ln/>
        </p:spPr>
        <p:txBody>
          <a:bodyPr wrap="square" lIns="0" tIns="0" rIns="0" bIns="0" rtlCol="0" anchor="t"/>
          <a:lstStyle/>
          <a:p>
            <a:pPr indent="0" marL="0">
              <a:buNone/>
            </a:pPr>
            <a:r>
              <a:rPr lang="en-US" sz="2400" b="1" dirty="0">
                <a:solidFill>
                  <a:srgbClr val="1E3A8A"/>
                </a:solidFill>
                <a:latin typeface="Arial" pitchFamily="34" charset="0"/>
                <a:ea typeface="Arial" pitchFamily="34" charset="-122"/>
                <a:cs typeface="Arial" pitchFamily="34" charset="-120"/>
              </a:rPr>
              <a:t>We invite your questions on making data insights accessible, reliable, and truthful for all.</a:t>
            </a:r>
            <a:endParaRPr lang="en-US" sz="2400" dirty="0"/>
          </a:p>
        </p:txBody>
      </p:sp>
      <p:sp>
        <p:nvSpPr>
          <p:cNvPr id="8" name="Shape 5"/>
          <p:cNvSpPr/>
          <p:nvPr/>
        </p:nvSpPr>
        <p:spPr>
          <a:xfrm>
            <a:off x="8138160" y="4572000"/>
            <a:ext cx="3566160" cy="329184"/>
          </a:xfrm>
          <a:prstGeom prst="roundRect">
            <a:avLst>
              <a:gd name="adj" fmla="val 27778"/>
            </a:avLst>
          </a:prstGeom>
          <a:solidFill>
            <a:srgbClr val="F0F5FF"/>
          </a:solidFill>
          <a:ln w="3175">
            <a:solidFill>
              <a:srgbClr val="F0F5FF"/>
            </a:solidFill>
            <a:prstDash val="solid"/>
          </a:ln>
        </p:spPr>
        <p:txBody>
          <a:bodyPr/>
          <a:p/>
        </p:txBody>
      </p:sp>
      <p:sp>
        <p:nvSpPr>
          <p:cNvPr id="9" name="Text 6"/>
          <p:cNvSpPr txBox="1"/>
          <p:nvPr/>
        </p:nvSpPr>
        <p:spPr>
          <a:xfrm>
            <a:off x="8321040" y="4572000"/>
            <a:ext cx="3200400" cy="329184"/>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Everyday Usability</a:t>
            </a:r>
            <a:endParaRPr lang="en-US" sz="1400" dirty="0"/>
          </a:p>
        </p:txBody>
      </p:sp>
      <p:sp>
        <p:nvSpPr>
          <p:cNvPr id="10" name="Shape 7"/>
          <p:cNvSpPr/>
          <p:nvPr/>
        </p:nvSpPr>
        <p:spPr>
          <a:xfrm>
            <a:off x="8138160" y="4983480"/>
            <a:ext cx="3566160" cy="329184"/>
          </a:xfrm>
          <a:prstGeom prst="roundRect">
            <a:avLst>
              <a:gd name="adj" fmla="val 27778"/>
            </a:avLst>
          </a:prstGeom>
          <a:solidFill>
            <a:srgbClr val="F0F5FF"/>
          </a:solidFill>
          <a:ln w="3175">
            <a:solidFill>
              <a:srgbClr val="F0F5FF"/>
            </a:solidFill>
            <a:prstDash val="solid"/>
          </a:ln>
        </p:spPr>
        <p:txBody>
          <a:bodyPr/>
          <a:p/>
        </p:txBody>
      </p:sp>
      <p:sp>
        <p:nvSpPr>
          <p:cNvPr id="11" name="Text 8"/>
          <p:cNvSpPr txBox="1"/>
          <p:nvPr/>
        </p:nvSpPr>
        <p:spPr>
          <a:xfrm>
            <a:off x="8321040" y="4983480"/>
            <a:ext cx="3200400" cy="329184"/>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Guaranteed Math</a:t>
            </a:r>
            <a:endParaRPr lang="en-US" sz="1400" dirty="0"/>
          </a:p>
        </p:txBody>
      </p:sp>
      <p:sp>
        <p:nvSpPr>
          <p:cNvPr id="12" name="Shape 9"/>
          <p:cNvSpPr/>
          <p:nvPr/>
        </p:nvSpPr>
        <p:spPr>
          <a:xfrm>
            <a:off x="8138160" y="5394960"/>
            <a:ext cx="3566160" cy="329184"/>
          </a:xfrm>
          <a:prstGeom prst="roundRect">
            <a:avLst>
              <a:gd name="adj" fmla="val 27778"/>
            </a:avLst>
          </a:prstGeom>
          <a:solidFill>
            <a:srgbClr val="F0F5FF"/>
          </a:solidFill>
          <a:ln w="3175">
            <a:solidFill>
              <a:srgbClr val="F0F5FF"/>
            </a:solidFill>
            <a:prstDash val="solid"/>
          </a:ln>
        </p:spPr>
        <p:txBody>
          <a:bodyPr/>
          <a:p/>
        </p:txBody>
      </p:sp>
      <p:sp>
        <p:nvSpPr>
          <p:cNvPr id="13" name="Text 10"/>
          <p:cNvSpPr txBox="1"/>
          <p:nvPr/>
        </p:nvSpPr>
        <p:spPr>
          <a:xfrm>
            <a:off x="8321040" y="5394960"/>
            <a:ext cx="3200400" cy="329184"/>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Automated Cleanup</a:t>
            </a:r>
            <a:endParaRPr lang="en-US" sz="1400" dirty="0"/>
          </a:p>
        </p:txBody>
      </p:sp>
      <p:sp>
        <p:nvSpPr>
          <p:cNvPr id="14" name="Shape 11"/>
          <p:cNvSpPr/>
          <p:nvPr/>
        </p:nvSpPr>
        <p:spPr>
          <a:xfrm>
            <a:off x="8138160" y="5806440"/>
            <a:ext cx="3566160" cy="329184"/>
          </a:xfrm>
          <a:prstGeom prst="roundRect">
            <a:avLst>
              <a:gd name="adj" fmla="val 27778"/>
            </a:avLst>
          </a:prstGeom>
          <a:solidFill>
            <a:srgbClr val="F0F5FF"/>
          </a:solidFill>
          <a:ln w="3175">
            <a:solidFill>
              <a:srgbClr val="F0F5FF"/>
            </a:solidFill>
            <a:prstDash val="solid"/>
          </a:ln>
        </p:spPr>
        <p:txBody>
          <a:bodyPr/>
          <a:p/>
        </p:txBody>
      </p:sp>
      <p:sp>
        <p:nvSpPr>
          <p:cNvPr id="15" name="Text 12"/>
          <p:cNvSpPr txBox="1"/>
          <p:nvPr/>
        </p:nvSpPr>
        <p:spPr>
          <a:xfrm>
            <a:off x="8321040" y="5806440"/>
            <a:ext cx="3200400" cy="329184"/>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AI Without Code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4297680"/>
          </a:xfrm>
          <a:prstGeom prst="rect">
            <a:avLst/>
          </a:prstGeom>
          <a:solidFill>
            <a:srgbClr val="1D4ED8"/>
          </a:solidFill>
          <a:ln w="3175">
            <a:solidFill>
              <a:srgbClr val="1D4ED8"/>
            </a:solidFill>
            <a:prstDash val="solid"/>
          </a:ln>
        </p:spPr>
        <p:txBody>
          <a:bodyPr/>
          <a:p/>
        </p:txBody>
      </p:sp>
      <p:pic>
        <p:nvPicPr>
          <p:cNvPr id="3" name="Image 0" descr="/home/claude/deck/img/orbit_w.png">    </p:cNvPr>
          <p:cNvPicPr>
            <a:picLocks noChangeAspect="1"/>
          </p:cNvPicPr>
          <p:nvPr/>
        </p:nvPicPr>
        <p:blipFill>
          <a:blip r:embed="rId1"/>
          <a:stretch>
            <a:fillRect/>
          </a:stretch>
        </p:blipFill>
        <p:spPr>
          <a:xfrm>
            <a:off x="0" y="0"/>
            <a:ext cx="12188952" cy="6858000"/>
          </a:xfrm>
          <a:prstGeom prst="rect">
            <a:avLst/>
          </a:prstGeom>
        </p:spPr>
      </p:pic>
      <p:sp>
        <p:nvSpPr>
          <p:cNvPr id="4" name="Text 1"/>
          <p:cNvSpPr txBox="1"/>
          <p:nvPr/>
        </p:nvSpPr>
        <p:spPr>
          <a:xfrm>
            <a:off x="1097280" y="640080"/>
            <a:ext cx="6400800" cy="274320"/>
          </a:xfrm>
          <a:prstGeom prst="rect">
            <a:avLst/>
          </a:prstGeom>
          <a:noFill/>
          <a:ln/>
        </p:spPr>
        <p:txBody>
          <a:bodyPr wrap="square" lIns="0" tIns="0" rIns="0" bIns="0" rtlCol="0" anchor="t"/>
          <a:lstStyle/>
          <a:p>
            <a:pPr indent="0" marL="0">
              <a:buNone/>
            </a:pPr>
            <a:r>
              <a:rPr lang="en-US" sz="1300" b="1" spc="400" kern="0" dirty="0">
                <a:solidFill>
                  <a:srgbClr val="FFFFFF"/>
                </a:solidFill>
                <a:latin typeface="Arial" pitchFamily="34" charset="0"/>
                <a:ea typeface="Arial" pitchFamily="34" charset="-122"/>
                <a:cs typeface="Arial" pitchFamily="34" charset="-120"/>
              </a:rPr>
              <a:t>THE END</a:t>
            </a:r>
            <a:endParaRPr lang="en-US" sz="1300" dirty="0"/>
          </a:p>
        </p:txBody>
      </p:sp>
      <p:sp>
        <p:nvSpPr>
          <p:cNvPr id="5" name="Text 2"/>
          <p:cNvSpPr txBox="1"/>
          <p:nvPr/>
        </p:nvSpPr>
        <p:spPr>
          <a:xfrm>
            <a:off x="1051560" y="2103120"/>
            <a:ext cx="10058400" cy="1828800"/>
          </a:xfrm>
          <a:prstGeom prst="rect">
            <a:avLst/>
          </a:prstGeom>
          <a:noFill/>
          <a:ln/>
        </p:spPr>
        <p:txBody>
          <a:bodyPr wrap="square" lIns="0" tIns="0" rIns="0" bIns="0" rtlCol="0" anchor="b"/>
          <a:lstStyle/>
          <a:p>
            <a:pPr indent="0" marL="0">
              <a:buNone/>
            </a:pPr>
            <a:r>
              <a:rPr lang="en-US" sz="10000" b="1" dirty="0">
                <a:solidFill>
                  <a:srgbClr val="FFFFFF"/>
                </a:solidFill>
                <a:latin typeface="Arial" pitchFamily="34" charset="0"/>
                <a:ea typeface="Arial" pitchFamily="34" charset="-122"/>
                <a:cs typeface="Arial" pitchFamily="34" charset="-120"/>
              </a:rPr>
              <a:t>Thank You</a:t>
            </a:r>
            <a:endParaRPr lang="en-US" sz="10000" dirty="0"/>
          </a:p>
        </p:txBody>
      </p:sp>
      <p:sp>
        <p:nvSpPr>
          <p:cNvPr id="6" name="Shape 3"/>
          <p:cNvSpPr/>
          <p:nvPr/>
        </p:nvSpPr>
        <p:spPr>
          <a:xfrm>
            <a:off x="457200" y="0"/>
            <a:ext cx="91440" cy="4297680"/>
          </a:xfrm>
          <a:prstGeom prst="rect">
            <a:avLst/>
          </a:prstGeom>
          <a:solidFill>
            <a:srgbClr val="F97316"/>
          </a:solidFill>
          <a:ln w="3175">
            <a:solidFill>
              <a:srgbClr val="F97316"/>
            </a:solidFill>
            <a:prstDash val="solid"/>
          </a:ln>
        </p:spPr>
        <p:txBody>
          <a:bodyPr/>
          <a:p/>
        </p:txBody>
      </p:sp>
      <p:sp>
        <p:nvSpPr>
          <p:cNvPr id="7" name="Text 4"/>
          <p:cNvSpPr txBox="1"/>
          <p:nvPr/>
        </p:nvSpPr>
        <p:spPr>
          <a:xfrm>
            <a:off x="1097280" y="4572000"/>
            <a:ext cx="6400800" cy="457200"/>
          </a:xfrm>
          <a:prstGeom prst="rect">
            <a:avLst/>
          </a:prstGeom>
          <a:noFill/>
          <a:ln/>
        </p:spPr>
        <p:txBody>
          <a:bodyPr wrap="square" lIns="0" tIns="0" rIns="0" bIns="0" rtlCol="0" anchor="t"/>
          <a:lstStyle/>
          <a:p>
            <a:pPr indent="0" marL="0">
              <a:buNone/>
            </a:pPr>
            <a:r>
              <a:rPr lang="en-US" sz="2600" b="1" dirty="0">
                <a:solidFill>
                  <a:srgbClr val="1E3A8A"/>
                </a:solidFill>
                <a:latin typeface="Arial" pitchFamily="34" charset="0"/>
                <a:ea typeface="Arial" pitchFamily="34" charset="-122"/>
                <a:cs typeface="Arial" pitchFamily="34" charset="-120"/>
              </a:rPr>
              <a:t>DataForge v3 Engineering Team</a:t>
            </a:r>
            <a:endParaRPr lang="en-US" sz="2600" dirty="0"/>
          </a:p>
        </p:txBody>
      </p:sp>
      <p:sp>
        <p:nvSpPr>
          <p:cNvPr id="8" name="Text 5"/>
          <p:cNvSpPr txBox="1"/>
          <p:nvPr/>
        </p:nvSpPr>
        <p:spPr>
          <a:xfrm>
            <a:off x="1097280" y="5120640"/>
            <a:ext cx="6400800" cy="731520"/>
          </a:xfrm>
          <a:prstGeom prst="rect">
            <a:avLst/>
          </a:prstGeom>
          <a:noFill/>
          <a:ln/>
        </p:spPr>
        <p:txBody>
          <a:bodyPr wrap="square" lIns="0" tIns="0" rIns="0" bIns="0" rtlCol="0" anchor="t"/>
          <a:lstStyle/>
          <a:p>
            <a:pPr indent="0" marL="0">
              <a:buNone/>
            </a:pPr>
            <a:r>
              <a:rPr lang="en-US" sz="1700" dirty="0">
                <a:solidFill>
                  <a:srgbClr val="64748B"/>
                </a:solidFill>
                <a:latin typeface="Arial" pitchFamily="34" charset="0"/>
                <a:ea typeface="Arial" pitchFamily="34" charset="-122"/>
                <a:cs typeface="Arial" pitchFamily="34" charset="-120"/>
              </a:rPr>
              <a:t>Department of Computer Science &amp; Engineering</a:t>
            </a:r>
            <a:endParaRPr lang="en-US" sz="1700" dirty="0"/>
          </a:p>
          <a:p>
            <a:pPr indent="0" marL="0">
              <a:buNone/>
            </a:pPr>
            <a:r>
              <a:rPr lang="en-US" sz="1700" dirty="0">
                <a:solidFill>
                  <a:srgbClr val="64748B"/>
                </a:solidFill>
                <a:latin typeface="Arial" pitchFamily="34" charset="0"/>
                <a:ea typeface="Arial" pitchFamily="34" charset="-122"/>
                <a:cs typeface="Arial" pitchFamily="34" charset="-120"/>
              </a:rPr>
              <a:t>GCET Safapora, Ganderbal</a:t>
            </a:r>
            <a:endParaRPr lang="en-US" sz="1700" dirty="0"/>
          </a:p>
        </p:txBody>
      </p:sp>
      <p:sp>
        <p:nvSpPr>
          <p:cNvPr id="9" name="Text 6"/>
          <p:cNvSpPr txBox="1"/>
          <p:nvPr/>
        </p:nvSpPr>
        <p:spPr>
          <a:xfrm>
            <a:off x="1097280" y="5897880"/>
            <a:ext cx="6400800" cy="365760"/>
          </a:xfrm>
          <a:prstGeom prst="rect">
            <a:avLst/>
          </a:prstGeom>
          <a:noFill/>
          <a:ln/>
        </p:spPr>
        <p:txBody>
          <a:bodyPr wrap="square" lIns="0" tIns="0" rIns="0" bIns="0" rtlCol="0" anchor="t"/>
          <a:lstStyle/>
          <a:p>
            <a:pPr indent="0" marL="0">
              <a:buNone/>
            </a:pPr>
            <a:r>
              <a:rPr lang="en-US" sz="1600" b="1" dirty="0">
                <a:solidFill>
                  <a:srgbClr val="1D4ED8"/>
                </a:solidFill>
                <a:latin typeface="Arial" pitchFamily="34" charset="0"/>
                <a:ea typeface="Arial" pitchFamily="34" charset="-122"/>
                <a:cs typeface="Arial" pitchFamily="34" charset="-120"/>
              </a:rPr>
              <a:t>Empowering everyone to explore, understand, and decide with confidence</a:t>
            </a:r>
            <a:endParaRPr lang="en-US" sz="1600" dirty="0"/>
          </a:p>
        </p:txBody>
      </p:sp>
      <p:sp>
        <p:nvSpPr>
          <p:cNvPr id="10" name="Shape 7"/>
          <p:cNvSpPr/>
          <p:nvPr/>
        </p:nvSpPr>
        <p:spPr>
          <a:xfrm>
            <a:off x="9326880" y="4572000"/>
            <a:ext cx="2286000" cy="1691640"/>
          </a:xfrm>
          <a:prstGeom prst="roundRect">
            <a:avLst>
              <a:gd name="adj" fmla="val 6486"/>
            </a:avLst>
          </a:prstGeom>
          <a:solidFill>
            <a:srgbClr val="F0F5FF"/>
          </a:solidFill>
          <a:ln w="15875">
            <a:solidFill>
              <a:srgbClr val="1D4ED8"/>
            </a:solidFill>
            <a:prstDash val="dash"/>
          </a:ln>
        </p:spPr>
        <p:txBody>
          <a:bodyPr/>
          <a:p/>
        </p:txBody>
      </p:sp>
      <p:sp>
        <p:nvSpPr>
          <p:cNvPr id="11" name="Text 8"/>
          <p:cNvSpPr txBox="1"/>
          <p:nvPr/>
        </p:nvSpPr>
        <p:spPr>
          <a:xfrm>
            <a:off x="9326880" y="5212080"/>
            <a:ext cx="2286000" cy="365760"/>
          </a:xfrm>
          <a:prstGeom prst="rect">
            <a:avLst/>
          </a:prstGeom>
          <a:noFill/>
          <a:ln/>
        </p:spPr>
        <p:txBody>
          <a:bodyPr wrap="square" lIns="0" tIns="0" rIns="0" bIns="0" rtlCol="0" anchor="t"/>
          <a:lstStyle/>
          <a:p>
            <a:pPr algn="ctr" indent="0" marL="0">
              <a:buNone/>
            </a:pPr>
            <a:r>
              <a:rPr lang="en-US" sz="1200" b="1" spc="400" kern="0" dirty="0">
                <a:solidFill>
                  <a:srgbClr val="F97316"/>
                </a:solidFill>
                <a:latin typeface="Arial" pitchFamily="34" charset="0"/>
                <a:ea typeface="Arial" pitchFamily="34" charset="-122"/>
                <a:cs typeface="Arial" pitchFamily="34" charset="-120"/>
              </a:rPr>
              <a:t>GITHUB</a:t>
            </a:r>
            <a:endParaRPr lang="en-US" sz="1200" dirty="0"/>
          </a:p>
        </p:txBody>
      </p:sp>
      <p:sp>
        <p:nvSpPr>
          <p:cNvPr id="12" name="Text 9"/>
          <p:cNvSpPr txBox="1"/>
          <p:nvPr/>
        </p:nvSpPr>
        <p:spPr>
          <a:xfrm>
            <a:off x="9326880" y="5577840"/>
            <a:ext cx="2286000" cy="365760"/>
          </a:xfrm>
          <a:prstGeom prst="rect">
            <a:avLst/>
          </a:prstGeom>
          <a:noFill/>
          <a:ln/>
        </p:spPr>
        <p:txBody>
          <a:bodyPr wrap="square" lIns="0" tIns="0" rIns="0" bIns="0" rtlCol="0" anchor="t"/>
          <a:lstStyle/>
          <a:p>
            <a:pPr algn="ctr" indent="0" marL="0">
              <a:buNone/>
            </a:pPr>
            <a:r>
              <a:rPr lang="en-US" sz="1300" dirty="0">
                <a:solidFill>
                  <a:srgbClr val="64748B"/>
                </a:solidFill>
                <a:latin typeface="Arial" pitchFamily="34" charset="0"/>
                <a:ea typeface="Arial" pitchFamily="34" charset="-122"/>
                <a:cs typeface="Arial" pitchFamily="34" charset="-120"/>
              </a:rPr>
              <a:t>Project Repository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DataForge v3</dc:title>
  <dc:subject>PptxGenJS Presentation</dc:subject>
  <dc:creator>Team DataForge</dc:creator>
  <cp:lastModifiedBy>Team DataForge</cp:lastModifiedBy>
  <cp:revision>1</cp:revision>
  <dcterms:created xsi:type="dcterms:W3CDTF">2026-10-20T10:15:41Z</dcterms:created>
  <dcterms:modified xsi:type="dcterms:W3CDTF">2026-10-20T10:15:41Z</dcterms:modified>
</cp:coreProperties>
</file>